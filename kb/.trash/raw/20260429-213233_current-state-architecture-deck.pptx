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this deck compares A, B, and C honestly — including cost and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answer to 'why aren't we just doing C' is: no MVP use case justifies the cost. Phase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7"/>
        </a:solidFill>
      </p:bgPr>
    </p:bg>
    <p:spTree>
      <p:nvGrpSpPr>
        <p:cNvPr id="1" name=""/>
        <p:cNvGrpSpPr/>
        <p:nvPr/>
      </p:nvGrpSpPr>
      <p:grpSpPr>
        <a:xfrm>
          <a:off x="0" y="0"/>
          <a:ext cx="0" cy="0"/>
          <a:chOff x="0" y="0"/>
          <a:chExt cx="0" cy="0"/>
        </a:xfrm>
      </p:grpSpPr>
      <p:sp>
        <p:nvSpPr>
          <p:cNvPr id="2" name="Shape 0"/>
          <p:cNvSpPr/>
          <p:nvPr/>
        </p:nvSpPr>
        <p:spPr>
          <a:xfrm>
            <a:off x="0" y="2926080"/>
            <a:ext cx="12161520" cy="36576"/>
          </a:xfrm>
          <a:prstGeom prst="rect">
            <a:avLst/>
          </a:prstGeom>
          <a:solidFill>
            <a:srgbClr val="0D9488"/>
          </a:solidFill>
          <a:ln w="12700">
            <a:solidFill>
              <a:srgbClr val="0D9488"/>
            </a:solidFill>
            <a:prstDash val="solid"/>
          </a:ln>
        </p:spPr>
      </p:sp>
      <p:sp>
        <p:nvSpPr>
          <p:cNvPr id="3" name="Text 1"/>
          <p:cNvSpPr/>
          <p:nvPr/>
        </p:nvSpPr>
        <p:spPr>
          <a:xfrm>
            <a:off x="548640" y="2011680"/>
            <a:ext cx="10972800" cy="365760"/>
          </a:xfrm>
          <a:prstGeom prst="rect">
            <a:avLst/>
          </a:prstGeom>
          <a:noFill/>
          <a:ln/>
        </p:spPr>
        <p:txBody>
          <a:bodyPr wrap="square" lIns="0" tIns="0" rIns="0" bIns="0" rtlCol="0" anchor="ctr"/>
          <a:lstStyle/>
          <a:p>
            <a:pPr indent="0" marL="0">
              <a:buNone/>
            </a:pPr>
            <a:r>
              <a:rPr lang="en-US" sz="1100" b="1" spc="500" kern="0" dirty="0">
                <a:solidFill>
                  <a:srgbClr val="0D9488"/>
                </a:solidFill>
                <a:latin typeface="Calibri" pitchFamily="34" charset="0"/>
                <a:ea typeface="Calibri" pitchFamily="34" charset="-122"/>
                <a:cs typeface="Calibri" pitchFamily="34" charset="-120"/>
              </a:rPr>
              <a:t>INTERNAL — ENGINEERING REVIEW</a:t>
            </a:r>
            <a:endParaRPr lang="en-US" sz="1100" dirty="0"/>
          </a:p>
        </p:txBody>
      </p:sp>
      <p:sp>
        <p:nvSpPr>
          <p:cNvPr id="4" name="Text 2"/>
          <p:cNvSpPr/>
          <p:nvPr/>
        </p:nvSpPr>
        <p:spPr>
          <a:xfrm>
            <a:off x="548640" y="2468880"/>
            <a:ext cx="10972800" cy="54864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Credit Card Transaction Data at Meridian</a:t>
            </a:r>
            <a:endParaRPr lang="en-US" sz="3400" dirty="0"/>
          </a:p>
        </p:txBody>
      </p:sp>
      <p:sp>
        <p:nvSpPr>
          <p:cNvPr id="5" name="Text 3"/>
          <p:cNvSpPr/>
          <p:nvPr/>
        </p:nvSpPr>
        <p:spPr>
          <a:xfrm>
            <a:off x="548640" y="3154680"/>
            <a:ext cx="10972800" cy="548640"/>
          </a:xfrm>
          <a:prstGeom prst="rect">
            <a:avLst/>
          </a:prstGeom>
          <a:noFill/>
          <a:ln/>
        </p:spPr>
        <p:txBody>
          <a:bodyPr wrap="square" lIns="0" tIns="0" rIns="0" bIns="0" rtlCol="0" anchor="ctr"/>
          <a:lstStyle/>
          <a:p>
            <a:pPr indent="0" marL="0">
              <a:buNone/>
            </a:pPr>
            <a:r>
              <a:rPr lang="en-US" sz="2000" i="1" dirty="0">
                <a:solidFill>
                  <a:srgbClr val="CBD5E1"/>
                </a:solidFill>
                <a:latin typeface="Calibri" pitchFamily="34" charset="0"/>
                <a:ea typeface="Calibri" pitchFamily="34" charset="-122"/>
                <a:cs typeface="Calibri" pitchFamily="34" charset="-120"/>
              </a:rPr>
              <a:t>Current-state architecture, options for AEP, and what we recommend</a:t>
            </a:r>
            <a:endParaRPr lang="en-US" sz="2000" dirty="0"/>
          </a:p>
        </p:txBody>
      </p:sp>
      <p:sp>
        <p:nvSpPr>
          <p:cNvPr id="6" name="Text 4"/>
          <p:cNvSpPr/>
          <p:nvPr/>
        </p:nvSpPr>
        <p:spPr>
          <a:xfrm>
            <a:off x="548640" y="5303520"/>
            <a:ext cx="7315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Marcus Webb</a:t>
            </a:r>
            <a:pPr indent="0" marL="0">
              <a:buNone/>
            </a:pPr>
            <a:r>
              <a:rPr lang="en-US" sz="1400" dirty="0">
                <a:solidFill>
                  <a:srgbClr val="94A3B8"/>
                </a:solidFill>
                <a:latin typeface="Calibri" pitchFamily="34" charset="0"/>
                <a:ea typeface="Calibri" pitchFamily="34" charset="-122"/>
                <a:cs typeface="Calibri" pitchFamily="34" charset="-120"/>
              </a:rPr>
              <a:t>  Principal Data Engineer</a:t>
            </a:r>
            <a:endParaRPr lang="en-US" sz="1400" dirty="0"/>
          </a:p>
        </p:txBody>
      </p:sp>
      <p:sp>
        <p:nvSpPr>
          <p:cNvPr id="7" name="Text 5"/>
          <p:cNvSpPr/>
          <p:nvPr/>
        </p:nvSpPr>
        <p:spPr>
          <a:xfrm>
            <a:off x="548640" y="5669280"/>
            <a:ext cx="91440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Tom Bianchi</a:t>
            </a:r>
            <a:pPr indent="0" marL="0">
              <a:buNone/>
            </a:pPr>
            <a:r>
              <a:rPr lang="en-US" sz="1400" dirty="0">
                <a:solidFill>
                  <a:srgbClr val="94A3B8"/>
                </a:solidFill>
                <a:latin typeface="Calibri" pitchFamily="34" charset="0"/>
                <a:ea typeface="Calibri" pitchFamily="34" charset="-122"/>
                <a:cs typeface="Calibri" pitchFamily="34" charset="-120"/>
              </a:rPr>
              <a:t>  Staff Data Engineer · AEP Implementation Lead</a:t>
            </a:r>
            <a:endParaRPr lang="en-US" sz="1400" dirty="0"/>
          </a:p>
        </p:txBody>
      </p:sp>
      <p:sp>
        <p:nvSpPr>
          <p:cNvPr id="8" name="Text 6"/>
          <p:cNvSpPr/>
          <p:nvPr/>
        </p:nvSpPr>
        <p:spPr>
          <a:xfrm>
            <a:off x="548640" y="6080760"/>
            <a:ext cx="7315200" cy="32004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Enterprise Data Platform · April 8,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228600"/>
          </a:xfrm>
          <a:prstGeom prst="rect">
            <a:avLst/>
          </a:prstGeom>
          <a:solidFill>
            <a:srgbClr val="1F2937"/>
          </a:solidFill>
          <a:ln w="12700">
            <a:solidFill>
              <a:srgbClr val="1F2937"/>
            </a:solidFill>
            <a:prstDash val="solid"/>
          </a:ln>
        </p:spPr>
      </p:sp>
      <p:sp>
        <p:nvSpPr>
          <p:cNvPr id="3" name="Shape 1"/>
          <p:cNvSpPr/>
          <p:nvPr/>
        </p:nvSpPr>
        <p:spPr>
          <a:xfrm>
            <a:off x="0" y="228600"/>
            <a:ext cx="12161520" cy="36576"/>
          </a:xfrm>
          <a:prstGeom prst="rect">
            <a:avLst/>
          </a:prstGeom>
          <a:solidFill>
            <a:srgbClr val="0D9488"/>
          </a:solidFill>
          <a:ln w="12700">
            <a:solidFill>
              <a:srgbClr val="0D9488"/>
            </a:solidFill>
            <a:prstDash val="solid"/>
          </a:ln>
        </p:spPr>
      </p:sp>
      <p:sp>
        <p:nvSpPr>
          <p:cNvPr id="4" name="Text 2"/>
          <p:cNvSpPr/>
          <p:nvPr/>
        </p:nvSpPr>
        <p:spPr>
          <a:xfrm>
            <a:off x="548640" y="502920"/>
            <a:ext cx="10972800" cy="548640"/>
          </a:xfrm>
          <a:prstGeom prst="rect">
            <a:avLst/>
          </a:prstGeom>
          <a:noFill/>
          <a:ln/>
        </p:spPr>
        <p:txBody>
          <a:bodyPr wrap="square" lIns="0" tIns="0" rIns="0" bIns="0" rtlCol="0" anchor="ctr"/>
          <a:lstStyle/>
          <a:p>
            <a:pPr indent="0" marL="0">
              <a:buNone/>
            </a:pPr>
            <a:r>
              <a:rPr lang="en-US" sz="2600" b="1" dirty="0">
                <a:solidFill>
                  <a:srgbClr val="1F2937"/>
                </a:solidFill>
                <a:latin typeface="Calibri" pitchFamily="34" charset="0"/>
                <a:ea typeface="Calibri" pitchFamily="34" charset="-122"/>
                <a:cs typeface="Calibri" pitchFamily="34" charset="-120"/>
              </a:rPr>
              <a:t>Purpose of this deck</a:t>
            </a:r>
            <a:endParaRPr lang="en-US" sz="2600" dirty="0"/>
          </a:p>
        </p:txBody>
      </p:sp>
      <p:sp>
        <p:nvSpPr>
          <p:cNvPr id="5" name="Shape 3"/>
          <p:cNvSpPr/>
          <p:nvPr/>
        </p:nvSpPr>
        <p:spPr>
          <a:xfrm>
            <a:off x="548640" y="1097280"/>
            <a:ext cx="457200" cy="45720"/>
          </a:xfrm>
          <a:prstGeom prst="rect">
            <a:avLst/>
          </a:prstGeom>
          <a:solidFill>
            <a:srgbClr val="0D9488"/>
          </a:solidFill>
          <a:ln w="12700">
            <a:solidFill>
              <a:srgbClr val="0D9488"/>
            </a:solidFill>
            <a:prstDash val="solid"/>
          </a:ln>
        </p:spPr>
      </p:sp>
      <p:sp>
        <p:nvSpPr>
          <p:cNvPr id="6" name="Text 4"/>
          <p:cNvSpPr/>
          <p:nvPr/>
        </p:nvSpPr>
        <p:spPr>
          <a:xfrm>
            <a:off x="548640" y="1737360"/>
            <a:ext cx="1371600" cy="1097280"/>
          </a:xfrm>
          <a:prstGeom prst="rect">
            <a:avLst/>
          </a:prstGeom>
          <a:noFill/>
          <a:ln/>
        </p:spPr>
        <p:txBody>
          <a:bodyPr wrap="square" lIns="0" tIns="0" rIns="0" bIns="0" rtlCol="0" anchor="ctr"/>
          <a:lstStyle/>
          <a:p>
            <a:pPr indent="0" marL="0">
              <a:buNone/>
            </a:pPr>
            <a:r>
              <a:rPr lang="en-US" sz="6000" b="1" dirty="0">
                <a:solidFill>
                  <a:srgbClr val="CCFBF1"/>
                </a:solidFill>
                <a:latin typeface="Calibri" pitchFamily="34" charset="0"/>
                <a:ea typeface="Calibri" pitchFamily="34" charset="-122"/>
                <a:cs typeface="Calibri" pitchFamily="34" charset="-120"/>
              </a:rPr>
              <a:t>01</a:t>
            </a:r>
            <a:endParaRPr lang="en-US" sz="6000" dirty="0"/>
          </a:p>
        </p:txBody>
      </p:sp>
      <p:sp>
        <p:nvSpPr>
          <p:cNvPr id="7" name="Text 5"/>
          <p:cNvSpPr/>
          <p:nvPr/>
        </p:nvSpPr>
        <p:spPr>
          <a:xfrm>
            <a:off x="2011680" y="1828800"/>
            <a:ext cx="9144000" cy="457200"/>
          </a:xfrm>
          <a:prstGeom prst="rect">
            <a:avLst/>
          </a:prstGeom>
          <a:noFill/>
          <a:ln/>
        </p:spPr>
        <p:txBody>
          <a:bodyPr wrap="square" lIns="0" tIns="0" rIns="0" bIns="0" rtlCol="0" anchor="ctr"/>
          <a:lstStyle/>
          <a:p>
            <a:pPr indent="0" marL="0">
              <a:buNone/>
            </a:pPr>
            <a:r>
              <a:rPr lang="en-US" sz="2000" b="1" dirty="0">
                <a:solidFill>
                  <a:srgbClr val="1F2937"/>
                </a:solidFill>
                <a:latin typeface="Calibri" pitchFamily="34" charset="0"/>
                <a:ea typeface="Calibri" pitchFamily="34" charset="-122"/>
                <a:cs typeface="Calibri" pitchFamily="34" charset="-120"/>
              </a:rPr>
              <a:t>Document current state</a:t>
            </a:r>
            <a:endParaRPr lang="en-US" sz="2000" dirty="0"/>
          </a:p>
        </p:txBody>
      </p:sp>
      <p:sp>
        <p:nvSpPr>
          <p:cNvPr id="8" name="Text 6"/>
          <p:cNvSpPr/>
          <p:nvPr/>
        </p:nvSpPr>
        <p:spPr>
          <a:xfrm>
            <a:off x="2011680" y="2331720"/>
            <a:ext cx="9144000" cy="73152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Where credit card transaction data lives today at Meridian, how it moves, what it touches.</a:t>
            </a:r>
            <a:endParaRPr lang="en-US" sz="1300" dirty="0"/>
          </a:p>
        </p:txBody>
      </p:sp>
      <p:sp>
        <p:nvSpPr>
          <p:cNvPr id="9" name="Text 7"/>
          <p:cNvSpPr/>
          <p:nvPr/>
        </p:nvSpPr>
        <p:spPr>
          <a:xfrm>
            <a:off x="548640" y="3154680"/>
            <a:ext cx="1371600" cy="1097280"/>
          </a:xfrm>
          <a:prstGeom prst="rect">
            <a:avLst/>
          </a:prstGeom>
          <a:noFill/>
          <a:ln/>
        </p:spPr>
        <p:txBody>
          <a:bodyPr wrap="square" lIns="0" tIns="0" rIns="0" bIns="0" rtlCol="0" anchor="ctr"/>
          <a:lstStyle/>
          <a:p>
            <a:pPr indent="0" marL="0">
              <a:buNone/>
            </a:pPr>
            <a:r>
              <a:rPr lang="en-US" sz="6000" b="1" dirty="0">
                <a:solidFill>
                  <a:srgbClr val="CCFBF1"/>
                </a:solidFill>
                <a:latin typeface="Calibri" pitchFamily="34" charset="0"/>
                <a:ea typeface="Calibri" pitchFamily="34" charset="-122"/>
                <a:cs typeface="Calibri" pitchFamily="34" charset="-120"/>
              </a:rPr>
              <a:t>02</a:t>
            </a:r>
            <a:endParaRPr lang="en-US" sz="6000" dirty="0"/>
          </a:p>
        </p:txBody>
      </p:sp>
      <p:sp>
        <p:nvSpPr>
          <p:cNvPr id="10" name="Text 8"/>
          <p:cNvSpPr/>
          <p:nvPr/>
        </p:nvSpPr>
        <p:spPr>
          <a:xfrm>
            <a:off x="2011680" y="3246120"/>
            <a:ext cx="9144000" cy="457200"/>
          </a:xfrm>
          <a:prstGeom prst="rect">
            <a:avLst/>
          </a:prstGeom>
          <a:noFill/>
          <a:ln/>
        </p:spPr>
        <p:txBody>
          <a:bodyPr wrap="square" lIns="0" tIns="0" rIns="0" bIns="0" rtlCol="0" anchor="ctr"/>
          <a:lstStyle/>
          <a:p>
            <a:pPr indent="0" marL="0">
              <a:buNone/>
            </a:pPr>
            <a:r>
              <a:rPr lang="en-US" sz="2000" b="1" dirty="0">
                <a:solidFill>
                  <a:srgbClr val="1F2937"/>
                </a:solidFill>
                <a:latin typeface="Calibri" pitchFamily="34" charset="0"/>
                <a:ea typeface="Calibri" pitchFamily="34" charset="-122"/>
                <a:cs typeface="Calibri" pitchFamily="34" charset="-120"/>
              </a:rPr>
              <a:t>Present the three options</a:t>
            </a:r>
            <a:endParaRPr lang="en-US" sz="2000" dirty="0"/>
          </a:p>
        </p:txBody>
      </p:sp>
      <p:sp>
        <p:nvSpPr>
          <p:cNvPr id="11" name="Text 9"/>
          <p:cNvSpPr/>
          <p:nvPr/>
        </p:nvSpPr>
        <p:spPr>
          <a:xfrm>
            <a:off x="2011680" y="3749040"/>
            <a:ext cx="9144000" cy="73152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Architectural options for getting transaction data into AEP, with honest cost and risk trade-offs.</a:t>
            </a:r>
            <a:endParaRPr lang="en-US" sz="1300" dirty="0"/>
          </a:p>
        </p:txBody>
      </p:sp>
      <p:sp>
        <p:nvSpPr>
          <p:cNvPr id="12" name="Text 10"/>
          <p:cNvSpPr/>
          <p:nvPr/>
        </p:nvSpPr>
        <p:spPr>
          <a:xfrm>
            <a:off x="548640" y="4572000"/>
            <a:ext cx="1371600" cy="1097280"/>
          </a:xfrm>
          <a:prstGeom prst="rect">
            <a:avLst/>
          </a:prstGeom>
          <a:noFill/>
          <a:ln/>
        </p:spPr>
        <p:txBody>
          <a:bodyPr wrap="square" lIns="0" tIns="0" rIns="0" bIns="0" rtlCol="0" anchor="ctr"/>
          <a:lstStyle/>
          <a:p>
            <a:pPr indent="0" marL="0">
              <a:buNone/>
            </a:pPr>
            <a:r>
              <a:rPr lang="en-US" sz="6000" b="1" dirty="0">
                <a:solidFill>
                  <a:srgbClr val="CCFBF1"/>
                </a:solidFill>
                <a:latin typeface="Calibri" pitchFamily="34" charset="0"/>
                <a:ea typeface="Calibri" pitchFamily="34" charset="-122"/>
                <a:cs typeface="Calibri" pitchFamily="34" charset="-120"/>
              </a:rPr>
              <a:t>03</a:t>
            </a:r>
            <a:endParaRPr lang="en-US" sz="6000" dirty="0"/>
          </a:p>
        </p:txBody>
      </p:sp>
      <p:sp>
        <p:nvSpPr>
          <p:cNvPr id="13" name="Text 11"/>
          <p:cNvSpPr/>
          <p:nvPr/>
        </p:nvSpPr>
        <p:spPr>
          <a:xfrm>
            <a:off x="2011680" y="4663440"/>
            <a:ext cx="9144000" cy="457200"/>
          </a:xfrm>
          <a:prstGeom prst="rect">
            <a:avLst/>
          </a:prstGeom>
          <a:noFill/>
          <a:ln/>
        </p:spPr>
        <p:txBody>
          <a:bodyPr wrap="square" lIns="0" tIns="0" rIns="0" bIns="0" rtlCol="0" anchor="ctr"/>
          <a:lstStyle/>
          <a:p>
            <a:pPr indent="0" marL="0">
              <a:buNone/>
            </a:pPr>
            <a:r>
              <a:rPr lang="en-US" sz="2000" b="1" dirty="0">
                <a:solidFill>
                  <a:srgbClr val="1F2937"/>
                </a:solidFill>
                <a:latin typeface="Calibri" pitchFamily="34" charset="0"/>
                <a:ea typeface="Calibri" pitchFamily="34" charset="-122"/>
                <a:cs typeface="Calibri" pitchFamily="34" charset="-120"/>
              </a:rPr>
              <a:t>Make a recommendation</a:t>
            </a:r>
            <a:endParaRPr lang="en-US" sz="2000" dirty="0"/>
          </a:p>
        </p:txBody>
      </p:sp>
      <p:sp>
        <p:nvSpPr>
          <p:cNvPr id="14" name="Text 12"/>
          <p:cNvSpPr/>
          <p:nvPr/>
        </p:nvSpPr>
        <p:spPr>
          <a:xfrm>
            <a:off x="2011680" y="5166360"/>
            <a:ext cx="9144000" cy="73152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Our pick, and what we'd need to commit to it. Complements Will's vision deck — not a replacement.</a:t>
            </a:r>
            <a:endParaRPr lang="en-US" sz="1300" dirty="0"/>
          </a:p>
        </p:txBody>
      </p:sp>
      <p:sp>
        <p:nvSpPr>
          <p:cNvPr id="15" name="Shape 13"/>
          <p:cNvSpPr/>
          <p:nvPr/>
        </p:nvSpPr>
        <p:spPr>
          <a:xfrm>
            <a:off x="548640" y="6446520"/>
            <a:ext cx="11064240" cy="0"/>
          </a:xfrm>
          <a:prstGeom prst="line">
            <a:avLst/>
          </a:prstGeom>
          <a:noFill/>
          <a:ln w="9525">
            <a:solidFill>
              <a:srgbClr val="E2E8F0"/>
            </a:solidFill>
            <a:prstDash val="solid"/>
          </a:ln>
        </p:spPr>
      </p:sp>
      <p:sp>
        <p:nvSpPr>
          <p:cNvPr id="16" name="Text 14"/>
          <p:cNvSpPr/>
          <p:nvPr/>
        </p:nvSpPr>
        <p:spPr>
          <a:xfrm>
            <a:off x="548640" y="6537960"/>
            <a:ext cx="4572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Enterprise Data Platform</a:t>
            </a:r>
            <a:endParaRPr lang="en-US" sz="900" dirty="0"/>
          </a:p>
        </p:txBody>
      </p:sp>
      <p:sp>
        <p:nvSpPr>
          <p:cNvPr id="17" name="Text 15"/>
          <p:cNvSpPr/>
          <p:nvPr/>
        </p:nvSpPr>
        <p:spPr>
          <a:xfrm>
            <a:off x="5120640" y="6537960"/>
            <a:ext cx="5486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Flywheel — Current State &amp; Options · v1 · April 8, 2026</a:t>
            </a:r>
            <a:endParaRPr lang="en-US" sz="900" dirty="0"/>
          </a:p>
        </p:txBody>
      </p:sp>
      <p:sp>
        <p:nvSpPr>
          <p:cNvPr id="18" name="Text 16"/>
          <p:cNvSpPr/>
          <p:nvPr/>
        </p:nvSpPr>
        <p:spPr>
          <a:xfrm>
            <a:off x="1133856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228600"/>
          </a:xfrm>
          <a:prstGeom prst="rect">
            <a:avLst/>
          </a:prstGeom>
          <a:solidFill>
            <a:srgbClr val="1F2937"/>
          </a:solidFill>
          <a:ln w="12700">
            <a:solidFill>
              <a:srgbClr val="1F2937"/>
            </a:solidFill>
            <a:prstDash val="solid"/>
          </a:ln>
        </p:spPr>
      </p:sp>
      <p:sp>
        <p:nvSpPr>
          <p:cNvPr id="3" name="Shape 1"/>
          <p:cNvSpPr/>
          <p:nvPr/>
        </p:nvSpPr>
        <p:spPr>
          <a:xfrm>
            <a:off x="0" y="228600"/>
            <a:ext cx="12161520" cy="36576"/>
          </a:xfrm>
          <a:prstGeom prst="rect">
            <a:avLst/>
          </a:prstGeom>
          <a:solidFill>
            <a:srgbClr val="0D9488"/>
          </a:solidFill>
          <a:ln w="12700">
            <a:solidFill>
              <a:srgbClr val="0D9488"/>
            </a:solidFill>
            <a:prstDash val="solid"/>
          </a:ln>
        </p:spPr>
      </p:sp>
      <p:sp>
        <p:nvSpPr>
          <p:cNvPr id="4" name="Text 2"/>
          <p:cNvSpPr/>
          <p:nvPr/>
        </p:nvSpPr>
        <p:spPr>
          <a:xfrm>
            <a:off x="548640" y="502920"/>
            <a:ext cx="10972800" cy="548640"/>
          </a:xfrm>
          <a:prstGeom prst="rect">
            <a:avLst/>
          </a:prstGeom>
          <a:noFill/>
          <a:ln/>
        </p:spPr>
        <p:txBody>
          <a:bodyPr wrap="square" lIns="0" tIns="0" rIns="0" bIns="0" rtlCol="0" anchor="ctr"/>
          <a:lstStyle/>
          <a:p>
            <a:pPr indent="0" marL="0">
              <a:buNone/>
            </a:pPr>
            <a:r>
              <a:rPr lang="en-US" sz="2600" b="1" dirty="0">
                <a:solidFill>
                  <a:srgbClr val="1F2937"/>
                </a:solidFill>
                <a:latin typeface="Calibri" pitchFamily="34" charset="0"/>
                <a:ea typeface="Calibri" pitchFamily="34" charset="-122"/>
                <a:cs typeface="Calibri" pitchFamily="34" charset="-120"/>
              </a:rPr>
              <a:t>Current state, end to end</a:t>
            </a:r>
            <a:endParaRPr lang="en-US" sz="2600" dirty="0"/>
          </a:p>
        </p:txBody>
      </p:sp>
      <p:sp>
        <p:nvSpPr>
          <p:cNvPr id="5" name="Shape 3"/>
          <p:cNvSpPr/>
          <p:nvPr/>
        </p:nvSpPr>
        <p:spPr>
          <a:xfrm>
            <a:off x="548640" y="1097280"/>
            <a:ext cx="457200" cy="45720"/>
          </a:xfrm>
          <a:prstGeom prst="rect">
            <a:avLst/>
          </a:prstGeom>
          <a:solidFill>
            <a:srgbClr val="0D9488"/>
          </a:solidFill>
          <a:ln w="12700">
            <a:solidFill>
              <a:srgbClr val="0D9488"/>
            </a:solidFill>
            <a:prstDash val="solid"/>
          </a:ln>
        </p:spPr>
      </p:sp>
      <p:sp>
        <p:nvSpPr>
          <p:cNvPr id="6" name="Shape 4"/>
          <p:cNvSpPr/>
          <p:nvPr/>
        </p:nvSpPr>
        <p:spPr>
          <a:xfrm>
            <a:off x="1371600" y="1645920"/>
            <a:ext cx="9418320" cy="594360"/>
          </a:xfrm>
          <a:prstGeom prst="rect">
            <a:avLst/>
          </a:prstGeom>
          <a:solidFill>
            <a:srgbClr val="475569"/>
          </a:solidFill>
          <a:ln w="12700">
            <a:solidFill>
              <a:srgbClr val="475569"/>
            </a:solidFill>
            <a:prstDash val="solid"/>
          </a:ln>
        </p:spPr>
      </p:sp>
      <p:sp>
        <p:nvSpPr>
          <p:cNvPr id="7" name="Text 5"/>
          <p:cNvSpPr/>
          <p:nvPr/>
        </p:nvSpPr>
        <p:spPr>
          <a:xfrm>
            <a:off x="1554480" y="1645920"/>
            <a:ext cx="9144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TSYS cardholder authorization network</a:t>
            </a:r>
            <a:endParaRPr lang="en-US" sz="1400" dirty="0"/>
          </a:p>
        </p:txBody>
      </p:sp>
      <p:sp>
        <p:nvSpPr>
          <p:cNvPr id="8" name="Text 6"/>
          <p:cNvSpPr/>
          <p:nvPr/>
        </p:nvSpPr>
        <p:spPr>
          <a:xfrm>
            <a:off x="1554480" y="1947672"/>
            <a:ext cx="9144000" cy="274320"/>
          </a:xfrm>
          <a:prstGeom prst="rect">
            <a:avLst/>
          </a:prstGeom>
          <a:noFill/>
          <a:ln/>
        </p:spPr>
        <p:txBody>
          <a:bodyPr wrap="square" lIns="0" tIns="0" rIns="0" bIns="0" rtlCol="0" anchor="ctr"/>
          <a:lstStyle/>
          <a:p>
            <a:pPr indent="0" marL="0">
              <a:buNone/>
            </a:pPr>
            <a:r>
              <a:rPr lang="en-US" sz="1000" i="1" dirty="0">
                <a:solidFill>
                  <a:srgbClr val="CBD5E1"/>
                </a:solidFill>
                <a:latin typeface="Calibri" pitchFamily="34" charset="0"/>
                <a:ea typeface="Calibri" pitchFamily="34" charset="-122"/>
                <a:cs typeface="Calibri" pitchFamily="34" charset="-120"/>
              </a:rPr>
              <a:t>real-time auth stream · Kafka · internal only</a:t>
            </a:r>
            <a:endParaRPr lang="en-US" sz="1000" dirty="0"/>
          </a:p>
        </p:txBody>
      </p:sp>
      <p:sp>
        <p:nvSpPr>
          <p:cNvPr id="9" name="Shape 7"/>
          <p:cNvSpPr/>
          <p:nvPr/>
        </p:nvSpPr>
        <p:spPr>
          <a:xfrm>
            <a:off x="6080760" y="2240280"/>
            <a:ext cx="0" cy="91440"/>
          </a:xfrm>
          <a:prstGeom prst="line">
            <a:avLst/>
          </a:prstGeom>
          <a:noFill/>
          <a:ln w="25400">
            <a:solidFill>
              <a:srgbClr val="1F2937"/>
            </a:solidFill>
            <a:prstDash val="solid"/>
            <a:tailEnd type="triangle"/>
          </a:ln>
        </p:spPr>
      </p:sp>
      <p:sp>
        <p:nvSpPr>
          <p:cNvPr id="10" name="Shape 8"/>
          <p:cNvSpPr/>
          <p:nvPr/>
        </p:nvSpPr>
        <p:spPr>
          <a:xfrm>
            <a:off x="1371600" y="2331720"/>
            <a:ext cx="9418320" cy="594360"/>
          </a:xfrm>
          <a:prstGeom prst="rect">
            <a:avLst/>
          </a:prstGeom>
          <a:solidFill>
            <a:srgbClr val="475569"/>
          </a:solidFill>
          <a:ln w="12700">
            <a:solidFill>
              <a:srgbClr val="475569"/>
            </a:solidFill>
            <a:prstDash val="solid"/>
          </a:ln>
        </p:spPr>
      </p:sp>
      <p:sp>
        <p:nvSpPr>
          <p:cNvPr id="11" name="Text 9"/>
          <p:cNvSpPr/>
          <p:nvPr/>
        </p:nvSpPr>
        <p:spPr>
          <a:xfrm>
            <a:off x="1554480" y="2331720"/>
            <a:ext cx="9144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Card Auth Ledger (Oracle)</a:t>
            </a:r>
            <a:endParaRPr lang="en-US" sz="1400" dirty="0"/>
          </a:p>
        </p:txBody>
      </p:sp>
      <p:sp>
        <p:nvSpPr>
          <p:cNvPr id="12" name="Text 10"/>
          <p:cNvSpPr/>
          <p:nvPr/>
        </p:nvSpPr>
        <p:spPr>
          <a:xfrm>
            <a:off x="1554480" y="2633472"/>
            <a:ext cx="9144000" cy="274320"/>
          </a:xfrm>
          <a:prstGeom prst="rect">
            <a:avLst/>
          </a:prstGeom>
          <a:noFill/>
          <a:ln/>
        </p:spPr>
        <p:txBody>
          <a:bodyPr wrap="square" lIns="0" tIns="0" rIns="0" bIns="0" rtlCol="0" anchor="ctr"/>
          <a:lstStyle/>
          <a:p>
            <a:pPr indent="0" marL="0">
              <a:buNone/>
            </a:pPr>
            <a:r>
              <a:rPr lang="en-US" sz="1000" i="1" dirty="0">
                <a:solidFill>
                  <a:srgbClr val="CBD5E1"/>
                </a:solidFill>
                <a:latin typeface="Calibri" pitchFamily="34" charset="0"/>
                <a:ea typeface="Calibri" pitchFamily="34" charset="-122"/>
                <a:cs typeface="Calibri" pitchFamily="34" charset="-120"/>
              </a:rPr>
              <a:t>operational, real-time</a:t>
            </a:r>
            <a:endParaRPr lang="en-US" sz="1000" dirty="0"/>
          </a:p>
        </p:txBody>
      </p:sp>
      <p:sp>
        <p:nvSpPr>
          <p:cNvPr id="13" name="Shape 11"/>
          <p:cNvSpPr/>
          <p:nvPr/>
        </p:nvSpPr>
        <p:spPr>
          <a:xfrm>
            <a:off x="6080760" y="2926080"/>
            <a:ext cx="0" cy="91440"/>
          </a:xfrm>
          <a:prstGeom prst="line">
            <a:avLst/>
          </a:prstGeom>
          <a:noFill/>
          <a:ln w="25400">
            <a:solidFill>
              <a:srgbClr val="1F2937"/>
            </a:solidFill>
            <a:prstDash val="solid"/>
            <a:tailEnd type="triangle"/>
          </a:ln>
        </p:spPr>
      </p:sp>
      <p:sp>
        <p:nvSpPr>
          <p:cNvPr id="14" name="Shape 12"/>
          <p:cNvSpPr/>
          <p:nvPr/>
        </p:nvSpPr>
        <p:spPr>
          <a:xfrm>
            <a:off x="1371600" y="3017520"/>
            <a:ext cx="9418320" cy="594360"/>
          </a:xfrm>
          <a:prstGeom prst="rect">
            <a:avLst/>
          </a:prstGeom>
          <a:solidFill>
            <a:srgbClr val="1F2937"/>
          </a:solidFill>
          <a:ln w="12700">
            <a:solidFill>
              <a:srgbClr val="1F2937"/>
            </a:solidFill>
            <a:prstDash val="solid"/>
          </a:ln>
        </p:spPr>
      </p:sp>
      <p:sp>
        <p:nvSpPr>
          <p:cNvPr id="15" name="Text 13"/>
          <p:cNvSpPr/>
          <p:nvPr/>
        </p:nvSpPr>
        <p:spPr>
          <a:xfrm>
            <a:off x="1554480" y="3017520"/>
            <a:ext cx="9144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Snowflake EDW</a:t>
            </a:r>
            <a:endParaRPr lang="en-US" sz="1400" dirty="0"/>
          </a:p>
        </p:txBody>
      </p:sp>
      <p:sp>
        <p:nvSpPr>
          <p:cNvPr id="16" name="Text 14"/>
          <p:cNvSpPr/>
          <p:nvPr/>
        </p:nvSpPr>
        <p:spPr>
          <a:xfrm>
            <a:off x="1554480" y="3319272"/>
            <a:ext cx="9144000" cy="274320"/>
          </a:xfrm>
          <a:prstGeom prst="rect">
            <a:avLst/>
          </a:prstGeom>
          <a:noFill/>
          <a:ln/>
        </p:spPr>
        <p:txBody>
          <a:bodyPr wrap="square" lIns="0" tIns="0" rIns="0" bIns="0" rtlCol="0" anchor="ctr"/>
          <a:lstStyle/>
          <a:p>
            <a:pPr indent="0" marL="0">
              <a:buNone/>
            </a:pPr>
            <a:r>
              <a:rPr lang="en-US" sz="1000" i="1" dirty="0">
                <a:solidFill>
                  <a:srgbClr val="CBD5E1"/>
                </a:solidFill>
                <a:latin typeface="Calibri" pitchFamily="34" charset="0"/>
                <a:ea typeface="Calibri" pitchFamily="34" charset="-122"/>
                <a:cs typeface="Calibri" pitchFamily="34" charset="-120"/>
              </a:rPr>
              <a:t>CARD.TRANSACTIONS.AUTHORIZATIONS · SETTLEMENTS · CUSTOMER_FEATURES (42 cols)</a:t>
            </a:r>
            <a:endParaRPr lang="en-US" sz="1000" dirty="0"/>
          </a:p>
        </p:txBody>
      </p:sp>
      <p:sp>
        <p:nvSpPr>
          <p:cNvPr id="17" name="Shape 15"/>
          <p:cNvSpPr/>
          <p:nvPr/>
        </p:nvSpPr>
        <p:spPr>
          <a:xfrm>
            <a:off x="6080760" y="3611880"/>
            <a:ext cx="0" cy="91440"/>
          </a:xfrm>
          <a:prstGeom prst="line">
            <a:avLst/>
          </a:prstGeom>
          <a:noFill/>
          <a:ln w="25400">
            <a:solidFill>
              <a:srgbClr val="1F2937"/>
            </a:solidFill>
            <a:prstDash val="solid"/>
            <a:tailEnd type="triangle"/>
          </a:ln>
        </p:spPr>
      </p:sp>
      <p:sp>
        <p:nvSpPr>
          <p:cNvPr id="18" name="Shape 16"/>
          <p:cNvSpPr/>
          <p:nvPr/>
        </p:nvSpPr>
        <p:spPr>
          <a:xfrm>
            <a:off x="1371600" y="3703320"/>
            <a:ext cx="9418320" cy="594360"/>
          </a:xfrm>
          <a:prstGeom prst="rect">
            <a:avLst/>
          </a:prstGeom>
          <a:solidFill>
            <a:srgbClr val="0D9488"/>
          </a:solidFill>
          <a:ln w="12700">
            <a:solidFill>
              <a:srgbClr val="0D9488"/>
            </a:solidFill>
            <a:prstDash val="solid"/>
          </a:ln>
        </p:spPr>
      </p:sp>
      <p:sp>
        <p:nvSpPr>
          <p:cNvPr id="19" name="Text 17"/>
          <p:cNvSpPr/>
          <p:nvPr/>
        </p:nvSpPr>
        <p:spPr>
          <a:xfrm>
            <a:off x="1554480" y="3703320"/>
            <a:ext cx="9144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AEP customer profile dataset</a:t>
            </a:r>
            <a:endParaRPr lang="en-US" sz="1400" dirty="0"/>
          </a:p>
        </p:txBody>
      </p:sp>
      <p:sp>
        <p:nvSpPr>
          <p:cNvPr id="20" name="Text 18"/>
          <p:cNvSpPr/>
          <p:nvPr/>
        </p:nvSpPr>
        <p:spPr>
          <a:xfrm>
            <a:off x="1554480" y="4005072"/>
            <a:ext cx="9144000" cy="274320"/>
          </a:xfrm>
          <a:prstGeom prst="rect">
            <a:avLst/>
          </a:prstGeom>
          <a:noFill/>
          <a:ln/>
        </p:spPr>
        <p:txBody>
          <a:bodyPr wrap="square" lIns="0" tIns="0" rIns="0" bIns="0" rtlCol="0" anchor="ctr"/>
          <a:lstStyle/>
          <a:p>
            <a:pPr indent="0" marL="0">
              <a:buNone/>
            </a:pPr>
            <a:r>
              <a:rPr lang="en-US" sz="1000" i="1" dirty="0">
                <a:solidFill>
                  <a:srgbClr val="CBD5E1"/>
                </a:solidFill>
                <a:latin typeface="Calibri" pitchFamily="34" charset="0"/>
                <a:ea typeface="Calibri" pitchFamily="34" charset="-122"/>
                <a:cs typeface="Calibri" pitchFamily="34" charset="-120"/>
              </a:rPr>
              <a:t>42 pre-computed marketing features · NO event-level data today</a:t>
            </a:r>
            <a:endParaRPr lang="en-US" sz="1000" dirty="0"/>
          </a:p>
        </p:txBody>
      </p:sp>
      <p:sp>
        <p:nvSpPr>
          <p:cNvPr id="21" name="Shape 19"/>
          <p:cNvSpPr/>
          <p:nvPr/>
        </p:nvSpPr>
        <p:spPr>
          <a:xfrm>
            <a:off x="6080760" y="4297680"/>
            <a:ext cx="0" cy="91440"/>
          </a:xfrm>
          <a:prstGeom prst="line">
            <a:avLst/>
          </a:prstGeom>
          <a:noFill/>
          <a:ln w="25400">
            <a:solidFill>
              <a:srgbClr val="1F2937"/>
            </a:solidFill>
            <a:prstDash val="solid"/>
            <a:tailEnd type="triangle"/>
          </a:ln>
        </p:spPr>
      </p:sp>
      <p:sp>
        <p:nvSpPr>
          <p:cNvPr id="22" name="Shape 20"/>
          <p:cNvSpPr/>
          <p:nvPr/>
        </p:nvSpPr>
        <p:spPr>
          <a:xfrm>
            <a:off x="1371600" y="4389120"/>
            <a:ext cx="9418320" cy="594360"/>
          </a:xfrm>
          <a:prstGeom prst="rect">
            <a:avLst/>
          </a:prstGeom>
          <a:solidFill>
            <a:srgbClr val="475569"/>
          </a:solidFill>
          <a:ln w="12700">
            <a:solidFill>
              <a:srgbClr val="475569"/>
            </a:solidFill>
            <a:prstDash val="solid"/>
          </a:ln>
        </p:spPr>
      </p:sp>
      <p:sp>
        <p:nvSpPr>
          <p:cNvPr id="23" name="Text 21"/>
          <p:cNvSpPr/>
          <p:nvPr/>
        </p:nvSpPr>
        <p:spPr>
          <a:xfrm>
            <a:off x="1554480" y="4389120"/>
            <a:ext cx="9144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Journey Optimizer · Audiences · Campaign</a:t>
            </a:r>
            <a:endParaRPr lang="en-US" sz="1400" dirty="0"/>
          </a:p>
        </p:txBody>
      </p:sp>
      <p:sp>
        <p:nvSpPr>
          <p:cNvPr id="24" name="Text 22"/>
          <p:cNvSpPr/>
          <p:nvPr/>
        </p:nvSpPr>
        <p:spPr>
          <a:xfrm>
            <a:off x="1554480" y="4690872"/>
            <a:ext cx="9144000" cy="274320"/>
          </a:xfrm>
          <a:prstGeom prst="rect">
            <a:avLst/>
          </a:prstGeom>
          <a:noFill/>
          <a:ln/>
        </p:spPr>
        <p:txBody>
          <a:bodyPr wrap="square" lIns="0" tIns="0" rIns="0" bIns="0" rtlCol="0" anchor="ctr"/>
          <a:lstStyle/>
          <a:p>
            <a:pPr indent="0" marL="0">
              <a:buNone/>
            </a:pPr>
            <a:r>
              <a:rPr lang="en-US" sz="1000" i="1" dirty="0">
                <a:solidFill>
                  <a:srgbClr val="CBD5E1"/>
                </a:solidFill>
                <a:latin typeface="Calibri" pitchFamily="34" charset="0"/>
                <a:ea typeface="Calibri" pitchFamily="34" charset="-122"/>
                <a:cs typeface="Calibri" pitchFamily="34" charset="-120"/>
              </a:rPr>
              <a:t>downstream marketing activation</a:t>
            </a:r>
            <a:endParaRPr lang="en-US" sz="1000" dirty="0"/>
          </a:p>
        </p:txBody>
      </p:sp>
      <p:sp>
        <p:nvSpPr>
          <p:cNvPr id="25" name="Shape 23"/>
          <p:cNvSpPr/>
          <p:nvPr/>
        </p:nvSpPr>
        <p:spPr>
          <a:xfrm>
            <a:off x="10972800" y="1828800"/>
            <a:ext cx="0" cy="3017520"/>
          </a:xfrm>
          <a:prstGeom prst="line">
            <a:avLst/>
          </a:prstGeom>
          <a:noFill/>
          <a:ln w="25400">
            <a:solidFill>
              <a:srgbClr val="0D9488"/>
            </a:solidFill>
            <a:prstDash val="solid"/>
          </a:ln>
        </p:spPr>
      </p:sp>
      <p:sp>
        <p:nvSpPr>
          <p:cNvPr id="26" name="Text 24"/>
          <p:cNvSpPr/>
          <p:nvPr/>
        </p:nvSpPr>
        <p:spPr>
          <a:xfrm>
            <a:off x="11064240" y="2926080"/>
            <a:ext cx="1005840" cy="457200"/>
          </a:xfrm>
          <a:prstGeom prst="rect">
            <a:avLst/>
          </a:prstGeom>
          <a:noFill/>
          <a:ln/>
        </p:spPr>
        <p:txBody>
          <a:bodyPr wrap="square" lIns="0" tIns="0" rIns="0" bIns="0" rtlCol="0" anchor="ctr"/>
          <a:lstStyle/>
          <a:p>
            <a:pPr indent="0" marL="0">
              <a:buNone/>
            </a:pPr>
            <a:r>
              <a:rPr lang="en-US" sz="1600" b="1" dirty="0">
                <a:solidFill>
                  <a:srgbClr val="0D9488"/>
                </a:solidFill>
                <a:latin typeface="Calibri" pitchFamily="34" charset="0"/>
                <a:ea typeface="Calibri" pitchFamily="34" charset="-122"/>
                <a:cs typeface="Calibri" pitchFamily="34" charset="-120"/>
              </a:rPr>
              <a:t>~26–30 hrs</a:t>
            </a:r>
            <a:endParaRPr lang="en-US" sz="1600" dirty="0"/>
          </a:p>
        </p:txBody>
      </p:sp>
      <p:sp>
        <p:nvSpPr>
          <p:cNvPr id="27" name="Text 25"/>
          <p:cNvSpPr/>
          <p:nvPr/>
        </p:nvSpPr>
        <p:spPr>
          <a:xfrm>
            <a:off x="11064240" y="3291840"/>
            <a:ext cx="1005840" cy="32004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auth → audience</a:t>
            </a:r>
            <a:endParaRPr lang="en-US" sz="900" dirty="0"/>
          </a:p>
        </p:txBody>
      </p:sp>
      <p:sp>
        <p:nvSpPr>
          <p:cNvPr id="28" name="Text 26"/>
          <p:cNvSpPr/>
          <p:nvPr/>
        </p:nvSpPr>
        <p:spPr>
          <a:xfrm>
            <a:off x="548640" y="5212080"/>
            <a:ext cx="11064240" cy="457200"/>
          </a:xfrm>
          <a:prstGeom prst="rect">
            <a:avLst/>
          </a:prstGeom>
          <a:noFill/>
          <a:ln/>
        </p:spPr>
        <p:txBody>
          <a:bodyPr wrap="square" lIns="0" tIns="0" rIns="0" bIns="0" rtlCol="0" anchor="ctr"/>
          <a:lstStyle/>
          <a:p>
            <a:pPr algn="ctr" indent="0" marL="0">
              <a:buNone/>
            </a:pPr>
            <a:r>
              <a:rPr lang="en-US" sz="1300" i="1" dirty="0">
                <a:solidFill>
                  <a:srgbClr val="475569"/>
                </a:solidFill>
                <a:latin typeface="Calibri" pitchFamily="34" charset="0"/>
                <a:ea typeface="Calibri" pitchFamily="34" charset="-122"/>
                <a:cs typeface="Calibri" pitchFamily="34" charset="-120"/>
              </a:rPr>
              <a:t>Rich data in Snowflake. Narrow data in AEP. The gap between them is where every Flywheel debate lives.</a:t>
            </a:r>
            <a:endParaRPr lang="en-US" sz="1300" dirty="0"/>
          </a:p>
        </p:txBody>
      </p:sp>
      <p:sp>
        <p:nvSpPr>
          <p:cNvPr id="29" name="Shape 27"/>
          <p:cNvSpPr/>
          <p:nvPr/>
        </p:nvSpPr>
        <p:spPr>
          <a:xfrm>
            <a:off x="548640" y="6446520"/>
            <a:ext cx="11064240" cy="0"/>
          </a:xfrm>
          <a:prstGeom prst="line">
            <a:avLst/>
          </a:prstGeom>
          <a:noFill/>
          <a:ln w="9525">
            <a:solidFill>
              <a:srgbClr val="E2E8F0"/>
            </a:solidFill>
            <a:prstDash val="solid"/>
          </a:ln>
        </p:spPr>
      </p:sp>
      <p:sp>
        <p:nvSpPr>
          <p:cNvPr id="30" name="Text 28"/>
          <p:cNvSpPr/>
          <p:nvPr/>
        </p:nvSpPr>
        <p:spPr>
          <a:xfrm>
            <a:off x="548640" y="6537960"/>
            <a:ext cx="4572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Enterprise Data Platform</a:t>
            </a:r>
            <a:endParaRPr lang="en-US" sz="900" dirty="0"/>
          </a:p>
        </p:txBody>
      </p:sp>
      <p:sp>
        <p:nvSpPr>
          <p:cNvPr id="31" name="Text 29"/>
          <p:cNvSpPr/>
          <p:nvPr/>
        </p:nvSpPr>
        <p:spPr>
          <a:xfrm>
            <a:off x="5120640" y="6537960"/>
            <a:ext cx="5486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Flywheel — Current State &amp; Options · v1 · April 8, 2026</a:t>
            </a:r>
            <a:endParaRPr lang="en-US" sz="900" dirty="0"/>
          </a:p>
        </p:txBody>
      </p:sp>
      <p:sp>
        <p:nvSpPr>
          <p:cNvPr id="32" name="Text 30"/>
          <p:cNvSpPr/>
          <p:nvPr/>
        </p:nvSpPr>
        <p:spPr>
          <a:xfrm>
            <a:off x="1133856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228600"/>
          </a:xfrm>
          <a:prstGeom prst="rect">
            <a:avLst/>
          </a:prstGeom>
          <a:solidFill>
            <a:srgbClr val="1F2937"/>
          </a:solidFill>
          <a:ln w="12700">
            <a:solidFill>
              <a:srgbClr val="1F2937"/>
            </a:solidFill>
            <a:prstDash val="solid"/>
          </a:ln>
        </p:spPr>
      </p:sp>
      <p:sp>
        <p:nvSpPr>
          <p:cNvPr id="3" name="Shape 1"/>
          <p:cNvSpPr/>
          <p:nvPr/>
        </p:nvSpPr>
        <p:spPr>
          <a:xfrm>
            <a:off x="0" y="228600"/>
            <a:ext cx="12161520" cy="36576"/>
          </a:xfrm>
          <a:prstGeom prst="rect">
            <a:avLst/>
          </a:prstGeom>
          <a:solidFill>
            <a:srgbClr val="0D9488"/>
          </a:solidFill>
          <a:ln w="12700">
            <a:solidFill>
              <a:srgbClr val="0D9488"/>
            </a:solidFill>
            <a:prstDash val="solid"/>
          </a:ln>
        </p:spPr>
      </p:sp>
      <p:sp>
        <p:nvSpPr>
          <p:cNvPr id="4" name="Text 2"/>
          <p:cNvSpPr/>
          <p:nvPr/>
        </p:nvSpPr>
        <p:spPr>
          <a:xfrm>
            <a:off x="548640" y="502920"/>
            <a:ext cx="10972800" cy="548640"/>
          </a:xfrm>
          <a:prstGeom prst="rect">
            <a:avLst/>
          </a:prstGeom>
          <a:noFill/>
          <a:ln/>
        </p:spPr>
        <p:txBody>
          <a:bodyPr wrap="square" lIns="0" tIns="0" rIns="0" bIns="0" rtlCol="0" anchor="ctr"/>
          <a:lstStyle/>
          <a:p>
            <a:pPr indent="0" marL="0">
              <a:buNone/>
            </a:pPr>
            <a:r>
              <a:rPr lang="en-US" sz="2600" b="1" dirty="0">
                <a:solidFill>
                  <a:srgbClr val="1F2937"/>
                </a:solidFill>
                <a:latin typeface="Calibri" pitchFamily="34" charset="0"/>
                <a:ea typeface="Calibri" pitchFamily="34" charset="-122"/>
                <a:cs typeface="Calibri" pitchFamily="34" charset="-120"/>
              </a:rPr>
              <a:t>Volumes and latency, current state</a:t>
            </a:r>
            <a:endParaRPr lang="en-US" sz="2600" dirty="0"/>
          </a:p>
        </p:txBody>
      </p:sp>
      <p:sp>
        <p:nvSpPr>
          <p:cNvPr id="5" name="Shape 3"/>
          <p:cNvSpPr/>
          <p:nvPr/>
        </p:nvSpPr>
        <p:spPr>
          <a:xfrm>
            <a:off x="548640" y="1097280"/>
            <a:ext cx="457200" cy="45720"/>
          </a:xfrm>
          <a:prstGeom prst="rect">
            <a:avLst/>
          </a:prstGeom>
          <a:solidFill>
            <a:srgbClr val="0D9488"/>
          </a:solidFill>
          <a:ln w="12700">
            <a:solidFill>
              <a:srgbClr val="0D948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4114800"/>
                <a:gridCol w="3657600"/>
                <a:gridCol w="329184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F293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Volume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F293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Latency (end of stage)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F2937"/>
                    </a:solidFill>
                  </a:tcPr>
                </a:tc>
              </a:tr>
              <a:tr h="45720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TSYS auth stream → Card Auth Ledger</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~11M auth events/day (peak ~250/sec)</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&lt;1 second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Auth Ledger → Snowflake raw tables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Full daily reload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Available ~04:00 CT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Snowflake raw → Marketing Features table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4.2M rows (one per active customer)</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Available ~05:45 CT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Features → AEP profile attributes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4.2M profile updates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Available in AEP ~07:15 CT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7" name="Shape 4"/>
          <p:cNvSpPr/>
          <p:nvPr/>
        </p:nvSpPr>
        <p:spPr>
          <a:xfrm>
            <a:off x="548640" y="4206240"/>
            <a:ext cx="11064240" cy="1645920"/>
          </a:xfrm>
          <a:prstGeom prst="rect">
            <a:avLst/>
          </a:prstGeom>
          <a:solidFill>
            <a:srgbClr val="FEF3C7"/>
          </a:solidFill>
          <a:ln w="12700">
            <a:solidFill>
              <a:srgbClr val="D97706"/>
            </a:solidFill>
            <a:prstDash val="solid"/>
          </a:ln>
        </p:spPr>
      </p:sp>
      <p:sp>
        <p:nvSpPr>
          <p:cNvPr id="8" name="Shape 5"/>
          <p:cNvSpPr/>
          <p:nvPr/>
        </p:nvSpPr>
        <p:spPr>
          <a:xfrm>
            <a:off x="548640" y="4206240"/>
            <a:ext cx="91440" cy="1645920"/>
          </a:xfrm>
          <a:prstGeom prst="rect">
            <a:avLst/>
          </a:prstGeom>
          <a:solidFill>
            <a:srgbClr val="D97706"/>
          </a:solidFill>
          <a:ln w="12700">
            <a:solidFill>
              <a:srgbClr val="D97706"/>
            </a:solidFill>
            <a:prstDash val="solid"/>
          </a:ln>
        </p:spPr>
      </p:sp>
      <p:sp>
        <p:nvSpPr>
          <p:cNvPr id="9" name="Text 6"/>
          <p:cNvSpPr/>
          <p:nvPr/>
        </p:nvSpPr>
        <p:spPr>
          <a:xfrm>
            <a:off x="822960" y="4297680"/>
            <a:ext cx="10515600" cy="502920"/>
          </a:xfrm>
          <a:prstGeom prst="rect">
            <a:avLst/>
          </a:prstGeom>
          <a:noFill/>
          <a:ln/>
        </p:spPr>
        <p:txBody>
          <a:bodyPr wrap="square" lIns="0" tIns="0" rIns="0" bIns="0"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End-to-end: ~26–30 hours from authorization to marketing audience.</a:t>
            </a:r>
            <a:endParaRPr lang="en-US" sz="1800" dirty="0"/>
          </a:p>
        </p:txBody>
      </p:sp>
      <p:sp>
        <p:nvSpPr>
          <p:cNvPr id="10" name="Text 7"/>
          <p:cNvSpPr/>
          <p:nvPr/>
        </p:nvSpPr>
        <p:spPr>
          <a:xfrm>
            <a:off x="822960" y="4846320"/>
            <a:ext cx="10515600" cy="91440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This is the number any Flywheel design needs to beat, for the use cases that need it. It's also the number Greg has been quoting back to us in Card LT reviews.</a:t>
            </a:r>
            <a:endParaRPr lang="en-US" sz="1300" dirty="0"/>
          </a:p>
        </p:txBody>
      </p:sp>
      <p:sp>
        <p:nvSpPr>
          <p:cNvPr id="11" name="Shape 8"/>
          <p:cNvSpPr/>
          <p:nvPr/>
        </p:nvSpPr>
        <p:spPr>
          <a:xfrm>
            <a:off x="548640" y="6446520"/>
            <a:ext cx="11064240" cy="0"/>
          </a:xfrm>
          <a:prstGeom prst="line">
            <a:avLst/>
          </a:prstGeom>
          <a:noFill/>
          <a:ln w="9525">
            <a:solidFill>
              <a:srgbClr val="E2E8F0"/>
            </a:solidFill>
            <a:prstDash val="solid"/>
          </a:ln>
        </p:spPr>
      </p:sp>
      <p:sp>
        <p:nvSpPr>
          <p:cNvPr id="12" name="Text 9"/>
          <p:cNvSpPr/>
          <p:nvPr/>
        </p:nvSpPr>
        <p:spPr>
          <a:xfrm>
            <a:off x="548640" y="6537960"/>
            <a:ext cx="4572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Enterprise Data Platform</a:t>
            </a:r>
            <a:endParaRPr lang="en-US" sz="900" dirty="0"/>
          </a:p>
        </p:txBody>
      </p:sp>
      <p:sp>
        <p:nvSpPr>
          <p:cNvPr id="13" name="Text 10"/>
          <p:cNvSpPr/>
          <p:nvPr/>
        </p:nvSpPr>
        <p:spPr>
          <a:xfrm>
            <a:off x="5120640" y="6537960"/>
            <a:ext cx="5486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Flywheel — Current State &amp; Options · v1 · April 8, 2026</a:t>
            </a:r>
            <a:endParaRPr lang="en-US" sz="900" dirty="0"/>
          </a:p>
        </p:txBody>
      </p:sp>
      <p:sp>
        <p:nvSpPr>
          <p:cNvPr id="14" name="Text 11"/>
          <p:cNvSpPr/>
          <p:nvPr/>
        </p:nvSpPr>
        <p:spPr>
          <a:xfrm>
            <a:off x="1133856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228600"/>
          </a:xfrm>
          <a:prstGeom prst="rect">
            <a:avLst/>
          </a:prstGeom>
          <a:solidFill>
            <a:srgbClr val="1F2937"/>
          </a:solidFill>
          <a:ln w="12700">
            <a:solidFill>
              <a:srgbClr val="1F2937"/>
            </a:solidFill>
            <a:prstDash val="solid"/>
          </a:ln>
        </p:spPr>
      </p:sp>
      <p:sp>
        <p:nvSpPr>
          <p:cNvPr id="3" name="Shape 1"/>
          <p:cNvSpPr/>
          <p:nvPr/>
        </p:nvSpPr>
        <p:spPr>
          <a:xfrm>
            <a:off x="0" y="228600"/>
            <a:ext cx="12161520" cy="36576"/>
          </a:xfrm>
          <a:prstGeom prst="rect">
            <a:avLst/>
          </a:prstGeom>
          <a:solidFill>
            <a:srgbClr val="0D9488"/>
          </a:solidFill>
          <a:ln w="12700">
            <a:solidFill>
              <a:srgbClr val="0D9488"/>
            </a:solidFill>
            <a:prstDash val="solid"/>
          </a:ln>
        </p:spPr>
      </p:sp>
      <p:sp>
        <p:nvSpPr>
          <p:cNvPr id="4" name="Text 2"/>
          <p:cNvSpPr/>
          <p:nvPr/>
        </p:nvSpPr>
        <p:spPr>
          <a:xfrm>
            <a:off x="548640" y="502920"/>
            <a:ext cx="10972800" cy="548640"/>
          </a:xfrm>
          <a:prstGeom prst="rect">
            <a:avLst/>
          </a:prstGeom>
          <a:noFill/>
          <a:ln/>
        </p:spPr>
        <p:txBody>
          <a:bodyPr wrap="square" lIns="0" tIns="0" rIns="0" bIns="0" rtlCol="0" anchor="ctr"/>
          <a:lstStyle/>
          <a:p>
            <a:pPr indent="0" marL="0">
              <a:buNone/>
            </a:pPr>
            <a:r>
              <a:rPr lang="en-US" sz="2600" b="1" dirty="0">
                <a:solidFill>
                  <a:srgbClr val="1F2937"/>
                </a:solidFill>
                <a:latin typeface="Calibri" pitchFamily="34" charset="0"/>
                <a:ea typeface="Calibri" pitchFamily="34" charset="-122"/>
                <a:cs typeface="Calibri" pitchFamily="34" charset="-120"/>
              </a:rPr>
              <a:t>Current marketing features in Snowflake</a:t>
            </a:r>
            <a:endParaRPr lang="en-US" sz="2600" dirty="0"/>
          </a:p>
        </p:txBody>
      </p:sp>
      <p:sp>
        <p:nvSpPr>
          <p:cNvPr id="5" name="Text 3"/>
          <p:cNvSpPr/>
          <p:nvPr/>
        </p:nvSpPr>
        <p:spPr>
          <a:xfrm>
            <a:off x="548640" y="1051560"/>
            <a:ext cx="1097280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42 columns · grouped roughly</a:t>
            </a:r>
            <a:endParaRPr lang="en-US" sz="1300" dirty="0"/>
          </a:p>
        </p:txBody>
      </p:sp>
      <p:sp>
        <p:nvSpPr>
          <p:cNvPr id="6" name="Shape 4"/>
          <p:cNvSpPr/>
          <p:nvPr/>
        </p:nvSpPr>
        <p:spPr>
          <a:xfrm>
            <a:off x="548640" y="1417320"/>
            <a:ext cx="457200" cy="45720"/>
          </a:xfrm>
          <a:prstGeom prst="rect">
            <a:avLst/>
          </a:prstGeom>
          <a:solidFill>
            <a:srgbClr val="0D9488"/>
          </a:solidFill>
          <a:ln w="12700">
            <a:solidFill>
              <a:srgbClr val="0D9488"/>
            </a:solidFill>
            <a:prstDash val="solid"/>
          </a:ln>
        </p:spPr>
      </p:sp>
      <p:sp>
        <p:nvSpPr>
          <p:cNvPr id="7" name="Shape 5"/>
          <p:cNvSpPr/>
          <p:nvPr/>
        </p:nvSpPr>
        <p:spPr>
          <a:xfrm>
            <a:off x="548640" y="1828800"/>
            <a:ext cx="3566160" cy="1600200"/>
          </a:xfrm>
          <a:prstGeom prst="rect">
            <a:avLst/>
          </a:prstGeom>
          <a:solidFill>
            <a:srgbClr val="F8FAFC"/>
          </a:solidFill>
          <a:ln w="12700">
            <a:solidFill>
              <a:srgbClr val="E2E8F0"/>
            </a:solidFill>
            <a:prstDash val="solid"/>
          </a:ln>
        </p:spPr>
      </p:sp>
      <p:sp>
        <p:nvSpPr>
          <p:cNvPr id="8" name="Shape 6"/>
          <p:cNvSpPr/>
          <p:nvPr/>
        </p:nvSpPr>
        <p:spPr>
          <a:xfrm>
            <a:off x="548640" y="1828800"/>
            <a:ext cx="3566160" cy="54864"/>
          </a:xfrm>
          <a:prstGeom prst="rect">
            <a:avLst/>
          </a:prstGeom>
          <a:solidFill>
            <a:srgbClr val="0D9488"/>
          </a:solidFill>
          <a:ln w="12700">
            <a:solidFill>
              <a:srgbClr val="0D9488"/>
            </a:solidFill>
            <a:prstDash val="solid"/>
          </a:ln>
        </p:spPr>
      </p:sp>
      <p:sp>
        <p:nvSpPr>
          <p:cNvPr id="9" name="Text 7"/>
          <p:cNvSpPr/>
          <p:nvPr/>
        </p:nvSpPr>
        <p:spPr>
          <a:xfrm>
            <a:off x="731520" y="1965960"/>
            <a:ext cx="914400" cy="731520"/>
          </a:xfrm>
          <a:prstGeom prst="rect">
            <a:avLst/>
          </a:prstGeom>
          <a:noFill/>
          <a:ln/>
        </p:spPr>
        <p:txBody>
          <a:bodyPr wrap="square" lIns="0" tIns="0" rIns="0" bIns="0" rtlCol="0" anchor="ctr"/>
          <a:lstStyle/>
          <a:p>
            <a:pPr indent="0" marL="0">
              <a:buNone/>
            </a:pPr>
            <a:r>
              <a:rPr lang="en-US" sz="3600" b="1" dirty="0">
                <a:solidFill>
                  <a:srgbClr val="1F2937"/>
                </a:solidFill>
                <a:latin typeface="Calibri" pitchFamily="34" charset="0"/>
                <a:ea typeface="Calibri" pitchFamily="34" charset="-122"/>
                <a:cs typeface="Calibri" pitchFamily="34" charset="-120"/>
              </a:rPr>
              <a:t>7</a:t>
            </a:r>
            <a:endParaRPr lang="en-US" sz="3600" dirty="0"/>
          </a:p>
        </p:txBody>
      </p:sp>
      <p:sp>
        <p:nvSpPr>
          <p:cNvPr id="10" name="Text 8"/>
          <p:cNvSpPr/>
          <p:nvPr/>
        </p:nvSpPr>
        <p:spPr>
          <a:xfrm>
            <a:off x="1554480" y="2011680"/>
            <a:ext cx="2468880" cy="4114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Recency</a:t>
            </a:r>
            <a:endParaRPr lang="en-US" sz="1500" dirty="0"/>
          </a:p>
        </p:txBody>
      </p:sp>
      <p:sp>
        <p:nvSpPr>
          <p:cNvPr id="11" name="Text 9"/>
          <p:cNvSpPr/>
          <p:nvPr/>
        </p:nvSpPr>
        <p:spPr>
          <a:xfrm>
            <a:off x="731520" y="2743200"/>
            <a:ext cx="3291840" cy="6858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Days since last purchase · last purchase per cluster · first-of-month flag</a:t>
            </a:r>
            <a:endParaRPr lang="en-US" sz="1000" dirty="0"/>
          </a:p>
        </p:txBody>
      </p:sp>
      <p:sp>
        <p:nvSpPr>
          <p:cNvPr id="12" name="Shape 10"/>
          <p:cNvSpPr/>
          <p:nvPr/>
        </p:nvSpPr>
        <p:spPr>
          <a:xfrm>
            <a:off x="4279392" y="1828800"/>
            <a:ext cx="3566160" cy="1600200"/>
          </a:xfrm>
          <a:prstGeom prst="rect">
            <a:avLst/>
          </a:prstGeom>
          <a:solidFill>
            <a:srgbClr val="F8FAFC"/>
          </a:solidFill>
          <a:ln w="12700">
            <a:solidFill>
              <a:srgbClr val="E2E8F0"/>
            </a:solidFill>
            <a:prstDash val="solid"/>
          </a:ln>
        </p:spPr>
      </p:sp>
      <p:sp>
        <p:nvSpPr>
          <p:cNvPr id="13" name="Shape 11"/>
          <p:cNvSpPr/>
          <p:nvPr/>
        </p:nvSpPr>
        <p:spPr>
          <a:xfrm>
            <a:off x="4279392" y="1828800"/>
            <a:ext cx="3566160" cy="54864"/>
          </a:xfrm>
          <a:prstGeom prst="rect">
            <a:avLst/>
          </a:prstGeom>
          <a:solidFill>
            <a:srgbClr val="0D9488"/>
          </a:solidFill>
          <a:ln w="12700">
            <a:solidFill>
              <a:srgbClr val="0D9488"/>
            </a:solidFill>
            <a:prstDash val="solid"/>
          </a:ln>
        </p:spPr>
      </p:sp>
      <p:sp>
        <p:nvSpPr>
          <p:cNvPr id="14" name="Text 12"/>
          <p:cNvSpPr/>
          <p:nvPr/>
        </p:nvSpPr>
        <p:spPr>
          <a:xfrm>
            <a:off x="4462272" y="1965960"/>
            <a:ext cx="914400" cy="731520"/>
          </a:xfrm>
          <a:prstGeom prst="rect">
            <a:avLst/>
          </a:prstGeom>
          <a:noFill/>
          <a:ln/>
        </p:spPr>
        <p:txBody>
          <a:bodyPr wrap="square" lIns="0" tIns="0" rIns="0" bIns="0" rtlCol="0" anchor="ctr"/>
          <a:lstStyle/>
          <a:p>
            <a:pPr indent="0" marL="0">
              <a:buNone/>
            </a:pPr>
            <a:r>
              <a:rPr lang="en-US" sz="3600" b="1" dirty="0">
                <a:solidFill>
                  <a:srgbClr val="1F2937"/>
                </a:solidFill>
                <a:latin typeface="Calibri" pitchFamily="34" charset="0"/>
                <a:ea typeface="Calibri" pitchFamily="34" charset="-122"/>
                <a:cs typeface="Calibri" pitchFamily="34" charset="-120"/>
              </a:rPr>
              <a:t>8</a:t>
            </a:r>
            <a:endParaRPr lang="en-US" sz="3600" dirty="0"/>
          </a:p>
        </p:txBody>
      </p:sp>
      <p:sp>
        <p:nvSpPr>
          <p:cNvPr id="15" name="Text 13"/>
          <p:cNvSpPr/>
          <p:nvPr/>
        </p:nvSpPr>
        <p:spPr>
          <a:xfrm>
            <a:off x="5285232" y="2011680"/>
            <a:ext cx="2468880" cy="4114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Frequency</a:t>
            </a:r>
            <a:endParaRPr lang="en-US" sz="1500" dirty="0"/>
          </a:p>
        </p:txBody>
      </p:sp>
      <p:sp>
        <p:nvSpPr>
          <p:cNvPr id="16" name="Text 14"/>
          <p:cNvSpPr/>
          <p:nvPr/>
        </p:nvSpPr>
        <p:spPr>
          <a:xfrm>
            <a:off x="4462272" y="2743200"/>
            <a:ext cx="3291840" cy="6858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30d/90d transaction counts · per MCC cluster · unique merchant count</a:t>
            </a:r>
            <a:endParaRPr lang="en-US" sz="1000" dirty="0"/>
          </a:p>
        </p:txBody>
      </p:sp>
      <p:sp>
        <p:nvSpPr>
          <p:cNvPr id="17" name="Shape 15"/>
          <p:cNvSpPr/>
          <p:nvPr/>
        </p:nvSpPr>
        <p:spPr>
          <a:xfrm>
            <a:off x="8010144" y="1828800"/>
            <a:ext cx="3566160" cy="1600200"/>
          </a:xfrm>
          <a:prstGeom prst="rect">
            <a:avLst/>
          </a:prstGeom>
          <a:solidFill>
            <a:srgbClr val="F8FAFC"/>
          </a:solidFill>
          <a:ln w="12700">
            <a:solidFill>
              <a:srgbClr val="E2E8F0"/>
            </a:solidFill>
            <a:prstDash val="solid"/>
          </a:ln>
        </p:spPr>
      </p:sp>
      <p:sp>
        <p:nvSpPr>
          <p:cNvPr id="18" name="Shape 16"/>
          <p:cNvSpPr/>
          <p:nvPr/>
        </p:nvSpPr>
        <p:spPr>
          <a:xfrm>
            <a:off x="8010144" y="1828800"/>
            <a:ext cx="3566160" cy="54864"/>
          </a:xfrm>
          <a:prstGeom prst="rect">
            <a:avLst/>
          </a:prstGeom>
          <a:solidFill>
            <a:srgbClr val="0D9488"/>
          </a:solidFill>
          <a:ln w="12700">
            <a:solidFill>
              <a:srgbClr val="0D9488"/>
            </a:solidFill>
            <a:prstDash val="solid"/>
          </a:ln>
        </p:spPr>
      </p:sp>
      <p:sp>
        <p:nvSpPr>
          <p:cNvPr id="19" name="Text 17"/>
          <p:cNvSpPr/>
          <p:nvPr/>
        </p:nvSpPr>
        <p:spPr>
          <a:xfrm>
            <a:off x="8193024" y="1965960"/>
            <a:ext cx="914400" cy="731520"/>
          </a:xfrm>
          <a:prstGeom prst="rect">
            <a:avLst/>
          </a:prstGeom>
          <a:noFill/>
          <a:ln/>
        </p:spPr>
        <p:txBody>
          <a:bodyPr wrap="square" lIns="0" tIns="0" rIns="0" bIns="0" rtlCol="0" anchor="ctr"/>
          <a:lstStyle/>
          <a:p>
            <a:pPr indent="0" marL="0">
              <a:buNone/>
            </a:pPr>
            <a:r>
              <a:rPr lang="en-US" sz="3600" b="1" dirty="0">
                <a:solidFill>
                  <a:srgbClr val="1F2937"/>
                </a:solidFill>
                <a:latin typeface="Calibri" pitchFamily="34" charset="0"/>
                <a:ea typeface="Calibri" pitchFamily="34" charset="-122"/>
                <a:cs typeface="Calibri" pitchFamily="34" charset="-120"/>
              </a:rPr>
              <a:t>11</a:t>
            </a:r>
            <a:endParaRPr lang="en-US" sz="3600" dirty="0"/>
          </a:p>
        </p:txBody>
      </p:sp>
      <p:sp>
        <p:nvSpPr>
          <p:cNvPr id="20" name="Text 18"/>
          <p:cNvSpPr/>
          <p:nvPr/>
        </p:nvSpPr>
        <p:spPr>
          <a:xfrm>
            <a:off x="9015984" y="2011680"/>
            <a:ext cx="2468880" cy="4114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Monetary</a:t>
            </a:r>
            <a:endParaRPr lang="en-US" sz="1500" dirty="0"/>
          </a:p>
        </p:txBody>
      </p:sp>
      <p:sp>
        <p:nvSpPr>
          <p:cNvPr id="21" name="Text 19"/>
          <p:cNvSpPr/>
          <p:nvPr/>
        </p:nvSpPr>
        <p:spPr>
          <a:xfrm>
            <a:off x="8193024" y="2743200"/>
            <a:ext cx="3291840" cy="6858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30d/90d spend · per-cluster spend · avg ticket · max ticket · refunds</a:t>
            </a:r>
            <a:endParaRPr lang="en-US" sz="1000" dirty="0"/>
          </a:p>
        </p:txBody>
      </p:sp>
      <p:sp>
        <p:nvSpPr>
          <p:cNvPr id="22" name="Shape 20"/>
          <p:cNvSpPr/>
          <p:nvPr/>
        </p:nvSpPr>
        <p:spPr>
          <a:xfrm>
            <a:off x="548640" y="3611880"/>
            <a:ext cx="3566160" cy="1600200"/>
          </a:xfrm>
          <a:prstGeom prst="rect">
            <a:avLst/>
          </a:prstGeom>
          <a:solidFill>
            <a:srgbClr val="F8FAFC"/>
          </a:solidFill>
          <a:ln w="12700">
            <a:solidFill>
              <a:srgbClr val="E2E8F0"/>
            </a:solidFill>
            <a:prstDash val="solid"/>
          </a:ln>
        </p:spPr>
      </p:sp>
      <p:sp>
        <p:nvSpPr>
          <p:cNvPr id="23" name="Shape 21"/>
          <p:cNvSpPr/>
          <p:nvPr/>
        </p:nvSpPr>
        <p:spPr>
          <a:xfrm>
            <a:off x="548640" y="3611880"/>
            <a:ext cx="3566160" cy="54864"/>
          </a:xfrm>
          <a:prstGeom prst="rect">
            <a:avLst/>
          </a:prstGeom>
          <a:solidFill>
            <a:srgbClr val="0D9488"/>
          </a:solidFill>
          <a:ln w="12700">
            <a:solidFill>
              <a:srgbClr val="0D9488"/>
            </a:solidFill>
            <a:prstDash val="solid"/>
          </a:ln>
        </p:spPr>
      </p:sp>
      <p:sp>
        <p:nvSpPr>
          <p:cNvPr id="24" name="Text 22"/>
          <p:cNvSpPr/>
          <p:nvPr/>
        </p:nvSpPr>
        <p:spPr>
          <a:xfrm>
            <a:off x="731520" y="3749040"/>
            <a:ext cx="914400" cy="731520"/>
          </a:xfrm>
          <a:prstGeom prst="rect">
            <a:avLst/>
          </a:prstGeom>
          <a:noFill/>
          <a:ln/>
        </p:spPr>
        <p:txBody>
          <a:bodyPr wrap="square" lIns="0" tIns="0" rIns="0" bIns="0" rtlCol="0" anchor="ctr"/>
          <a:lstStyle/>
          <a:p>
            <a:pPr indent="0" marL="0">
              <a:buNone/>
            </a:pPr>
            <a:r>
              <a:rPr lang="en-US" sz="3600" b="1" dirty="0">
                <a:solidFill>
                  <a:srgbClr val="1F2937"/>
                </a:solidFill>
                <a:latin typeface="Calibri" pitchFamily="34" charset="0"/>
                <a:ea typeface="Calibri" pitchFamily="34" charset="-122"/>
                <a:cs typeface="Calibri" pitchFamily="34" charset="-120"/>
              </a:rPr>
              <a:t>4</a:t>
            </a:r>
            <a:endParaRPr lang="en-US" sz="3600" dirty="0"/>
          </a:p>
        </p:txBody>
      </p:sp>
      <p:sp>
        <p:nvSpPr>
          <p:cNvPr id="25" name="Text 23"/>
          <p:cNvSpPr/>
          <p:nvPr/>
        </p:nvSpPr>
        <p:spPr>
          <a:xfrm>
            <a:off x="1554480" y="3794760"/>
            <a:ext cx="2468880" cy="4114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Velocity</a:t>
            </a:r>
            <a:endParaRPr lang="en-US" sz="1500" dirty="0"/>
          </a:p>
        </p:txBody>
      </p:sp>
      <p:sp>
        <p:nvSpPr>
          <p:cNvPr id="26" name="Text 24"/>
          <p:cNvSpPr/>
          <p:nvPr/>
        </p:nvSpPr>
        <p:spPr>
          <a:xfrm>
            <a:off x="731520" y="4526280"/>
            <a:ext cx="3291840" cy="6858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WoW, MoM, and QoQ spend deltas</a:t>
            </a:r>
            <a:endParaRPr lang="en-US" sz="1000" dirty="0"/>
          </a:p>
        </p:txBody>
      </p:sp>
      <p:sp>
        <p:nvSpPr>
          <p:cNvPr id="27" name="Shape 25"/>
          <p:cNvSpPr/>
          <p:nvPr/>
        </p:nvSpPr>
        <p:spPr>
          <a:xfrm>
            <a:off x="4279392" y="3611880"/>
            <a:ext cx="3566160" cy="1600200"/>
          </a:xfrm>
          <a:prstGeom prst="rect">
            <a:avLst/>
          </a:prstGeom>
          <a:solidFill>
            <a:srgbClr val="F8FAFC"/>
          </a:solidFill>
          <a:ln w="12700">
            <a:solidFill>
              <a:srgbClr val="E2E8F0"/>
            </a:solidFill>
            <a:prstDash val="solid"/>
          </a:ln>
        </p:spPr>
      </p:sp>
      <p:sp>
        <p:nvSpPr>
          <p:cNvPr id="28" name="Shape 26"/>
          <p:cNvSpPr/>
          <p:nvPr/>
        </p:nvSpPr>
        <p:spPr>
          <a:xfrm>
            <a:off x="4279392" y="3611880"/>
            <a:ext cx="3566160" cy="54864"/>
          </a:xfrm>
          <a:prstGeom prst="rect">
            <a:avLst/>
          </a:prstGeom>
          <a:solidFill>
            <a:srgbClr val="0D9488"/>
          </a:solidFill>
          <a:ln w="12700">
            <a:solidFill>
              <a:srgbClr val="0D9488"/>
            </a:solidFill>
            <a:prstDash val="solid"/>
          </a:ln>
        </p:spPr>
      </p:sp>
      <p:sp>
        <p:nvSpPr>
          <p:cNvPr id="29" name="Text 27"/>
          <p:cNvSpPr/>
          <p:nvPr/>
        </p:nvSpPr>
        <p:spPr>
          <a:xfrm>
            <a:off x="4462272" y="3749040"/>
            <a:ext cx="914400" cy="731520"/>
          </a:xfrm>
          <a:prstGeom prst="rect">
            <a:avLst/>
          </a:prstGeom>
          <a:noFill/>
          <a:ln/>
        </p:spPr>
        <p:txBody>
          <a:bodyPr wrap="square" lIns="0" tIns="0" rIns="0" bIns="0" rtlCol="0" anchor="ctr"/>
          <a:lstStyle/>
          <a:p>
            <a:pPr indent="0" marL="0">
              <a:buNone/>
            </a:pPr>
            <a:r>
              <a:rPr lang="en-US" sz="3600" b="1" dirty="0">
                <a:solidFill>
                  <a:srgbClr val="1F2937"/>
                </a:solidFill>
                <a:latin typeface="Calibri" pitchFamily="34" charset="0"/>
                <a:ea typeface="Calibri" pitchFamily="34" charset="-122"/>
                <a:cs typeface="Calibri" pitchFamily="34" charset="-120"/>
              </a:rPr>
              <a:t>6</a:t>
            </a:r>
            <a:endParaRPr lang="en-US" sz="3600" dirty="0"/>
          </a:p>
        </p:txBody>
      </p:sp>
      <p:sp>
        <p:nvSpPr>
          <p:cNvPr id="30" name="Text 28"/>
          <p:cNvSpPr/>
          <p:nvPr/>
        </p:nvSpPr>
        <p:spPr>
          <a:xfrm>
            <a:off x="5285232" y="3794760"/>
            <a:ext cx="2468880" cy="4114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Lifecycle</a:t>
            </a:r>
            <a:endParaRPr lang="en-US" sz="1500" dirty="0"/>
          </a:p>
        </p:txBody>
      </p:sp>
      <p:sp>
        <p:nvSpPr>
          <p:cNvPr id="31" name="Text 29"/>
          <p:cNvSpPr/>
          <p:nvPr/>
        </p:nvSpPr>
        <p:spPr>
          <a:xfrm>
            <a:off x="4462272" y="4526280"/>
            <a:ext cx="3291840" cy="6858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Dormancy flag (180d) · tenure bucket · utilization bucket · balance bucket</a:t>
            </a:r>
            <a:endParaRPr lang="en-US" sz="1000" dirty="0"/>
          </a:p>
        </p:txBody>
      </p:sp>
      <p:sp>
        <p:nvSpPr>
          <p:cNvPr id="32" name="Shape 30"/>
          <p:cNvSpPr/>
          <p:nvPr/>
        </p:nvSpPr>
        <p:spPr>
          <a:xfrm>
            <a:off x="8010144" y="3611880"/>
            <a:ext cx="3566160" cy="1600200"/>
          </a:xfrm>
          <a:prstGeom prst="rect">
            <a:avLst/>
          </a:prstGeom>
          <a:solidFill>
            <a:srgbClr val="F8FAFC"/>
          </a:solidFill>
          <a:ln w="12700">
            <a:solidFill>
              <a:srgbClr val="E2E8F0"/>
            </a:solidFill>
            <a:prstDash val="solid"/>
          </a:ln>
        </p:spPr>
      </p:sp>
      <p:sp>
        <p:nvSpPr>
          <p:cNvPr id="33" name="Shape 31"/>
          <p:cNvSpPr/>
          <p:nvPr/>
        </p:nvSpPr>
        <p:spPr>
          <a:xfrm>
            <a:off x="8010144" y="3611880"/>
            <a:ext cx="3566160" cy="54864"/>
          </a:xfrm>
          <a:prstGeom prst="rect">
            <a:avLst/>
          </a:prstGeom>
          <a:solidFill>
            <a:srgbClr val="0D9488"/>
          </a:solidFill>
          <a:ln w="12700">
            <a:solidFill>
              <a:srgbClr val="0D9488"/>
            </a:solidFill>
            <a:prstDash val="solid"/>
          </a:ln>
        </p:spPr>
      </p:sp>
      <p:sp>
        <p:nvSpPr>
          <p:cNvPr id="34" name="Text 32"/>
          <p:cNvSpPr/>
          <p:nvPr/>
        </p:nvSpPr>
        <p:spPr>
          <a:xfrm>
            <a:off x="8193024" y="3749040"/>
            <a:ext cx="914400" cy="731520"/>
          </a:xfrm>
          <a:prstGeom prst="rect">
            <a:avLst/>
          </a:prstGeom>
          <a:noFill/>
          <a:ln/>
        </p:spPr>
        <p:txBody>
          <a:bodyPr wrap="square" lIns="0" tIns="0" rIns="0" bIns="0" rtlCol="0" anchor="ctr"/>
          <a:lstStyle/>
          <a:p>
            <a:pPr indent="0" marL="0">
              <a:buNone/>
            </a:pPr>
            <a:r>
              <a:rPr lang="en-US" sz="3600" b="1" dirty="0">
                <a:solidFill>
                  <a:srgbClr val="1F2937"/>
                </a:solidFill>
                <a:latin typeface="Calibri" pitchFamily="34" charset="0"/>
                <a:ea typeface="Calibri" pitchFamily="34" charset="-122"/>
                <a:cs typeface="Calibri" pitchFamily="34" charset="-120"/>
              </a:rPr>
              <a:t>6</a:t>
            </a:r>
            <a:endParaRPr lang="en-US" sz="3600" dirty="0"/>
          </a:p>
        </p:txBody>
      </p:sp>
      <p:sp>
        <p:nvSpPr>
          <p:cNvPr id="35" name="Text 33"/>
          <p:cNvSpPr/>
          <p:nvPr/>
        </p:nvSpPr>
        <p:spPr>
          <a:xfrm>
            <a:off x="9015984" y="3794760"/>
            <a:ext cx="2468880" cy="4114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Other</a:t>
            </a:r>
            <a:endParaRPr lang="en-US" sz="1500" dirty="0"/>
          </a:p>
        </p:txBody>
      </p:sp>
      <p:sp>
        <p:nvSpPr>
          <p:cNvPr id="36" name="Text 34"/>
          <p:cNvSpPr/>
          <p:nvPr/>
        </p:nvSpPr>
        <p:spPr>
          <a:xfrm>
            <a:off x="8193024" y="4526280"/>
            <a:ext cx="3291840" cy="6858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Channel preference proxy · online/offline ratio · weekday/weekend ratio</a:t>
            </a:r>
            <a:endParaRPr lang="en-US" sz="1000" dirty="0"/>
          </a:p>
        </p:txBody>
      </p:sp>
      <p:sp>
        <p:nvSpPr>
          <p:cNvPr id="37" name="Shape 35"/>
          <p:cNvSpPr/>
          <p:nvPr/>
        </p:nvSpPr>
        <p:spPr>
          <a:xfrm>
            <a:off x="548640" y="5486400"/>
            <a:ext cx="11064240" cy="685800"/>
          </a:xfrm>
          <a:prstGeom prst="rect">
            <a:avLst/>
          </a:prstGeom>
          <a:solidFill>
            <a:srgbClr val="FEE2E2"/>
          </a:solidFill>
          <a:ln w="12700">
            <a:solidFill>
              <a:srgbClr val="DC2626"/>
            </a:solidFill>
            <a:prstDash val="solid"/>
          </a:ln>
        </p:spPr>
      </p:sp>
      <p:sp>
        <p:nvSpPr>
          <p:cNvPr id="38" name="Shape 36"/>
          <p:cNvSpPr/>
          <p:nvPr/>
        </p:nvSpPr>
        <p:spPr>
          <a:xfrm>
            <a:off x="548640" y="5486400"/>
            <a:ext cx="73152" cy="685800"/>
          </a:xfrm>
          <a:prstGeom prst="rect">
            <a:avLst/>
          </a:prstGeom>
          <a:solidFill>
            <a:srgbClr val="DC2626"/>
          </a:solidFill>
          <a:ln w="12700">
            <a:solidFill>
              <a:srgbClr val="DC2626"/>
            </a:solidFill>
            <a:prstDash val="solid"/>
          </a:ln>
        </p:spPr>
      </p:sp>
      <p:sp>
        <p:nvSpPr>
          <p:cNvPr id="39" name="Text 37"/>
          <p:cNvSpPr/>
          <p:nvPr/>
        </p:nvSpPr>
        <p:spPr>
          <a:xfrm>
            <a:off x="822960" y="5532120"/>
            <a:ext cx="10698480" cy="594360"/>
          </a:xfrm>
          <a:prstGeom prst="rect">
            <a:avLst/>
          </a:prstGeom>
          <a:noFill/>
          <a:ln/>
        </p:spPr>
        <p:txBody>
          <a:bodyPr wrap="square" lIns="0" tIns="0" rIns="0" bIns="0" rtlCol="0" anchor="ctr"/>
          <a:lstStyle/>
          <a:p>
            <a:pPr indent="0" marL="0">
              <a:buNone/>
            </a:pPr>
            <a:r>
              <a:rPr lang="en-US" sz="1200" b="1" dirty="0">
                <a:solidFill>
                  <a:srgbClr val="DC2626"/>
                </a:solidFill>
                <a:latin typeface="Calibri" pitchFamily="34" charset="0"/>
                <a:ea typeface="Calibri" pitchFamily="34" charset="-122"/>
                <a:cs typeface="Calibri" pitchFamily="34" charset="-120"/>
              </a:rPr>
              <a:t>Hard boundary: </a:t>
            </a:r>
            <a:pPr indent="0" marL="0">
              <a:buNone/>
            </a:pPr>
            <a:r>
              <a:rPr lang="en-US" sz="1200" dirty="0">
                <a:solidFill>
                  <a:srgbClr val="1F2937"/>
                </a:solidFill>
                <a:latin typeface="Calibri" pitchFamily="34" charset="0"/>
                <a:ea typeface="Calibri" pitchFamily="34" charset="-122"/>
                <a:cs typeface="Calibri" pitchFamily="34" charset="-120"/>
              </a:rPr>
              <a:t>risk and credit-bureau attributes are never used in marketing features. Maintained by Governance.</a:t>
            </a:r>
            <a:endParaRPr lang="en-US" sz="1200" dirty="0"/>
          </a:p>
        </p:txBody>
      </p:sp>
      <p:sp>
        <p:nvSpPr>
          <p:cNvPr id="40" name="Shape 38"/>
          <p:cNvSpPr/>
          <p:nvPr/>
        </p:nvSpPr>
        <p:spPr>
          <a:xfrm>
            <a:off x="548640" y="6446520"/>
            <a:ext cx="11064240" cy="0"/>
          </a:xfrm>
          <a:prstGeom prst="line">
            <a:avLst/>
          </a:prstGeom>
          <a:noFill/>
          <a:ln w="9525">
            <a:solidFill>
              <a:srgbClr val="E2E8F0"/>
            </a:solidFill>
            <a:prstDash val="solid"/>
          </a:ln>
        </p:spPr>
      </p:sp>
      <p:sp>
        <p:nvSpPr>
          <p:cNvPr id="41" name="Text 39"/>
          <p:cNvSpPr/>
          <p:nvPr/>
        </p:nvSpPr>
        <p:spPr>
          <a:xfrm>
            <a:off x="548640" y="6537960"/>
            <a:ext cx="4572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Enterprise Data Platform</a:t>
            </a:r>
            <a:endParaRPr lang="en-US" sz="900" dirty="0"/>
          </a:p>
        </p:txBody>
      </p:sp>
      <p:sp>
        <p:nvSpPr>
          <p:cNvPr id="42" name="Text 40"/>
          <p:cNvSpPr/>
          <p:nvPr/>
        </p:nvSpPr>
        <p:spPr>
          <a:xfrm>
            <a:off x="5120640" y="6537960"/>
            <a:ext cx="5486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Flywheel — Current State &amp; Options · v1 · April 8, 2026</a:t>
            </a:r>
            <a:endParaRPr lang="en-US" sz="900" dirty="0"/>
          </a:p>
        </p:txBody>
      </p:sp>
      <p:sp>
        <p:nvSpPr>
          <p:cNvPr id="43" name="Text 41"/>
          <p:cNvSpPr/>
          <p:nvPr/>
        </p:nvSpPr>
        <p:spPr>
          <a:xfrm>
            <a:off x="1133856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228600"/>
          </a:xfrm>
          <a:prstGeom prst="rect">
            <a:avLst/>
          </a:prstGeom>
          <a:solidFill>
            <a:srgbClr val="1F2937"/>
          </a:solidFill>
          <a:ln w="12700">
            <a:solidFill>
              <a:srgbClr val="1F2937"/>
            </a:solidFill>
            <a:prstDash val="solid"/>
          </a:ln>
        </p:spPr>
      </p:sp>
      <p:sp>
        <p:nvSpPr>
          <p:cNvPr id="3" name="Shape 1"/>
          <p:cNvSpPr/>
          <p:nvPr/>
        </p:nvSpPr>
        <p:spPr>
          <a:xfrm>
            <a:off x="0" y="228600"/>
            <a:ext cx="12161520" cy="36576"/>
          </a:xfrm>
          <a:prstGeom prst="rect">
            <a:avLst/>
          </a:prstGeom>
          <a:solidFill>
            <a:srgbClr val="0D9488"/>
          </a:solidFill>
          <a:ln w="12700">
            <a:solidFill>
              <a:srgbClr val="0D9488"/>
            </a:solidFill>
            <a:prstDash val="solid"/>
          </a:ln>
        </p:spPr>
      </p:sp>
      <p:sp>
        <p:nvSpPr>
          <p:cNvPr id="4" name="Text 2"/>
          <p:cNvSpPr/>
          <p:nvPr/>
        </p:nvSpPr>
        <p:spPr>
          <a:xfrm>
            <a:off x="548640" y="502920"/>
            <a:ext cx="10972800" cy="548640"/>
          </a:xfrm>
          <a:prstGeom prst="rect">
            <a:avLst/>
          </a:prstGeom>
          <a:noFill/>
          <a:ln/>
        </p:spPr>
        <p:txBody>
          <a:bodyPr wrap="square" lIns="0" tIns="0" rIns="0" bIns="0" rtlCol="0" anchor="ctr"/>
          <a:lstStyle/>
          <a:p>
            <a:pPr indent="0" marL="0">
              <a:buNone/>
            </a:pPr>
            <a:r>
              <a:rPr lang="en-US" sz="2600" b="1" dirty="0">
                <a:solidFill>
                  <a:srgbClr val="1F2937"/>
                </a:solidFill>
                <a:latin typeface="Calibri" pitchFamily="34" charset="0"/>
                <a:ea typeface="Calibri" pitchFamily="34" charset="-122"/>
                <a:cs typeface="Calibri" pitchFamily="34" charset="-120"/>
              </a:rPr>
              <a:t>What's not in AEP today</a:t>
            </a:r>
            <a:endParaRPr lang="en-US" sz="2600" dirty="0"/>
          </a:p>
        </p:txBody>
      </p:sp>
      <p:sp>
        <p:nvSpPr>
          <p:cNvPr id="5" name="Shape 3"/>
          <p:cNvSpPr/>
          <p:nvPr/>
        </p:nvSpPr>
        <p:spPr>
          <a:xfrm>
            <a:off x="548640" y="1097280"/>
            <a:ext cx="457200" cy="45720"/>
          </a:xfrm>
          <a:prstGeom prst="rect">
            <a:avLst/>
          </a:prstGeom>
          <a:solidFill>
            <a:srgbClr val="0D9488"/>
          </a:solidFill>
          <a:ln w="12700">
            <a:solidFill>
              <a:srgbClr val="0D9488"/>
            </a:solidFill>
            <a:prstDash val="solid"/>
          </a:ln>
        </p:spPr>
      </p:sp>
      <p:sp>
        <p:nvSpPr>
          <p:cNvPr id="6" name="Shape 4"/>
          <p:cNvSpPr/>
          <p:nvPr/>
        </p:nvSpPr>
        <p:spPr>
          <a:xfrm>
            <a:off x="548640" y="1737360"/>
            <a:ext cx="11064240" cy="777240"/>
          </a:xfrm>
          <a:prstGeom prst="rect">
            <a:avLst/>
          </a:prstGeom>
          <a:solidFill>
            <a:srgbClr val="F8FAFC"/>
          </a:solidFill>
          <a:ln w="12700">
            <a:solidFill>
              <a:srgbClr val="E2E8F0"/>
            </a:solidFill>
            <a:prstDash val="solid"/>
          </a:ln>
        </p:spPr>
      </p:sp>
      <p:sp>
        <p:nvSpPr>
          <p:cNvPr id="7" name="Shape 5"/>
          <p:cNvSpPr/>
          <p:nvPr/>
        </p:nvSpPr>
        <p:spPr>
          <a:xfrm>
            <a:off x="731520" y="1920240"/>
            <a:ext cx="411480" cy="411480"/>
          </a:xfrm>
          <a:prstGeom prst="ellipse">
            <a:avLst/>
          </a:prstGeom>
          <a:solidFill>
            <a:srgbClr val="DC2626"/>
          </a:solidFill>
          <a:ln w="12700">
            <a:solidFill>
              <a:srgbClr val="DC2626"/>
            </a:solidFill>
            <a:prstDash val="solid"/>
          </a:ln>
        </p:spPr>
      </p:sp>
      <p:sp>
        <p:nvSpPr>
          <p:cNvPr id="8" name="Text 6"/>
          <p:cNvSpPr/>
          <p:nvPr/>
        </p:nvSpPr>
        <p:spPr>
          <a:xfrm>
            <a:off x="731520" y="192024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9" name="Text 7"/>
          <p:cNvSpPr/>
          <p:nvPr/>
        </p:nvSpPr>
        <p:spPr>
          <a:xfrm>
            <a:off x="1325880" y="1828800"/>
            <a:ext cx="10149840" cy="3200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Event-level transactions</a:t>
            </a:r>
            <a:endParaRPr lang="en-US" sz="1500" dirty="0"/>
          </a:p>
        </p:txBody>
      </p:sp>
      <p:sp>
        <p:nvSpPr>
          <p:cNvPr id="10" name="Text 8"/>
          <p:cNvSpPr/>
          <p:nvPr/>
        </p:nvSpPr>
        <p:spPr>
          <a:xfrm>
            <a:off x="1325880" y="2130552"/>
            <a:ext cx="1014984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Never been in AEP. Marketing has never seen an individual transaction in-platform.</a:t>
            </a:r>
            <a:endParaRPr lang="en-US" sz="1200" dirty="0"/>
          </a:p>
        </p:txBody>
      </p:sp>
      <p:sp>
        <p:nvSpPr>
          <p:cNvPr id="11" name="Shape 9"/>
          <p:cNvSpPr/>
          <p:nvPr/>
        </p:nvSpPr>
        <p:spPr>
          <a:xfrm>
            <a:off x="548640" y="2606040"/>
            <a:ext cx="11064240" cy="777240"/>
          </a:xfrm>
          <a:prstGeom prst="rect">
            <a:avLst/>
          </a:prstGeom>
          <a:solidFill>
            <a:srgbClr val="F8FAFC"/>
          </a:solidFill>
          <a:ln w="12700">
            <a:solidFill>
              <a:srgbClr val="E2E8F0"/>
            </a:solidFill>
            <a:prstDash val="solid"/>
          </a:ln>
        </p:spPr>
      </p:sp>
      <p:sp>
        <p:nvSpPr>
          <p:cNvPr id="12" name="Shape 10"/>
          <p:cNvSpPr/>
          <p:nvPr/>
        </p:nvSpPr>
        <p:spPr>
          <a:xfrm>
            <a:off x="731520" y="2788920"/>
            <a:ext cx="411480" cy="411480"/>
          </a:xfrm>
          <a:prstGeom prst="ellipse">
            <a:avLst/>
          </a:prstGeom>
          <a:solidFill>
            <a:srgbClr val="DC2626"/>
          </a:solidFill>
          <a:ln w="12700">
            <a:solidFill>
              <a:srgbClr val="DC2626"/>
            </a:solidFill>
            <a:prstDash val="solid"/>
          </a:ln>
        </p:spPr>
      </p:sp>
      <p:sp>
        <p:nvSpPr>
          <p:cNvPr id="13" name="Text 11"/>
          <p:cNvSpPr/>
          <p:nvPr/>
        </p:nvSpPr>
        <p:spPr>
          <a:xfrm>
            <a:off x="731520" y="278892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1325880" y="2697480"/>
            <a:ext cx="10149840" cy="3200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Merchant-level attribution</a:t>
            </a:r>
            <a:endParaRPr lang="en-US" sz="1500" dirty="0"/>
          </a:p>
        </p:txBody>
      </p:sp>
      <p:sp>
        <p:nvSpPr>
          <p:cNvPr id="15" name="Text 13"/>
          <p:cNvSpPr/>
          <p:nvPr/>
        </p:nvSpPr>
        <p:spPr>
          <a:xfrm>
            <a:off x="1325880" y="2999232"/>
            <a:ext cx="1014984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We have MCC but no merchant name, chain identifier, or normalized merchant.</a:t>
            </a:r>
            <a:endParaRPr lang="en-US" sz="1200" dirty="0"/>
          </a:p>
        </p:txBody>
      </p:sp>
      <p:sp>
        <p:nvSpPr>
          <p:cNvPr id="16" name="Shape 14"/>
          <p:cNvSpPr/>
          <p:nvPr/>
        </p:nvSpPr>
        <p:spPr>
          <a:xfrm>
            <a:off x="548640" y="3474720"/>
            <a:ext cx="11064240" cy="777240"/>
          </a:xfrm>
          <a:prstGeom prst="rect">
            <a:avLst/>
          </a:prstGeom>
          <a:solidFill>
            <a:srgbClr val="F8FAFC"/>
          </a:solidFill>
          <a:ln w="12700">
            <a:solidFill>
              <a:srgbClr val="E2E8F0"/>
            </a:solidFill>
            <a:prstDash val="solid"/>
          </a:ln>
        </p:spPr>
      </p:sp>
      <p:sp>
        <p:nvSpPr>
          <p:cNvPr id="17" name="Shape 15"/>
          <p:cNvSpPr/>
          <p:nvPr/>
        </p:nvSpPr>
        <p:spPr>
          <a:xfrm>
            <a:off x="731520" y="3657600"/>
            <a:ext cx="411480" cy="411480"/>
          </a:xfrm>
          <a:prstGeom prst="ellipse">
            <a:avLst/>
          </a:prstGeom>
          <a:solidFill>
            <a:srgbClr val="DC2626"/>
          </a:solidFill>
          <a:ln w="12700">
            <a:solidFill>
              <a:srgbClr val="DC2626"/>
            </a:solidFill>
            <a:prstDash val="solid"/>
          </a:ln>
        </p:spPr>
      </p:sp>
      <p:sp>
        <p:nvSpPr>
          <p:cNvPr id="18" name="Text 16"/>
          <p:cNvSpPr/>
          <p:nvPr/>
        </p:nvSpPr>
        <p:spPr>
          <a:xfrm>
            <a:off x="731520" y="36576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9" name="Text 17"/>
          <p:cNvSpPr/>
          <p:nvPr/>
        </p:nvSpPr>
        <p:spPr>
          <a:xfrm>
            <a:off x="1325880" y="3566160"/>
            <a:ext cx="10149840" cy="3200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Temporal signal beyond 30/90d windows</a:t>
            </a:r>
            <a:endParaRPr lang="en-US" sz="1500" dirty="0"/>
          </a:p>
        </p:txBody>
      </p:sp>
      <p:sp>
        <p:nvSpPr>
          <p:cNvPr id="20" name="Text 18"/>
          <p:cNvSpPr/>
          <p:nvPr/>
        </p:nvSpPr>
        <p:spPr>
          <a:xfrm>
            <a:off x="1325880" y="3867912"/>
            <a:ext cx="1014984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Cannot ask 'transactions in the last 14 days' — only the windows we pre-compute.</a:t>
            </a:r>
            <a:endParaRPr lang="en-US" sz="1200" dirty="0"/>
          </a:p>
        </p:txBody>
      </p:sp>
      <p:sp>
        <p:nvSpPr>
          <p:cNvPr id="21" name="Shape 19"/>
          <p:cNvSpPr/>
          <p:nvPr/>
        </p:nvSpPr>
        <p:spPr>
          <a:xfrm>
            <a:off x="548640" y="4343400"/>
            <a:ext cx="11064240" cy="777240"/>
          </a:xfrm>
          <a:prstGeom prst="rect">
            <a:avLst/>
          </a:prstGeom>
          <a:solidFill>
            <a:srgbClr val="F8FAFC"/>
          </a:solidFill>
          <a:ln w="12700">
            <a:solidFill>
              <a:srgbClr val="E2E8F0"/>
            </a:solidFill>
            <a:prstDash val="solid"/>
          </a:ln>
        </p:spPr>
      </p:sp>
      <p:sp>
        <p:nvSpPr>
          <p:cNvPr id="22" name="Shape 20"/>
          <p:cNvSpPr/>
          <p:nvPr/>
        </p:nvSpPr>
        <p:spPr>
          <a:xfrm>
            <a:off x="731520" y="4526280"/>
            <a:ext cx="411480" cy="411480"/>
          </a:xfrm>
          <a:prstGeom prst="ellipse">
            <a:avLst/>
          </a:prstGeom>
          <a:solidFill>
            <a:srgbClr val="DC2626"/>
          </a:solidFill>
          <a:ln w="12700">
            <a:solidFill>
              <a:srgbClr val="DC2626"/>
            </a:solidFill>
            <a:prstDash val="solid"/>
          </a:ln>
        </p:spPr>
      </p:sp>
      <p:sp>
        <p:nvSpPr>
          <p:cNvPr id="23" name="Text 21"/>
          <p:cNvSpPr/>
          <p:nvPr/>
        </p:nvSpPr>
        <p:spPr>
          <a:xfrm>
            <a:off x="731520" y="452628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4" name="Text 22"/>
          <p:cNvSpPr/>
          <p:nvPr/>
        </p:nvSpPr>
        <p:spPr>
          <a:xfrm>
            <a:off x="1325880" y="4434840"/>
            <a:ext cx="10149840" cy="3200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Disputed / refunded transaction flags</a:t>
            </a:r>
            <a:endParaRPr lang="en-US" sz="1500" dirty="0"/>
          </a:p>
        </p:txBody>
      </p:sp>
      <p:sp>
        <p:nvSpPr>
          <p:cNvPr id="25" name="Text 23"/>
          <p:cNvSpPr/>
          <p:nvPr/>
        </p:nvSpPr>
        <p:spPr>
          <a:xfrm>
            <a:off x="1325880" y="4736592"/>
            <a:ext cx="1014984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Visible in Snowflake today. Invisible to AEP.</a:t>
            </a:r>
            <a:endParaRPr lang="en-US" sz="1200" dirty="0"/>
          </a:p>
        </p:txBody>
      </p:sp>
      <p:sp>
        <p:nvSpPr>
          <p:cNvPr id="26" name="Shape 24"/>
          <p:cNvSpPr/>
          <p:nvPr/>
        </p:nvSpPr>
        <p:spPr>
          <a:xfrm>
            <a:off x="548640" y="5212080"/>
            <a:ext cx="11064240" cy="777240"/>
          </a:xfrm>
          <a:prstGeom prst="rect">
            <a:avLst/>
          </a:prstGeom>
          <a:solidFill>
            <a:srgbClr val="F8FAFC"/>
          </a:solidFill>
          <a:ln w="12700">
            <a:solidFill>
              <a:srgbClr val="E2E8F0"/>
            </a:solidFill>
            <a:prstDash val="solid"/>
          </a:ln>
        </p:spPr>
      </p:sp>
      <p:sp>
        <p:nvSpPr>
          <p:cNvPr id="27" name="Shape 25"/>
          <p:cNvSpPr/>
          <p:nvPr/>
        </p:nvSpPr>
        <p:spPr>
          <a:xfrm>
            <a:off x="731520" y="5394960"/>
            <a:ext cx="411480" cy="411480"/>
          </a:xfrm>
          <a:prstGeom prst="ellipse">
            <a:avLst/>
          </a:prstGeom>
          <a:solidFill>
            <a:srgbClr val="DC2626"/>
          </a:solidFill>
          <a:ln w="12700">
            <a:solidFill>
              <a:srgbClr val="DC2626"/>
            </a:solidFill>
            <a:prstDash val="solid"/>
          </a:ln>
        </p:spPr>
      </p:sp>
      <p:sp>
        <p:nvSpPr>
          <p:cNvPr id="28" name="Text 26"/>
          <p:cNvSpPr/>
          <p:nvPr/>
        </p:nvSpPr>
        <p:spPr>
          <a:xfrm>
            <a:off x="731520" y="539496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9" name="Text 27"/>
          <p:cNvSpPr/>
          <p:nvPr/>
        </p:nvSpPr>
        <p:spPr>
          <a:xfrm>
            <a:off x="1325880" y="5303520"/>
            <a:ext cx="10149840" cy="3200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Cross-account rollup signal</a:t>
            </a:r>
            <a:endParaRPr lang="en-US" sz="1500" dirty="0"/>
          </a:p>
        </p:txBody>
      </p:sp>
      <p:sp>
        <p:nvSpPr>
          <p:cNvPr id="30" name="Text 28"/>
          <p:cNvSpPr/>
          <p:nvPr/>
        </p:nvSpPr>
        <p:spPr>
          <a:xfrm>
            <a:off x="1325880" y="5605272"/>
            <a:ext cx="1014984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Features are per-card, not per-customer. Marketing gets a fragmented view of multi-card customers.</a:t>
            </a:r>
            <a:endParaRPr lang="en-US" sz="1200" dirty="0"/>
          </a:p>
        </p:txBody>
      </p:sp>
      <p:sp>
        <p:nvSpPr>
          <p:cNvPr id="31" name="Shape 29"/>
          <p:cNvSpPr/>
          <p:nvPr/>
        </p:nvSpPr>
        <p:spPr>
          <a:xfrm>
            <a:off x="548640" y="6446520"/>
            <a:ext cx="11064240" cy="0"/>
          </a:xfrm>
          <a:prstGeom prst="line">
            <a:avLst/>
          </a:prstGeom>
          <a:noFill/>
          <a:ln w="9525">
            <a:solidFill>
              <a:srgbClr val="E2E8F0"/>
            </a:solidFill>
            <a:prstDash val="solid"/>
          </a:ln>
        </p:spPr>
      </p:sp>
      <p:sp>
        <p:nvSpPr>
          <p:cNvPr id="32" name="Text 30"/>
          <p:cNvSpPr/>
          <p:nvPr/>
        </p:nvSpPr>
        <p:spPr>
          <a:xfrm>
            <a:off x="548640" y="6537960"/>
            <a:ext cx="4572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Enterprise Data Platform</a:t>
            </a:r>
            <a:endParaRPr lang="en-US" sz="900" dirty="0"/>
          </a:p>
        </p:txBody>
      </p:sp>
      <p:sp>
        <p:nvSpPr>
          <p:cNvPr id="33" name="Text 31"/>
          <p:cNvSpPr/>
          <p:nvPr/>
        </p:nvSpPr>
        <p:spPr>
          <a:xfrm>
            <a:off x="5120640" y="6537960"/>
            <a:ext cx="5486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Flywheel — Current State &amp; Options · v1 · April 8, 2026</a:t>
            </a:r>
            <a:endParaRPr lang="en-US" sz="900" dirty="0"/>
          </a:p>
        </p:txBody>
      </p:sp>
      <p:sp>
        <p:nvSpPr>
          <p:cNvPr id="34" name="Text 32"/>
          <p:cNvSpPr/>
          <p:nvPr/>
        </p:nvSpPr>
        <p:spPr>
          <a:xfrm>
            <a:off x="1133856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228600"/>
          </a:xfrm>
          <a:prstGeom prst="rect">
            <a:avLst/>
          </a:prstGeom>
          <a:solidFill>
            <a:srgbClr val="1F2937"/>
          </a:solidFill>
          <a:ln w="12700">
            <a:solidFill>
              <a:srgbClr val="1F2937"/>
            </a:solidFill>
            <a:prstDash val="solid"/>
          </a:ln>
        </p:spPr>
      </p:sp>
      <p:sp>
        <p:nvSpPr>
          <p:cNvPr id="3" name="Shape 1"/>
          <p:cNvSpPr/>
          <p:nvPr/>
        </p:nvSpPr>
        <p:spPr>
          <a:xfrm>
            <a:off x="0" y="228600"/>
            <a:ext cx="12161520" cy="36576"/>
          </a:xfrm>
          <a:prstGeom prst="rect">
            <a:avLst/>
          </a:prstGeom>
          <a:solidFill>
            <a:srgbClr val="0D9488"/>
          </a:solidFill>
          <a:ln w="12700">
            <a:solidFill>
              <a:srgbClr val="0D9488"/>
            </a:solidFill>
            <a:prstDash val="solid"/>
          </a:ln>
        </p:spPr>
      </p:sp>
      <p:sp>
        <p:nvSpPr>
          <p:cNvPr id="4" name="Text 2"/>
          <p:cNvSpPr/>
          <p:nvPr/>
        </p:nvSpPr>
        <p:spPr>
          <a:xfrm>
            <a:off x="548640" y="502920"/>
            <a:ext cx="10972800" cy="548640"/>
          </a:xfrm>
          <a:prstGeom prst="rect">
            <a:avLst/>
          </a:prstGeom>
          <a:noFill/>
          <a:ln/>
        </p:spPr>
        <p:txBody>
          <a:bodyPr wrap="square" lIns="0" tIns="0" rIns="0" bIns="0" rtlCol="0" anchor="ctr"/>
          <a:lstStyle/>
          <a:p>
            <a:pPr indent="0" marL="0">
              <a:buNone/>
            </a:pPr>
            <a:r>
              <a:rPr lang="en-US" sz="2600" b="1" dirty="0">
                <a:solidFill>
                  <a:srgbClr val="1F2937"/>
                </a:solidFill>
                <a:latin typeface="Calibri" pitchFamily="34" charset="0"/>
                <a:ea typeface="Calibri" pitchFamily="34" charset="-122"/>
                <a:cs typeface="Calibri" pitchFamily="34" charset="-120"/>
              </a:rPr>
              <a:t>Three options for closing the gap</a:t>
            </a:r>
            <a:endParaRPr lang="en-US" sz="2600" dirty="0"/>
          </a:p>
        </p:txBody>
      </p:sp>
      <p:sp>
        <p:nvSpPr>
          <p:cNvPr id="5" name="Shape 3"/>
          <p:cNvSpPr/>
          <p:nvPr/>
        </p:nvSpPr>
        <p:spPr>
          <a:xfrm>
            <a:off x="548640" y="1097280"/>
            <a:ext cx="457200" cy="45720"/>
          </a:xfrm>
          <a:prstGeom prst="rect">
            <a:avLst/>
          </a:prstGeom>
          <a:solidFill>
            <a:srgbClr val="0D9488"/>
          </a:solidFill>
          <a:ln w="12700">
            <a:solidFill>
              <a:srgbClr val="0D9488"/>
            </a:solidFill>
            <a:prstDash val="solid"/>
          </a:ln>
        </p:spPr>
      </p:sp>
      <p:sp>
        <p:nvSpPr>
          <p:cNvPr id="6" name="Shape 4"/>
          <p:cNvSpPr/>
          <p:nvPr/>
        </p:nvSpPr>
        <p:spPr>
          <a:xfrm>
            <a:off x="548640" y="1737360"/>
            <a:ext cx="3566160" cy="4389120"/>
          </a:xfrm>
          <a:prstGeom prst="rect">
            <a:avLst/>
          </a:prstGeom>
          <a:solidFill>
            <a:srgbClr val="FFFFFF"/>
          </a:solidFill>
          <a:ln w="12700">
            <a:solidFill>
              <a:srgbClr val="E2E8F0"/>
            </a:solidFill>
            <a:prstDash val="solid"/>
          </a:ln>
        </p:spPr>
      </p:sp>
      <p:sp>
        <p:nvSpPr>
          <p:cNvPr id="7" name="Text 5"/>
          <p:cNvSpPr/>
          <p:nvPr/>
        </p:nvSpPr>
        <p:spPr>
          <a:xfrm>
            <a:off x="777240" y="1828800"/>
            <a:ext cx="3108960" cy="320040"/>
          </a:xfrm>
          <a:prstGeom prst="rect">
            <a:avLst/>
          </a:prstGeom>
          <a:noFill/>
          <a:ln/>
        </p:spPr>
        <p:txBody>
          <a:bodyPr wrap="square" lIns="0" tIns="0" rIns="0" bIns="0" rtlCol="0" anchor="ctr"/>
          <a:lstStyle/>
          <a:p>
            <a:pPr indent="0" marL="0">
              <a:buNone/>
            </a:pPr>
            <a:r>
              <a:rPr lang="en-US" sz="1100" b="1" spc="400" kern="0" dirty="0">
                <a:solidFill>
                  <a:srgbClr val="6B7280"/>
                </a:solidFill>
                <a:latin typeface="Calibri" pitchFamily="34" charset="0"/>
                <a:ea typeface="Calibri" pitchFamily="34" charset="-122"/>
                <a:cs typeface="Calibri" pitchFamily="34" charset="-120"/>
              </a:rPr>
              <a:t>OPTION A</a:t>
            </a:r>
            <a:endParaRPr lang="en-US" sz="1100" dirty="0"/>
          </a:p>
        </p:txBody>
      </p:sp>
      <p:sp>
        <p:nvSpPr>
          <p:cNvPr id="8" name="Text 6"/>
          <p:cNvSpPr/>
          <p:nvPr/>
        </p:nvSpPr>
        <p:spPr>
          <a:xfrm>
            <a:off x="777240" y="2148840"/>
            <a:ext cx="3108960" cy="640080"/>
          </a:xfrm>
          <a:prstGeom prst="rect">
            <a:avLst/>
          </a:prstGeom>
          <a:noFill/>
          <a:ln/>
        </p:spPr>
        <p:txBody>
          <a:bodyPr wrap="square" lIns="0" tIns="0" rIns="0" bIns="0"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Expanded feature push</a:t>
            </a:r>
            <a:endParaRPr lang="en-US" sz="1800" dirty="0"/>
          </a:p>
        </p:txBody>
      </p:sp>
      <p:sp>
        <p:nvSpPr>
          <p:cNvPr id="9" name="Shape 7"/>
          <p:cNvSpPr/>
          <p:nvPr/>
        </p:nvSpPr>
        <p:spPr>
          <a:xfrm>
            <a:off x="777240" y="2880360"/>
            <a:ext cx="457200" cy="0"/>
          </a:xfrm>
          <a:prstGeom prst="line">
            <a:avLst/>
          </a:prstGeom>
          <a:noFill/>
          <a:ln w="19050">
            <a:solidFill>
              <a:srgbClr val="0D9488"/>
            </a:solidFill>
            <a:prstDash val="solid"/>
          </a:ln>
        </p:spPr>
      </p:sp>
      <p:sp>
        <p:nvSpPr>
          <p:cNvPr id="10" name="Text 8"/>
          <p:cNvSpPr/>
          <p:nvPr/>
        </p:nvSpPr>
        <p:spPr>
          <a:xfrm>
            <a:off x="777240" y="2971800"/>
            <a:ext cx="3108960" cy="457200"/>
          </a:xfrm>
          <a:prstGeom prst="rect">
            <a:avLst/>
          </a:prstGeom>
          <a:noFill/>
          <a:ln/>
        </p:spPr>
        <p:txBody>
          <a:bodyPr wrap="square" lIns="0" tIns="0" rIns="0" bIns="0" rtlCol="0" anchor="ctr"/>
          <a:lstStyle/>
          <a:p>
            <a:pPr indent="0" marL="0">
              <a:buNone/>
            </a:pPr>
            <a:r>
              <a:rPr lang="en-US" sz="1200" b="1" i="1" dirty="0">
                <a:solidFill>
                  <a:srgbClr val="0D9488"/>
                </a:solidFill>
                <a:latin typeface="Calibri" pitchFamily="34" charset="0"/>
                <a:ea typeface="Calibri" pitchFamily="34" charset="-122"/>
                <a:cs typeface="Calibri" pitchFamily="34" charset="-120"/>
              </a:rPr>
              <a:t>More of what we already do</a:t>
            </a:r>
            <a:endParaRPr lang="en-US" sz="1200" dirty="0"/>
          </a:p>
        </p:txBody>
      </p:sp>
      <p:sp>
        <p:nvSpPr>
          <p:cNvPr id="11" name="Text 9"/>
          <p:cNvSpPr/>
          <p:nvPr/>
        </p:nvSpPr>
        <p:spPr>
          <a:xfrm>
            <a:off x="777240" y="3474720"/>
            <a:ext cx="3108960" cy="22860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Scale Snowflake feature set, push more features to AEP on the same daily cadence.</a:t>
            </a:r>
            <a:endParaRPr lang="en-US" sz="1200" dirty="0"/>
          </a:p>
        </p:txBody>
      </p:sp>
      <p:sp>
        <p:nvSpPr>
          <p:cNvPr id="12" name="Shape 10"/>
          <p:cNvSpPr/>
          <p:nvPr/>
        </p:nvSpPr>
        <p:spPr>
          <a:xfrm>
            <a:off x="4297680" y="1737360"/>
            <a:ext cx="3566160" cy="4389120"/>
          </a:xfrm>
          <a:prstGeom prst="rect">
            <a:avLst/>
          </a:prstGeom>
          <a:solidFill>
            <a:srgbClr val="FFFFFF"/>
          </a:solidFill>
          <a:ln w="31750">
            <a:solidFill>
              <a:srgbClr val="0D9488"/>
            </a:solidFill>
            <a:prstDash val="solid"/>
          </a:ln>
        </p:spPr>
      </p:sp>
      <p:sp>
        <p:nvSpPr>
          <p:cNvPr id="13" name="Shape 11"/>
          <p:cNvSpPr/>
          <p:nvPr/>
        </p:nvSpPr>
        <p:spPr>
          <a:xfrm>
            <a:off x="4297680" y="1737360"/>
            <a:ext cx="3566160" cy="411480"/>
          </a:xfrm>
          <a:prstGeom prst="rect">
            <a:avLst/>
          </a:prstGeom>
          <a:solidFill>
            <a:srgbClr val="0D9488"/>
          </a:solidFill>
          <a:ln w="12700">
            <a:solidFill>
              <a:srgbClr val="0D9488"/>
            </a:solidFill>
            <a:prstDash val="solid"/>
          </a:ln>
        </p:spPr>
      </p:sp>
      <p:sp>
        <p:nvSpPr>
          <p:cNvPr id="14" name="Text 12"/>
          <p:cNvSpPr/>
          <p:nvPr/>
        </p:nvSpPr>
        <p:spPr>
          <a:xfrm>
            <a:off x="4480560" y="1737360"/>
            <a:ext cx="3200400" cy="411480"/>
          </a:xfrm>
          <a:prstGeom prst="rect">
            <a:avLst/>
          </a:prstGeom>
          <a:noFill/>
          <a:ln/>
        </p:spPr>
        <p:txBody>
          <a:bodyPr wrap="square" lIns="0" tIns="0" rIns="0" bIns="0" rtlCol="0" anchor="ctr"/>
          <a:lstStyle/>
          <a:p>
            <a:pPr indent="0" marL="0">
              <a:buNone/>
            </a:pPr>
            <a:r>
              <a:rPr lang="en-US" sz="1000" b="1" spc="400" kern="0" dirty="0">
                <a:solidFill>
                  <a:srgbClr val="FFFFFF"/>
                </a:solidFill>
                <a:latin typeface="Calibri" pitchFamily="34" charset="0"/>
                <a:ea typeface="Calibri" pitchFamily="34" charset="-122"/>
                <a:cs typeface="Calibri" pitchFamily="34" charset="-120"/>
              </a:rPr>
              <a:t>RECOMMENDED</a:t>
            </a:r>
            <a:endParaRPr lang="en-US" sz="1000" dirty="0"/>
          </a:p>
        </p:txBody>
      </p:sp>
      <p:sp>
        <p:nvSpPr>
          <p:cNvPr id="15" name="Text 13"/>
          <p:cNvSpPr/>
          <p:nvPr/>
        </p:nvSpPr>
        <p:spPr>
          <a:xfrm>
            <a:off x="4526280" y="2286000"/>
            <a:ext cx="3108960" cy="320040"/>
          </a:xfrm>
          <a:prstGeom prst="rect">
            <a:avLst/>
          </a:prstGeom>
          <a:noFill/>
          <a:ln/>
        </p:spPr>
        <p:txBody>
          <a:bodyPr wrap="square" lIns="0" tIns="0" rIns="0" bIns="0" rtlCol="0" anchor="ctr"/>
          <a:lstStyle/>
          <a:p>
            <a:pPr indent="0" marL="0">
              <a:buNone/>
            </a:pPr>
            <a:r>
              <a:rPr lang="en-US" sz="1100" b="1" spc="400" kern="0" dirty="0">
                <a:solidFill>
                  <a:srgbClr val="6B7280"/>
                </a:solidFill>
                <a:latin typeface="Calibri" pitchFamily="34" charset="0"/>
                <a:ea typeface="Calibri" pitchFamily="34" charset="-122"/>
                <a:cs typeface="Calibri" pitchFamily="34" charset="-120"/>
              </a:rPr>
              <a:t>OPTION B</a:t>
            </a:r>
            <a:endParaRPr lang="en-US" sz="1100" dirty="0"/>
          </a:p>
        </p:txBody>
      </p:sp>
      <p:sp>
        <p:nvSpPr>
          <p:cNvPr id="16" name="Text 14"/>
          <p:cNvSpPr/>
          <p:nvPr/>
        </p:nvSpPr>
        <p:spPr>
          <a:xfrm>
            <a:off x="4526280" y="2606040"/>
            <a:ext cx="3108960" cy="640080"/>
          </a:xfrm>
          <a:prstGeom prst="rect">
            <a:avLst/>
          </a:prstGeom>
          <a:noFill/>
          <a:ln/>
        </p:spPr>
        <p:txBody>
          <a:bodyPr wrap="square" lIns="0" tIns="0" rIns="0" bIns="0"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Raw-ish txn events in AEP</a:t>
            </a:r>
            <a:endParaRPr lang="en-US" sz="1800" dirty="0"/>
          </a:p>
        </p:txBody>
      </p:sp>
      <p:sp>
        <p:nvSpPr>
          <p:cNvPr id="17" name="Shape 15"/>
          <p:cNvSpPr/>
          <p:nvPr/>
        </p:nvSpPr>
        <p:spPr>
          <a:xfrm>
            <a:off x="4526280" y="3337560"/>
            <a:ext cx="457200" cy="0"/>
          </a:xfrm>
          <a:prstGeom prst="line">
            <a:avLst/>
          </a:prstGeom>
          <a:noFill/>
          <a:ln w="19050">
            <a:solidFill>
              <a:srgbClr val="0D9488"/>
            </a:solidFill>
            <a:prstDash val="solid"/>
          </a:ln>
        </p:spPr>
      </p:sp>
      <p:sp>
        <p:nvSpPr>
          <p:cNvPr id="18" name="Text 16"/>
          <p:cNvSpPr/>
          <p:nvPr/>
        </p:nvSpPr>
        <p:spPr>
          <a:xfrm>
            <a:off x="4526280" y="3429000"/>
            <a:ext cx="3108960" cy="457200"/>
          </a:xfrm>
          <a:prstGeom prst="rect">
            <a:avLst/>
          </a:prstGeom>
          <a:noFill/>
          <a:ln/>
        </p:spPr>
        <p:txBody>
          <a:bodyPr wrap="square" lIns="0" tIns="0" rIns="0" bIns="0" rtlCol="0" anchor="ctr"/>
          <a:lstStyle/>
          <a:p>
            <a:pPr indent="0" marL="0">
              <a:buNone/>
            </a:pPr>
            <a:r>
              <a:rPr lang="en-US" sz="1200" b="1" i="1" dirty="0">
                <a:solidFill>
                  <a:srgbClr val="0D9488"/>
                </a:solidFill>
                <a:latin typeface="Calibri" pitchFamily="34" charset="0"/>
                <a:ea typeface="Calibri" pitchFamily="34" charset="-122"/>
                <a:cs typeface="Calibri" pitchFamily="34" charset="-120"/>
              </a:rPr>
              <a:t>Put event data in AEP + split feature authoring</a:t>
            </a:r>
            <a:endParaRPr lang="en-US" sz="1200" dirty="0"/>
          </a:p>
        </p:txBody>
      </p:sp>
      <p:sp>
        <p:nvSpPr>
          <p:cNvPr id="19" name="Text 17"/>
          <p:cNvSpPr/>
          <p:nvPr/>
        </p:nvSpPr>
        <p:spPr>
          <a:xfrm>
            <a:off x="4526280" y="3931920"/>
            <a:ext cx="3108960" cy="22860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Daily batch of trimmed transaction events into AEP; feature authoring split between AEP and Snowflake.</a:t>
            </a:r>
            <a:endParaRPr lang="en-US" sz="1200" dirty="0"/>
          </a:p>
        </p:txBody>
      </p:sp>
      <p:sp>
        <p:nvSpPr>
          <p:cNvPr id="20" name="Shape 18"/>
          <p:cNvSpPr/>
          <p:nvPr/>
        </p:nvSpPr>
        <p:spPr>
          <a:xfrm>
            <a:off x="8046720" y="1737360"/>
            <a:ext cx="3566160" cy="4389120"/>
          </a:xfrm>
          <a:prstGeom prst="rect">
            <a:avLst/>
          </a:prstGeom>
          <a:solidFill>
            <a:srgbClr val="FFFFFF"/>
          </a:solidFill>
          <a:ln w="12700">
            <a:solidFill>
              <a:srgbClr val="E2E8F0"/>
            </a:solidFill>
            <a:prstDash val="solid"/>
          </a:ln>
        </p:spPr>
      </p:sp>
      <p:sp>
        <p:nvSpPr>
          <p:cNvPr id="21" name="Text 19"/>
          <p:cNvSpPr/>
          <p:nvPr/>
        </p:nvSpPr>
        <p:spPr>
          <a:xfrm>
            <a:off x="8275320" y="1828800"/>
            <a:ext cx="3108960" cy="320040"/>
          </a:xfrm>
          <a:prstGeom prst="rect">
            <a:avLst/>
          </a:prstGeom>
          <a:noFill/>
          <a:ln/>
        </p:spPr>
        <p:txBody>
          <a:bodyPr wrap="square" lIns="0" tIns="0" rIns="0" bIns="0" rtlCol="0" anchor="ctr"/>
          <a:lstStyle/>
          <a:p>
            <a:pPr indent="0" marL="0">
              <a:buNone/>
            </a:pPr>
            <a:r>
              <a:rPr lang="en-US" sz="1100" b="1" spc="400" kern="0" dirty="0">
                <a:solidFill>
                  <a:srgbClr val="6B7280"/>
                </a:solidFill>
                <a:latin typeface="Calibri" pitchFamily="34" charset="0"/>
                <a:ea typeface="Calibri" pitchFamily="34" charset="-122"/>
                <a:cs typeface="Calibri" pitchFamily="34" charset="-120"/>
              </a:rPr>
              <a:t>OPTION C</a:t>
            </a:r>
            <a:endParaRPr lang="en-US" sz="1100" dirty="0"/>
          </a:p>
        </p:txBody>
      </p:sp>
      <p:sp>
        <p:nvSpPr>
          <p:cNvPr id="22" name="Text 20"/>
          <p:cNvSpPr/>
          <p:nvPr/>
        </p:nvSpPr>
        <p:spPr>
          <a:xfrm>
            <a:off x="8275320" y="2148840"/>
            <a:ext cx="3108960" cy="640080"/>
          </a:xfrm>
          <a:prstGeom prst="rect">
            <a:avLst/>
          </a:prstGeom>
          <a:noFill/>
          <a:ln/>
        </p:spPr>
        <p:txBody>
          <a:bodyPr wrap="square" lIns="0" tIns="0" rIns="0" bIns="0"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Streaming txns into AEP</a:t>
            </a:r>
            <a:endParaRPr lang="en-US" sz="1800" dirty="0"/>
          </a:p>
        </p:txBody>
      </p:sp>
      <p:sp>
        <p:nvSpPr>
          <p:cNvPr id="23" name="Shape 21"/>
          <p:cNvSpPr/>
          <p:nvPr/>
        </p:nvSpPr>
        <p:spPr>
          <a:xfrm>
            <a:off x="8275320" y="2880360"/>
            <a:ext cx="457200" cy="0"/>
          </a:xfrm>
          <a:prstGeom prst="line">
            <a:avLst/>
          </a:prstGeom>
          <a:noFill/>
          <a:ln w="19050">
            <a:solidFill>
              <a:srgbClr val="0D9488"/>
            </a:solidFill>
            <a:prstDash val="solid"/>
          </a:ln>
        </p:spPr>
      </p:sp>
      <p:sp>
        <p:nvSpPr>
          <p:cNvPr id="24" name="Text 22"/>
          <p:cNvSpPr/>
          <p:nvPr/>
        </p:nvSpPr>
        <p:spPr>
          <a:xfrm>
            <a:off x="8275320" y="2971800"/>
            <a:ext cx="3108960" cy="457200"/>
          </a:xfrm>
          <a:prstGeom prst="rect">
            <a:avLst/>
          </a:prstGeom>
          <a:noFill/>
          <a:ln/>
        </p:spPr>
        <p:txBody>
          <a:bodyPr wrap="square" lIns="0" tIns="0" rIns="0" bIns="0" rtlCol="0" anchor="ctr"/>
          <a:lstStyle/>
          <a:p>
            <a:pPr indent="0" marL="0">
              <a:buNone/>
            </a:pPr>
            <a:r>
              <a:rPr lang="en-US" sz="1200" b="1" i="1" dirty="0">
                <a:solidFill>
                  <a:srgbClr val="0D9488"/>
                </a:solidFill>
                <a:latin typeface="Calibri" pitchFamily="34" charset="0"/>
                <a:ea typeface="Calibri" pitchFamily="34" charset="-122"/>
                <a:cs typeface="Calibri" pitchFamily="34" charset="-120"/>
              </a:rPr>
              <a:t>Full replatform, event data live</a:t>
            </a:r>
            <a:endParaRPr lang="en-US" sz="1200" dirty="0"/>
          </a:p>
        </p:txBody>
      </p:sp>
      <p:sp>
        <p:nvSpPr>
          <p:cNvPr id="25" name="Text 23"/>
          <p:cNvSpPr/>
          <p:nvPr/>
        </p:nvSpPr>
        <p:spPr>
          <a:xfrm>
            <a:off x="8275320" y="3474720"/>
            <a:ext cx="3108960" cy="22860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Near-real-time streaming ingestion. Lambda architecture. Meaningful operational lift.</a:t>
            </a:r>
            <a:endParaRPr lang="en-US" sz="1200" dirty="0"/>
          </a:p>
        </p:txBody>
      </p:sp>
      <p:sp>
        <p:nvSpPr>
          <p:cNvPr id="26" name="Shape 24"/>
          <p:cNvSpPr/>
          <p:nvPr/>
        </p:nvSpPr>
        <p:spPr>
          <a:xfrm>
            <a:off x="548640" y="6446520"/>
            <a:ext cx="11064240" cy="0"/>
          </a:xfrm>
          <a:prstGeom prst="line">
            <a:avLst/>
          </a:prstGeom>
          <a:noFill/>
          <a:ln w="9525">
            <a:solidFill>
              <a:srgbClr val="E2E8F0"/>
            </a:solidFill>
            <a:prstDash val="solid"/>
          </a:ln>
        </p:spPr>
      </p:sp>
      <p:sp>
        <p:nvSpPr>
          <p:cNvPr id="27" name="Text 25"/>
          <p:cNvSpPr/>
          <p:nvPr/>
        </p:nvSpPr>
        <p:spPr>
          <a:xfrm>
            <a:off x="548640" y="6537960"/>
            <a:ext cx="4572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Enterprise Data Platform</a:t>
            </a:r>
            <a:endParaRPr lang="en-US" sz="900" dirty="0"/>
          </a:p>
        </p:txBody>
      </p:sp>
      <p:sp>
        <p:nvSpPr>
          <p:cNvPr id="28" name="Text 26"/>
          <p:cNvSpPr/>
          <p:nvPr/>
        </p:nvSpPr>
        <p:spPr>
          <a:xfrm>
            <a:off x="5120640" y="6537960"/>
            <a:ext cx="5486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Flywheel — Current State &amp; Options · v1 · April 8, 2026</a:t>
            </a:r>
            <a:endParaRPr lang="en-US" sz="900" dirty="0"/>
          </a:p>
        </p:txBody>
      </p:sp>
      <p:sp>
        <p:nvSpPr>
          <p:cNvPr id="29" name="Text 27"/>
          <p:cNvSpPr/>
          <p:nvPr/>
        </p:nvSpPr>
        <p:spPr>
          <a:xfrm>
            <a:off x="1133856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228600"/>
          </a:xfrm>
          <a:prstGeom prst="rect">
            <a:avLst/>
          </a:prstGeom>
          <a:solidFill>
            <a:srgbClr val="1F2937"/>
          </a:solidFill>
          <a:ln w="12700">
            <a:solidFill>
              <a:srgbClr val="1F2937"/>
            </a:solidFill>
            <a:prstDash val="solid"/>
          </a:ln>
        </p:spPr>
      </p:sp>
      <p:sp>
        <p:nvSpPr>
          <p:cNvPr id="3" name="Shape 1"/>
          <p:cNvSpPr/>
          <p:nvPr/>
        </p:nvSpPr>
        <p:spPr>
          <a:xfrm>
            <a:off x="0" y="228600"/>
            <a:ext cx="12161520" cy="36576"/>
          </a:xfrm>
          <a:prstGeom prst="rect">
            <a:avLst/>
          </a:prstGeom>
          <a:solidFill>
            <a:srgbClr val="0D9488"/>
          </a:solidFill>
          <a:ln w="12700">
            <a:solidFill>
              <a:srgbClr val="0D9488"/>
            </a:solidFill>
            <a:prstDash val="solid"/>
          </a:ln>
        </p:spPr>
      </p:sp>
      <p:sp>
        <p:nvSpPr>
          <p:cNvPr id="4" name="Text 2"/>
          <p:cNvSpPr/>
          <p:nvPr/>
        </p:nvSpPr>
        <p:spPr>
          <a:xfrm>
            <a:off x="548640" y="502920"/>
            <a:ext cx="10972800" cy="548640"/>
          </a:xfrm>
          <a:prstGeom prst="rect">
            <a:avLst/>
          </a:prstGeom>
          <a:noFill/>
          <a:ln/>
        </p:spPr>
        <p:txBody>
          <a:bodyPr wrap="square" lIns="0" tIns="0" rIns="0" bIns="0" rtlCol="0" anchor="ctr"/>
          <a:lstStyle/>
          <a:p>
            <a:pPr indent="0" marL="0">
              <a:buNone/>
            </a:pPr>
            <a:r>
              <a:rPr lang="en-US" sz="2600" b="1" dirty="0">
                <a:solidFill>
                  <a:srgbClr val="1F2937"/>
                </a:solidFill>
                <a:latin typeface="Calibri" pitchFamily="34" charset="0"/>
                <a:ea typeface="Calibri" pitchFamily="34" charset="-122"/>
                <a:cs typeface="Calibri" pitchFamily="34" charset="-120"/>
              </a:rPr>
              <a:t>Option A — Expanded feature push</a:t>
            </a:r>
            <a:endParaRPr lang="en-US" sz="2600" dirty="0"/>
          </a:p>
        </p:txBody>
      </p:sp>
      <p:sp>
        <p:nvSpPr>
          <p:cNvPr id="5" name="Text 3"/>
          <p:cNvSpPr/>
          <p:nvPr/>
        </p:nvSpPr>
        <p:spPr>
          <a:xfrm>
            <a:off x="548640" y="1051560"/>
            <a:ext cx="1097280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Scale the current pattern: more Snowflake features, same daily push to AEP.</a:t>
            </a:r>
            <a:endParaRPr lang="en-US" sz="1300" dirty="0"/>
          </a:p>
        </p:txBody>
      </p:sp>
      <p:sp>
        <p:nvSpPr>
          <p:cNvPr id="6" name="Shape 4"/>
          <p:cNvSpPr/>
          <p:nvPr/>
        </p:nvSpPr>
        <p:spPr>
          <a:xfrm>
            <a:off x="548640" y="1417320"/>
            <a:ext cx="457200" cy="45720"/>
          </a:xfrm>
          <a:prstGeom prst="rect">
            <a:avLst/>
          </a:prstGeom>
          <a:solidFill>
            <a:srgbClr val="0D9488"/>
          </a:solidFill>
          <a:ln w="12700">
            <a:solidFill>
              <a:srgbClr val="0D9488"/>
            </a:solidFill>
            <a:prstDash val="solid"/>
          </a:ln>
        </p:spPr>
      </p:sp>
      <p:sp>
        <p:nvSpPr>
          <p:cNvPr id="7" name="Text 5"/>
          <p:cNvSpPr/>
          <p:nvPr/>
        </p:nvSpPr>
        <p:spPr>
          <a:xfrm>
            <a:off x="548640" y="1828800"/>
            <a:ext cx="5486400" cy="274320"/>
          </a:xfrm>
          <a:prstGeom prst="rect">
            <a:avLst/>
          </a:prstGeom>
          <a:noFill/>
          <a:ln/>
        </p:spPr>
        <p:txBody>
          <a:bodyPr wrap="square" lIns="0" tIns="0" rIns="0" bIns="0" rtlCol="0" anchor="ctr"/>
          <a:lstStyle/>
          <a:p>
            <a:pPr indent="0" marL="0">
              <a:buNone/>
            </a:pPr>
            <a:r>
              <a:rPr lang="en-US" sz="1000" b="1" spc="300" kern="0" dirty="0">
                <a:solidFill>
                  <a:srgbClr val="6B7280"/>
                </a:solidFill>
                <a:latin typeface="Calibri" pitchFamily="34" charset="0"/>
                <a:ea typeface="Calibri" pitchFamily="34" charset="-122"/>
                <a:cs typeface="Calibri" pitchFamily="34" charset="-120"/>
              </a:rPr>
              <a:t>WHAT CHANGES</a:t>
            </a:r>
            <a:endParaRPr lang="en-US" sz="1000" dirty="0"/>
          </a:p>
        </p:txBody>
      </p:sp>
      <p:sp>
        <p:nvSpPr>
          <p:cNvPr id="8" name="Text 6"/>
          <p:cNvSpPr/>
          <p:nvPr/>
        </p:nvSpPr>
        <p:spPr>
          <a:xfrm>
            <a:off x="548640" y="2148840"/>
            <a:ext cx="5486400" cy="182880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Scale Snowflake feature table from 42 cols to ~120 cols</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Push full feature set to AEP on the same daily cadence</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New features added by Data Eng, target 2-week cycle time</a:t>
            </a:r>
            <a:endParaRPr lang="en-US" sz="1300" dirty="0"/>
          </a:p>
        </p:txBody>
      </p:sp>
      <p:sp>
        <p:nvSpPr>
          <p:cNvPr id="9" name="Shape 7"/>
          <p:cNvSpPr/>
          <p:nvPr/>
        </p:nvSpPr>
        <p:spPr>
          <a:xfrm>
            <a:off x="548640" y="4160520"/>
            <a:ext cx="3520440" cy="2103120"/>
          </a:xfrm>
          <a:prstGeom prst="rect">
            <a:avLst/>
          </a:prstGeom>
          <a:solidFill>
            <a:srgbClr val="F0FDF4"/>
          </a:solidFill>
          <a:ln w="12700">
            <a:solidFill>
              <a:srgbClr val="059669"/>
            </a:solidFill>
            <a:prstDash val="solid"/>
          </a:ln>
        </p:spPr>
      </p:sp>
      <p:sp>
        <p:nvSpPr>
          <p:cNvPr id="10" name="Text 8"/>
          <p:cNvSpPr/>
          <p:nvPr/>
        </p:nvSpPr>
        <p:spPr>
          <a:xfrm>
            <a:off x="731520" y="4251960"/>
            <a:ext cx="3200400" cy="274320"/>
          </a:xfrm>
          <a:prstGeom prst="rect">
            <a:avLst/>
          </a:prstGeom>
          <a:noFill/>
          <a:ln/>
        </p:spPr>
        <p:txBody>
          <a:bodyPr wrap="square" lIns="0" tIns="0" rIns="0" bIns="0" rtlCol="0" anchor="ctr"/>
          <a:lstStyle/>
          <a:p>
            <a:pPr indent="0" marL="0">
              <a:buNone/>
            </a:pPr>
            <a:r>
              <a:rPr lang="en-US" sz="1100" b="1" spc="300" kern="0" dirty="0">
                <a:solidFill>
                  <a:srgbClr val="059669"/>
                </a:solidFill>
                <a:latin typeface="Calibri" pitchFamily="34" charset="0"/>
                <a:ea typeface="Calibri" pitchFamily="34" charset="-122"/>
                <a:cs typeface="Calibri" pitchFamily="34" charset="-120"/>
              </a:rPr>
              <a:t>PROS</a:t>
            </a:r>
            <a:endParaRPr lang="en-US" sz="1100" dirty="0"/>
          </a:p>
        </p:txBody>
      </p:sp>
      <p:sp>
        <p:nvSpPr>
          <p:cNvPr id="11" name="Text 9"/>
          <p:cNvSpPr/>
          <p:nvPr/>
        </p:nvSpPr>
        <p:spPr>
          <a:xfrm>
            <a:off x="731520" y="4572000"/>
            <a:ext cx="3246120" cy="1645920"/>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Lowest cost (~$80K/yr incremental)</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Lowest risk — we already operate this pattern</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Fastest to ship (~8 weeks)</a:t>
            </a:r>
            <a:endParaRPr lang="en-US" sz="1200" dirty="0"/>
          </a:p>
        </p:txBody>
      </p:sp>
      <p:sp>
        <p:nvSpPr>
          <p:cNvPr id="12" name="Shape 10"/>
          <p:cNvSpPr/>
          <p:nvPr/>
        </p:nvSpPr>
        <p:spPr>
          <a:xfrm>
            <a:off x="4297680" y="4160520"/>
            <a:ext cx="7315200" cy="2103120"/>
          </a:xfrm>
          <a:prstGeom prst="rect">
            <a:avLst/>
          </a:prstGeom>
          <a:solidFill>
            <a:srgbClr val="FEF2F2"/>
          </a:solidFill>
          <a:ln w="12700">
            <a:solidFill>
              <a:srgbClr val="DC2626"/>
            </a:solidFill>
            <a:prstDash val="solid"/>
          </a:ln>
        </p:spPr>
      </p:sp>
      <p:sp>
        <p:nvSpPr>
          <p:cNvPr id="13" name="Text 11"/>
          <p:cNvSpPr/>
          <p:nvPr/>
        </p:nvSpPr>
        <p:spPr>
          <a:xfrm>
            <a:off x="4480560" y="4251960"/>
            <a:ext cx="7040880" cy="274320"/>
          </a:xfrm>
          <a:prstGeom prst="rect">
            <a:avLst/>
          </a:prstGeom>
          <a:noFill/>
          <a:ln/>
        </p:spPr>
        <p:txBody>
          <a:bodyPr wrap="square" lIns="0" tIns="0" rIns="0" bIns="0" rtlCol="0" anchor="ctr"/>
          <a:lstStyle/>
          <a:p>
            <a:pPr indent="0" marL="0">
              <a:buNone/>
            </a:pPr>
            <a:r>
              <a:rPr lang="en-US" sz="1100" b="1" spc="300" kern="0" dirty="0">
                <a:solidFill>
                  <a:srgbClr val="DC2626"/>
                </a:solidFill>
                <a:latin typeface="Calibri" pitchFamily="34" charset="0"/>
                <a:ea typeface="Calibri" pitchFamily="34" charset="-122"/>
                <a:cs typeface="Calibri" pitchFamily="34" charset="-120"/>
              </a:rPr>
              <a:t>CONS</a:t>
            </a:r>
            <a:endParaRPr lang="en-US" sz="1100" dirty="0"/>
          </a:p>
        </p:txBody>
      </p:sp>
      <p:sp>
        <p:nvSpPr>
          <p:cNvPr id="14" name="Text 12"/>
          <p:cNvSpPr/>
          <p:nvPr/>
        </p:nvSpPr>
        <p:spPr>
          <a:xfrm>
            <a:off x="4480560" y="4572000"/>
            <a:ext cx="7040880" cy="1645920"/>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Does not solve the core problem — every new audience is still a Data Eng ticket</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We will be in this room again in 18 months asking for Option B</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AEP profile attribute count has a soft ceiling ~500 cols before perf degrades; 120 gets us halfway there on one domain</a:t>
            </a:r>
            <a:endParaRPr lang="en-US" sz="1200" dirty="0"/>
          </a:p>
        </p:txBody>
      </p:sp>
      <p:sp>
        <p:nvSpPr>
          <p:cNvPr id="15" name="Shape 13"/>
          <p:cNvSpPr/>
          <p:nvPr/>
        </p:nvSpPr>
        <p:spPr>
          <a:xfrm>
            <a:off x="6583680" y="1828800"/>
            <a:ext cx="5029200" cy="2194560"/>
          </a:xfrm>
          <a:prstGeom prst="rect">
            <a:avLst/>
          </a:prstGeom>
          <a:solidFill>
            <a:srgbClr val="F8FAFC"/>
          </a:solidFill>
          <a:ln w="12700">
            <a:solidFill>
              <a:srgbClr val="E2E8F0"/>
            </a:solidFill>
            <a:prstDash val="solid"/>
          </a:ln>
        </p:spPr>
      </p:sp>
      <p:sp>
        <p:nvSpPr>
          <p:cNvPr id="16" name="Text 14"/>
          <p:cNvSpPr/>
          <p:nvPr/>
        </p:nvSpPr>
        <p:spPr>
          <a:xfrm>
            <a:off x="6766560" y="1965960"/>
            <a:ext cx="4663440" cy="274320"/>
          </a:xfrm>
          <a:prstGeom prst="rect">
            <a:avLst/>
          </a:prstGeom>
          <a:noFill/>
          <a:ln/>
        </p:spPr>
        <p:txBody>
          <a:bodyPr wrap="square" lIns="0" tIns="0" rIns="0" bIns="0" rtlCol="0" anchor="ctr"/>
          <a:lstStyle/>
          <a:p>
            <a:pPr indent="0" marL="0">
              <a:buNone/>
            </a:pPr>
            <a:r>
              <a:rPr lang="en-US" sz="1000" b="1" spc="300" kern="0" dirty="0">
                <a:solidFill>
                  <a:srgbClr val="6B7280"/>
                </a:solidFill>
                <a:latin typeface="Calibri" pitchFamily="34" charset="0"/>
                <a:ea typeface="Calibri" pitchFamily="34" charset="-122"/>
                <a:cs typeface="Calibri" pitchFamily="34" charset="-120"/>
              </a:rPr>
              <a:t>INCREMENTAL ANNUAL COST</a:t>
            </a:r>
            <a:endParaRPr lang="en-US" sz="1000" dirty="0"/>
          </a:p>
        </p:txBody>
      </p:sp>
      <p:sp>
        <p:nvSpPr>
          <p:cNvPr id="17" name="Text 15"/>
          <p:cNvSpPr/>
          <p:nvPr/>
        </p:nvSpPr>
        <p:spPr>
          <a:xfrm>
            <a:off x="6766560" y="2286000"/>
            <a:ext cx="4663440" cy="914400"/>
          </a:xfrm>
          <a:prstGeom prst="rect">
            <a:avLst/>
          </a:prstGeom>
          <a:noFill/>
          <a:ln/>
        </p:spPr>
        <p:txBody>
          <a:bodyPr wrap="square" lIns="0" tIns="0" rIns="0" bIns="0" rtlCol="0" anchor="ctr"/>
          <a:lstStyle/>
          <a:p>
            <a:pPr indent="0" marL="0">
              <a:buNone/>
            </a:pPr>
            <a:r>
              <a:rPr lang="en-US" sz="5600" b="1" dirty="0">
                <a:solidFill>
                  <a:srgbClr val="1F2937"/>
                </a:solidFill>
                <a:latin typeface="Calibri" pitchFamily="34" charset="0"/>
                <a:ea typeface="Calibri" pitchFamily="34" charset="-122"/>
                <a:cs typeface="Calibri" pitchFamily="34" charset="-120"/>
              </a:rPr>
              <a:t>~$80K</a:t>
            </a:r>
            <a:endParaRPr lang="en-US" sz="5600" dirty="0"/>
          </a:p>
        </p:txBody>
      </p:sp>
      <p:sp>
        <p:nvSpPr>
          <p:cNvPr id="18" name="Text 16"/>
          <p:cNvSpPr/>
          <p:nvPr/>
        </p:nvSpPr>
        <p:spPr>
          <a:xfrm>
            <a:off x="6766560" y="3200400"/>
            <a:ext cx="4663440" cy="274320"/>
          </a:xfrm>
          <a:prstGeom prst="rect">
            <a:avLst/>
          </a:prstGeom>
          <a:noFill/>
          <a:ln/>
        </p:spPr>
        <p:txBody>
          <a:bodyPr wrap="square" lIns="0" tIns="0" rIns="0" bIns="0" rtlCol="0" anchor="ctr"/>
          <a:lstStyle/>
          <a:p>
            <a:pPr indent="0" marL="0">
              <a:buNone/>
            </a:pPr>
            <a:r>
              <a:rPr lang="en-US" sz="1000" b="1" spc="300" kern="0" dirty="0">
                <a:solidFill>
                  <a:srgbClr val="6B7280"/>
                </a:solidFill>
                <a:latin typeface="Calibri" pitchFamily="34" charset="0"/>
                <a:ea typeface="Calibri" pitchFamily="34" charset="-122"/>
                <a:cs typeface="Calibri" pitchFamily="34" charset="-120"/>
              </a:rPr>
              <a:t>BUILD TIME</a:t>
            </a:r>
            <a:endParaRPr lang="en-US" sz="1000" dirty="0"/>
          </a:p>
        </p:txBody>
      </p:sp>
      <p:sp>
        <p:nvSpPr>
          <p:cNvPr id="19" name="Text 17"/>
          <p:cNvSpPr/>
          <p:nvPr/>
        </p:nvSpPr>
        <p:spPr>
          <a:xfrm>
            <a:off x="6766560" y="3474720"/>
            <a:ext cx="4663440" cy="457200"/>
          </a:xfrm>
          <a:prstGeom prst="rect">
            <a:avLst/>
          </a:prstGeom>
          <a:noFill/>
          <a:ln/>
        </p:spPr>
        <p:txBody>
          <a:bodyPr wrap="square" lIns="0" tIns="0" rIns="0" bIns="0" rtlCol="0" anchor="ctr"/>
          <a:lstStyle/>
          <a:p>
            <a:pPr indent="0" marL="0">
              <a:buNone/>
            </a:pPr>
            <a:r>
              <a:rPr lang="en-US" sz="2200" b="1" dirty="0">
                <a:solidFill>
                  <a:srgbClr val="1F2937"/>
                </a:solidFill>
                <a:latin typeface="Calibri" pitchFamily="34" charset="0"/>
                <a:ea typeface="Calibri" pitchFamily="34" charset="-122"/>
                <a:cs typeface="Calibri" pitchFamily="34" charset="-120"/>
              </a:rPr>
              <a:t>~8 weeks</a:t>
            </a:r>
            <a:endParaRPr lang="en-US" sz="2200" dirty="0"/>
          </a:p>
        </p:txBody>
      </p:sp>
      <p:sp>
        <p:nvSpPr>
          <p:cNvPr id="20" name="Shape 18"/>
          <p:cNvSpPr/>
          <p:nvPr/>
        </p:nvSpPr>
        <p:spPr>
          <a:xfrm>
            <a:off x="548640" y="6446520"/>
            <a:ext cx="11064240" cy="0"/>
          </a:xfrm>
          <a:prstGeom prst="line">
            <a:avLst/>
          </a:prstGeom>
          <a:noFill/>
          <a:ln w="9525">
            <a:solidFill>
              <a:srgbClr val="E2E8F0"/>
            </a:solidFill>
            <a:prstDash val="solid"/>
          </a:ln>
        </p:spPr>
      </p:sp>
      <p:sp>
        <p:nvSpPr>
          <p:cNvPr id="21" name="Text 19"/>
          <p:cNvSpPr/>
          <p:nvPr/>
        </p:nvSpPr>
        <p:spPr>
          <a:xfrm>
            <a:off x="548640" y="6537960"/>
            <a:ext cx="4572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Enterprise Data Platform</a:t>
            </a:r>
            <a:endParaRPr lang="en-US" sz="900" dirty="0"/>
          </a:p>
        </p:txBody>
      </p:sp>
      <p:sp>
        <p:nvSpPr>
          <p:cNvPr id="22" name="Text 20"/>
          <p:cNvSpPr/>
          <p:nvPr/>
        </p:nvSpPr>
        <p:spPr>
          <a:xfrm>
            <a:off x="5120640" y="6537960"/>
            <a:ext cx="5486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Flywheel — Current State &amp; Options · v1 · April 8, 2026</a:t>
            </a:r>
            <a:endParaRPr lang="en-US" sz="900" dirty="0"/>
          </a:p>
        </p:txBody>
      </p:sp>
      <p:sp>
        <p:nvSpPr>
          <p:cNvPr id="23" name="Text 21"/>
          <p:cNvSpPr/>
          <p:nvPr/>
        </p:nvSpPr>
        <p:spPr>
          <a:xfrm>
            <a:off x="1133856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228600"/>
          </a:xfrm>
          <a:prstGeom prst="rect">
            <a:avLst/>
          </a:prstGeom>
          <a:solidFill>
            <a:srgbClr val="1F2937"/>
          </a:solidFill>
          <a:ln w="12700">
            <a:solidFill>
              <a:srgbClr val="1F2937"/>
            </a:solidFill>
            <a:prstDash val="solid"/>
          </a:ln>
        </p:spPr>
      </p:sp>
      <p:sp>
        <p:nvSpPr>
          <p:cNvPr id="3" name="Shape 1"/>
          <p:cNvSpPr/>
          <p:nvPr/>
        </p:nvSpPr>
        <p:spPr>
          <a:xfrm>
            <a:off x="0" y="228600"/>
            <a:ext cx="12161520" cy="36576"/>
          </a:xfrm>
          <a:prstGeom prst="rect">
            <a:avLst/>
          </a:prstGeom>
          <a:solidFill>
            <a:srgbClr val="0D9488"/>
          </a:solidFill>
          <a:ln w="12700">
            <a:solidFill>
              <a:srgbClr val="0D9488"/>
            </a:solidFill>
            <a:prstDash val="solid"/>
          </a:ln>
        </p:spPr>
      </p:sp>
      <p:sp>
        <p:nvSpPr>
          <p:cNvPr id="4" name="Text 2"/>
          <p:cNvSpPr/>
          <p:nvPr/>
        </p:nvSpPr>
        <p:spPr>
          <a:xfrm>
            <a:off x="548640" y="502920"/>
            <a:ext cx="10972800" cy="548640"/>
          </a:xfrm>
          <a:prstGeom prst="rect">
            <a:avLst/>
          </a:prstGeom>
          <a:noFill/>
          <a:ln/>
        </p:spPr>
        <p:txBody>
          <a:bodyPr wrap="square" lIns="0" tIns="0" rIns="0" bIns="0" rtlCol="0" anchor="ctr"/>
          <a:lstStyle/>
          <a:p>
            <a:pPr indent="0" marL="0">
              <a:buNone/>
            </a:pPr>
            <a:r>
              <a:rPr lang="en-US" sz="2600" b="1" dirty="0">
                <a:solidFill>
                  <a:srgbClr val="1F2937"/>
                </a:solidFill>
                <a:latin typeface="Calibri" pitchFamily="34" charset="0"/>
                <a:ea typeface="Calibri" pitchFamily="34" charset="-122"/>
                <a:cs typeface="Calibri" pitchFamily="34" charset="-120"/>
              </a:rPr>
              <a:t>Option B — Raw-ish transaction events in AEP (daily batch)</a:t>
            </a:r>
            <a:endParaRPr lang="en-US" sz="2600" dirty="0"/>
          </a:p>
        </p:txBody>
      </p:sp>
      <p:sp>
        <p:nvSpPr>
          <p:cNvPr id="5" name="Text 3"/>
          <p:cNvSpPr/>
          <p:nvPr/>
        </p:nvSpPr>
        <p:spPr>
          <a:xfrm>
            <a:off x="548640" y="1051560"/>
            <a:ext cx="1097280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Our recommendation.</a:t>
            </a:r>
            <a:endParaRPr lang="en-US" sz="1300" dirty="0"/>
          </a:p>
        </p:txBody>
      </p:sp>
      <p:sp>
        <p:nvSpPr>
          <p:cNvPr id="6" name="Shape 4"/>
          <p:cNvSpPr/>
          <p:nvPr/>
        </p:nvSpPr>
        <p:spPr>
          <a:xfrm>
            <a:off x="548640" y="1417320"/>
            <a:ext cx="457200" cy="45720"/>
          </a:xfrm>
          <a:prstGeom prst="rect">
            <a:avLst/>
          </a:prstGeom>
          <a:solidFill>
            <a:srgbClr val="0D9488"/>
          </a:solidFill>
          <a:ln w="12700">
            <a:solidFill>
              <a:srgbClr val="0D9488"/>
            </a:solidFill>
            <a:prstDash val="solid"/>
          </a:ln>
        </p:spPr>
      </p:sp>
      <p:sp>
        <p:nvSpPr>
          <p:cNvPr id="7" name="Text 5"/>
          <p:cNvSpPr/>
          <p:nvPr/>
        </p:nvSpPr>
        <p:spPr>
          <a:xfrm>
            <a:off x="548640" y="1828800"/>
            <a:ext cx="5486400" cy="274320"/>
          </a:xfrm>
          <a:prstGeom prst="rect">
            <a:avLst/>
          </a:prstGeom>
          <a:noFill/>
          <a:ln/>
        </p:spPr>
        <p:txBody>
          <a:bodyPr wrap="square" lIns="0" tIns="0" rIns="0" bIns="0" rtlCol="0" anchor="ctr"/>
          <a:lstStyle/>
          <a:p>
            <a:pPr indent="0" marL="0">
              <a:buNone/>
            </a:pPr>
            <a:r>
              <a:rPr lang="en-US" sz="1000" b="1" spc="300" kern="0" dirty="0">
                <a:solidFill>
                  <a:srgbClr val="6B7280"/>
                </a:solidFill>
                <a:latin typeface="Calibri" pitchFamily="34" charset="0"/>
                <a:ea typeface="Calibri" pitchFamily="34" charset="-122"/>
                <a:cs typeface="Calibri" pitchFamily="34" charset="-120"/>
              </a:rPr>
              <a:t>WHAT CHANGES</a:t>
            </a:r>
            <a:endParaRPr lang="en-US" sz="1000" dirty="0"/>
          </a:p>
        </p:txBody>
      </p:sp>
      <p:sp>
        <p:nvSpPr>
          <p:cNvPr id="8" name="Text 6"/>
          <p:cNvSpPr/>
          <p:nvPr/>
        </p:nvSpPr>
        <p:spPr>
          <a:xfrm>
            <a:off x="548640" y="2148840"/>
            <a:ext cx="5486400" cy="2011680"/>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Daily batch push of trimmed transaction events (~25 fields) from Snowflake to AEP</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13-month rolling retention; hard delete older</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~11M events/day, ~4.2M profiles updated nightly</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Feature authoring split: simple in AEP, complex in Snowflake</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Narrow streaming path for dispute events (separate from main pipeline)</a:t>
            </a:r>
            <a:endParaRPr lang="en-US" sz="1200" dirty="0"/>
          </a:p>
        </p:txBody>
      </p:sp>
      <p:sp>
        <p:nvSpPr>
          <p:cNvPr id="9" name="Shape 7"/>
          <p:cNvSpPr/>
          <p:nvPr/>
        </p:nvSpPr>
        <p:spPr>
          <a:xfrm>
            <a:off x="548640" y="4343400"/>
            <a:ext cx="5394960" cy="2011680"/>
          </a:xfrm>
          <a:prstGeom prst="rect">
            <a:avLst/>
          </a:prstGeom>
          <a:solidFill>
            <a:srgbClr val="F0FDF4"/>
          </a:solidFill>
          <a:ln w="12700">
            <a:solidFill>
              <a:srgbClr val="059669"/>
            </a:solidFill>
            <a:prstDash val="solid"/>
          </a:ln>
        </p:spPr>
      </p:sp>
      <p:sp>
        <p:nvSpPr>
          <p:cNvPr id="10" name="Text 8"/>
          <p:cNvSpPr/>
          <p:nvPr/>
        </p:nvSpPr>
        <p:spPr>
          <a:xfrm>
            <a:off x="731520" y="4434840"/>
            <a:ext cx="5029200" cy="274320"/>
          </a:xfrm>
          <a:prstGeom prst="rect">
            <a:avLst/>
          </a:prstGeom>
          <a:noFill/>
          <a:ln/>
        </p:spPr>
        <p:txBody>
          <a:bodyPr wrap="square" lIns="0" tIns="0" rIns="0" bIns="0" rtlCol="0" anchor="ctr"/>
          <a:lstStyle/>
          <a:p>
            <a:pPr indent="0" marL="0">
              <a:buNone/>
            </a:pPr>
            <a:r>
              <a:rPr lang="en-US" sz="1100" b="1" spc="300" kern="0" dirty="0">
                <a:solidFill>
                  <a:srgbClr val="059669"/>
                </a:solidFill>
                <a:latin typeface="Calibri" pitchFamily="34" charset="0"/>
                <a:ea typeface="Calibri" pitchFamily="34" charset="-122"/>
                <a:cs typeface="Calibri" pitchFamily="34" charset="-120"/>
              </a:rPr>
              <a:t>PROS</a:t>
            </a:r>
            <a:endParaRPr lang="en-US" sz="1100" dirty="0"/>
          </a:p>
        </p:txBody>
      </p:sp>
      <p:sp>
        <p:nvSpPr>
          <p:cNvPr id="11" name="Text 9"/>
          <p:cNvSpPr/>
          <p:nvPr/>
        </p:nvSpPr>
        <p:spPr>
          <a:xfrm>
            <a:off x="731520" y="4754880"/>
            <a:ext cx="5029200" cy="1554480"/>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Solves the backlog problem — self-serve segment authoring on raw events</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Flexibility to answer questions we haven't thought of yet</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Supports all three MVP use cases</a:t>
            </a:r>
            <a:endParaRPr lang="en-US" sz="1200" dirty="0"/>
          </a:p>
        </p:txBody>
      </p:sp>
      <p:sp>
        <p:nvSpPr>
          <p:cNvPr id="12" name="Shape 10"/>
          <p:cNvSpPr/>
          <p:nvPr/>
        </p:nvSpPr>
        <p:spPr>
          <a:xfrm>
            <a:off x="6126480" y="4343400"/>
            <a:ext cx="5486400" cy="2011680"/>
          </a:xfrm>
          <a:prstGeom prst="rect">
            <a:avLst/>
          </a:prstGeom>
          <a:solidFill>
            <a:srgbClr val="FEF2F2"/>
          </a:solidFill>
          <a:ln w="12700">
            <a:solidFill>
              <a:srgbClr val="DC2626"/>
            </a:solidFill>
            <a:prstDash val="solid"/>
          </a:ln>
        </p:spPr>
      </p:sp>
      <p:sp>
        <p:nvSpPr>
          <p:cNvPr id="13" name="Text 11"/>
          <p:cNvSpPr/>
          <p:nvPr/>
        </p:nvSpPr>
        <p:spPr>
          <a:xfrm>
            <a:off x="6309360" y="4434840"/>
            <a:ext cx="5212080" cy="274320"/>
          </a:xfrm>
          <a:prstGeom prst="rect">
            <a:avLst/>
          </a:prstGeom>
          <a:noFill/>
          <a:ln/>
        </p:spPr>
        <p:txBody>
          <a:bodyPr wrap="square" lIns="0" tIns="0" rIns="0" bIns="0" rtlCol="0" anchor="ctr"/>
          <a:lstStyle/>
          <a:p>
            <a:pPr indent="0" marL="0">
              <a:buNone/>
            </a:pPr>
            <a:r>
              <a:rPr lang="en-US" sz="1100" b="1" spc="300" kern="0" dirty="0">
                <a:solidFill>
                  <a:srgbClr val="DC2626"/>
                </a:solidFill>
                <a:latin typeface="Calibri" pitchFamily="34" charset="0"/>
                <a:ea typeface="Calibri" pitchFamily="34" charset="-122"/>
                <a:cs typeface="Calibri" pitchFamily="34" charset="-120"/>
              </a:rPr>
              <a:t>CONS</a:t>
            </a:r>
            <a:endParaRPr lang="en-US" sz="1100" dirty="0"/>
          </a:p>
        </p:txBody>
      </p:sp>
      <p:sp>
        <p:nvSpPr>
          <p:cNvPr id="14" name="Text 12"/>
          <p:cNvSpPr/>
          <p:nvPr/>
        </p:nvSpPr>
        <p:spPr>
          <a:xfrm>
            <a:off x="6309360" y="4754880"/>
            <a:ext cx="5212080" cy="1554480"/>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~$500K–$700K/yr incremental vs. today</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Profile density risk — active management required</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Schema design + Adobe architecture review required (done)</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~16 weeks to ship</a:t>
            </a:r>
            <a:endParaRPr lang="en-US" sz="1200" dirty="0"/>
          </a:p>
        </p:txBody>
      </p:sp>
      <p:sp>
        <p:nvSpPr>
          <p:cNvPr id="15" name="Shape 13"/>
          <p:cNvSpPr/>
          <p:nvPr/>
        </p:nvSpPr>
        <p:spPr>
          <a:xfrm>
            <a:off x="6583680" y="1828800"/>
            <a:ext cx="5029200" cy="2377440"/>
          </a:xfrm>
          <a:prstGeom prst="rect">
            <a:avLst/>
          </a:prstGeom>
          <a:solidFill>
            <a:srgbClr val="1F2937"/>
          </a:solidFill>
          <a:ln w="12700">
            <a:solidFill>
              <a:srgbClr val="1F2937"/>
            </a:solidFill>
            <a:prstDash val="solid"/>
          </a:ln>
        </p:spPr>
      </p:sp>
      <p:sp>
        <p:nvSpPr>
          <p:cNvPr id="16" name="Shape 14"/>
          <p:cNvSpPr/>
          <p:nvPr/>
        </p:nvSpPr>
        <p:spPr>
          <a:xfrm>
            <a:off x="6583680" y="1828800"/>
            <a:ext cx="5029200" cy="73152"/>
          </a:xfrm>
          <a:prstGeom prst="rect">
            <a:avLst/>
          </a:prstGeom>
          <a:solidFill>
            <a:srgbClr val="0D9488"/>
          </a:solidFill>
          <a:ln w="12700">
            <a:solidFill>
              <a:srgbClr val="0D9488"/>
            </a:solidFill>
            <a:prstDash val="solid"/>
          </a:ln>
        </p:spPr>
      </p:sp>
      <p:sp>
        <p:nvSpPr>
          <p:cNvPr id="17" name="Text 15"/>
          <p:cNvSpPr/>
          <p:nvPr/>
        </p:nvSpPr>
        <p:spPr>
          <a:xfrm>
            <a:off x="6766560" y="2011680"/>
            <a:ext cx="4663440" cy="274320"/>
          </a:xfrm>
          <a:prstGeom prst="rect">
            <a:avLst/>
          </a:prstGeom>
          <a:noFill/>
          <a:ln/>
        </p:spPr>
        <p:txBody>
          <a:bodyPr wrap="square" lIns="0" tIns="0" rIns="0" bIns="0" rtlCol="0" anchor="ctr"/>
          <a:lstStyle/>
          <a:p>
            <a:pPr indent="0" marL="0">
              <a:buNone/>
            </a:pPr>
            <a:r>
              <a:rPr lang="en-US" sz="1000" b="1" spc="300" kern="0" dirty="0">
                <a:solidFill>
                  <a:srgbClr val="CCFBF1"/>
                </a:solidFill>
                <a:latin typeface="Calibri" pitchFamily="34" charset="0"/>
                <a:ea typeface="Calibri" pitchFamily="34" charset="-122"/>
                <a:cs typeface="Calibri" pitchFamily="34" charset="-120"/>
              </a:rPr>
              <a:t>INCREMENTAL ANNUAL COST</a:t>
            </a:r>
            <a:endParaRPr lang="en-US" sz="1000" dirty="0"/>
          </a:p>
        </p:txBody>
      </p:sp>
      <p:sp>
        <p:nvSpPr>
          <p:cNvPr id="18" name="Text 16"/>
          <p:cNvSpPr/>
          <p:nvPr/>
        </p:nvSpPr>
        <p:spPr>
          <a:xfrm>
            <a:off x="6766560" y="2331720"/>
            <a:ext cx="466344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$500K–$700K</a:t>
            </a:r>
            <a:endParaRPr lang="en-US" sz="4000" dirty="0"/>
          </a:p>
        </p:txBody>
      </p:sp>
      <p:sp>
        <p:nvSpPr>
          <p:cNvPr id="19" name="Text 17"/>
          <p:cNvSpPr/>
          <p:nvPr/>
        </p:nvSpPr>
        <p:spPr>
          <a:xfrm>
            <a:off x="6766560" y="3291840"/>
            <a:ext cx="4663440" cy="274320"/>
          </a:xfrm>
          <a:prstGeom prst="rect">
            <a:avLst/>
          </a:prstGeom>
          <a:noFill/>
          <a:ln/>
        </p:spPr>
        <p:txBody>
          <a:bodyPr wrap="square" lIns="0" tIns="0" rIns="0" bIns="0" rtlCol="0" anchor="ctr"/>
          <a:lstStyle/>
          <a:p>
            <a:pPr indent="0" marL="0">
              <a:buNone/>
            </a:pPr>
            <a:r>
              <a:rPr lang="en-US" sz="1000" b="1" spc="300" kern="0" dirty="0">
                <a:solidFill>
                  <a:srgbClr val="CCFBF1"/>
                </a:solidFill>
                <a:latin typeface="Calibri" pitchFamily="34" charset="0"/>
                <a:ea typeface="Calibri" pitchFamily="34" charset="-122"/>
                <a:cs typeface="Calibri" pitchFamily="34" charset="-120"/>
              </a:rPr>
              <a:t>BUILD TIME</a:t>
            </a:r>
            <a:endParaRPr lang="en-US" sz="1000" dirty="0"/>
          </a:p>
        </p:txBody>
      </p:sp>
      <p:sp>
        <p:nvSpPr>
          <p:cNvPr id="20" name="Text 18"/>
          <p:cNvSpPr/>
          <p:nvPr/>
        </p:nvSpPr>
        <p:spPr>
          <a:xfrm>
            <a:off x="6766560" y="3566160"/>
            <a:ext cx="466344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~16 weeks</a:t>
            </a:r>
            <a:endParaRPr lang="en-US" sz="2200" dirty="0"/>
          </a:p>
        </p:txBody>
      </p:sp>
      <p:sp>
        <p:nvSpPr>
          <p:cNvPr id="21" name="Shape 19"/>
          <p:cNvSpPr/>
          <p:nvPr/>
        </p:nvSpPr>
        <p:spPr>
          <a:xfrm>
            <a:off x="548640" y="6446520"/>
            <a:ext cx="11064240" cy="0"/>
          </a:xfrm>
          <a:prstGeom prst="line">
            <a:avLst/>
          </a:prstGeom>
          <a:noFill/>
          <a:ln w="9525">
            <a:solidFill>
              <a:srgbClr val="E2E8F0"/>
            </a:solidFill>
            <a:prstDash val="solid"/>
          </a:ln>
        </p:spPr>
      </p:sp>
      <p:sp>
        <p:nvSpPr>
          <p:cNvPr id="22" name="Text 20"/>
          <p:cNvSpPr/>
          <p:nvPr/>
        </p:nvSpPr>
        <p:spPr>
          <a:xfrm>
            <a:off x="548640" y="6537960"/>
            <a:ext cx="4572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Enterprise Data Platform</a:t>
            </a:r>
            <a:endParaRPr lang="en-US" sz="900" dirty="0"/>
          </a:p>
        </p:txBody>
      </p:sp>
      <p:sp>
        <p:nvSpPr>
          <p:cNvPr id="23" name="Text 21"/>
          <p:cNvSpPr/>
          <p:nvPr/>
        </p:nvSpPr>
        <p:spPr>
          <a:xfrm>
            <a:off x="5120640" y="6537960"/>
            <a:ext cx="5486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Flywheel — Current State &amp; Options · v1 · April 8, 2026</a:t>
            </a:r>
            <a:endParaRPr lang="en-US" sz="900" dirty="0"/>
          </a:p>
        </p:txBody>
      </p:sp>
      <p:sp>
        <p:nvSpPr>
          <p:cNvPr id="24" name="Text 22"/>
          <p:cNvSpPr/>
          <p:nvPr/>
        </p:nvSpPr>
        <p:spPr>
          <a:xfrm>
            <a:off x="1133856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228600"/>
          </a:xfrm>
          <a:prstGeom prst="rect">
            <a:avLst/>
          </a:prstGeom>
          <a:solidFill>
            <a:srgbClr val="1F2937"/>
          </a:solidFill>
          <a:ln w="12700">
            <a:solidFill>
              <a:srgbClr val="1F2937"/>
            </a:solidFill>
            <a:prstDash val="solid"/>
          </a:ln>
        </p:spPr>
      </p:sp>
      <p:sp>
        <p:nvSpPr>
          <p:cNvPr id="3" name="Shape 1"/>
          <p:cNvSpPr/>
          <p:nvPr/>
        </p:nvSpPr>
        <p:spPr>
          <a:xfrm>
            <a:off x="0" y="228600"/>
            <a:ext cx="12161520" cy="36576"/>
          </a:xfrm>
          <a:prstGeom prst="rect">
            <a:avLst/>
          </a:prstGeom>
          <a:solidFill>
            <a:srgbClr val="0D9488"/>
          </a:solidFill>
          <a:ln w="12700">
            <a:solidFill>
              <a:srgbClr val="0D9488"/>
            </a:solidFill>
            <a:prstDash val="solid"/>
          </a:ln>
        </p:spPr>
      </p:sp>
      <p:sp>
        <p:nvSpPr>
          <p:cNvPr id="4" name="Text 2"/>
          <p:cNvSpPr/>
          <p:nvPr/>
        </p:nvSpPr>
        <p:spPr>
          <a:xfrm>
            <a:off x="548640" y="502920"/>
            <a:ext cx="10972800" cy="548640"/>
          </a:xfrm>
          <a:prstGeom prst="rect">
            <a:avLst/>
          </a:prstGeom>
          <a:noFill/>
          <a:ln/>
        </p:spPr>
        <p:txBody>
          <a:bodyPr wrap="square" lIns="0" tIns="0" rIns="0" bIns="0" rtlCol="0" anchor="ctr"/>
          <a:lstStyle/>
          <a:p>
            <a:pPr indent="0" marL="0">
              <a:buNone/>
            </a:pPr>
            <a:r>
              <a:rPr lang="en-US" sz="2600" b="1" dirty="0">
                <a:solidFill>
                  <a:srgbClr val="1F2937"/>
                </a:solidFill>
                <a:latin typeface="Calibri" pitchFamily="34" charset="0"/>
                <a:ea typeface="Calibri" pitchFamily="34" charset="-122"/>
                <a:cs typeface="Calibri" pitchFamily="34" charset="-120"/>
              </a:rPr>
              <a:t>Option C — Streaming ingestion at full transaction volume</a:t>
            </a:r>
            <a:endParaRPr lang="en-US" sz="2600" dirty="0"/>
          </a:p>
        </p:txBody>
      </p:sp>
      <p:sp>
        <p:nvSpPr>
          <p:cNvPr id="5" name="Text 3"/>
          <p:cNvSpPr/>
          <p:nvPr/>
        </p:nvSpPr>
        <p:spPr>
          <a:xfrm>
            <a:off x="548640" y="1051560"/>
            <a:ext cx="1097280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Do not do for MVP. Revisit Phase 3.</a:t>
            </a:r>
            <a:endParaRPr lang="en-US" sz="1300" dirty="0"/>
          </a:p>
        </p:txBody>
      </p:sp>
      <p:sp>
        <p:nvSpPr>
          <p:cNvPr id="6" name="Shape 4"/>
          <p:cNvSpPr/>
          <p:nvPr/>
        </p:nvSpPr>
        <p:spPr>
          <a:xfrm>
            <a:off x="548640" y="1417320"/>
            <a:ext cx="457200" cy="45720"/>
          </a:xfrm>
          <a:prstGeom prst="rect">
            <a:avLst/>
          </a:prstGeom>
          <a:solidFill>
            <a:srgbClr val="0D9488"/>
          </a:solidFill>
          <a:ln w="12700">
            <a:solidFill>
              <a:srgbClr val="0D9488"/>
            </a:solidFill>
            <a:prstDash val="solid"/>
          </a:ln>
        </p:spPr>
      </p:sp>
      <p:sp>
        <p:nvSpPr>
          <p:cNvPr id="7" name="Text 5"/>
          <p:cNvSpPr/>
          <p:nvPr/>
        </p:nvSpPr>
        <p:spPr>
          <a:xfrm>
            <a:off x="548640" y="1828800"/>
            <a:ext cx="5486400" cy="274320"/>
          </a:xfrm>
          <a:prstGeom prst="rect">
            <a:avLst/>
          </a:prstGeom>
          <a:noFill/>
          <a:ln/>
        </p:spPr>
        <p:txBody>
          <a:bodyPr wrap="square" lIns="0" tIns="0" rIns="0" bIns="0" rtlCol="0" anchor="ctr"/>
          <a:lstStyle/>
          <a:p>
            <a:pPr indent="0" marL="0">
              <a:buNone/>
            </a:pPr>
            <a:r>
              <a:rPr lang="en-US" sz="1000" b="1" spc="300" kern="0" dirty="0">
                <a:solidFill>
                  <a:srgbClr val="6B7280"/>
                </a:solidFill>
                <a:latin typeface="Calibri" pitchFamily="34" charset="0"/>
                <a:ea typeface="Calibri" pitchFamily="34" charset="-122"/>
                <a:cs typeface="Calibri" pitchFamily="34" charset="-120"/>
              </a:rPr>
              <a:t>WHAT CHANGES</a:t>
            </a:r>
            <a:endParaRPr lang="en-US" sz="1000" dirty="0"/>
          </a:p>
        </p:txBody>
      </p:sp>
      <p:sp>
        <p:nvSpPr>
          <p:cNvPr id="8" name="Text 6"/>
          <p:cNvSpPr/>
          <p:nvPr/>
        </p:nvSpPr>
        <p:spPr>
          <a:xfrm>
            <a:off x="548640" y="2148840"/>
            <a:ext cx="5486400" cy="1828800"/>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Replace daily batch with Kafka → AEP streaming ingestion</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Sub-minute latency, authorization → AEP profile update</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Requires replatforming ingestion layer and rethinking feature layer</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Streaming + batch = Lambda architecture — nontrivial</a:t>
            </a:r>
            <a:endParaRPr lang="en-US" sz="1200" dirty="0"/>
          </a:p>
        </p:txBody>
      </p:sp>
      <p:sp>
        <p:nvSpPr>
          <p:cNvPr id="9" name="Shape 7"/>
          <p:cNvSpPr/>
          <p:nvPr/>
        </p:nvSpPr>
        <p:spPr>
          <a:xfrm>
            <a:off x="548640" y="4160520"/>
            <a:ext cx="5394960" cy="2103120"/>
          </a:xfrm>
          <a:prstGeom prst="rect">
            <a:avLst/>
          </a:prstGeom>
          <a:solidFill>
            <a:srgbClr val="F0FDF4"/>
          </a:solidFill>
          <a:ln w="12700">
            <a:solidFill>
              <a:srgbClr val="059669"/>
            </a:solidFill>
            <a:prstDash val="solid"/>
          </a:ln>
        </p:spPr>
      </p:sp>
      <p:sp>
        <p:nvSpPr>
          <p:cNvPr id="10" name="Text 8"/>
          <p:cNvSpPr/>
          <p:nvPr/>
        </p:nvSpPr>
        <p:spPr>
          <a:xfrm>
            <a:off x="731520" y="4251960"/>
            <a:ext cx="5029200" cy="274320"/>
          </a:xfrm>
          <a:prstGeom prst="rect">
            <a:avLst/>
          </a:prstGeom>
          <a:noFill/>
          <a:ln/>
        </p:spPr>
        <p:txBody>
          <a:bodyPr wrap="square" lIns="0" tIns="0" rIns="0" bIns="0" rtlCol="0" anchor="ctr"/>
          <a:lstStyle/>
          <a:p>
            <a:pPr indent="0" marL="0">
              <a:buNone/>
            </a:pPr>
            <a:r>
              <a:rPr lang="en-US" sz="1100" b="1" spc="300" kern="0" dirty="0">
                <a:solidFill>
                  <a:srgbClr val="059669"/>
                </a:solidFill>
                <a:latin typeface="Calibri" pitchFamily="34" charset="0"/>
                <a:ea typeface="Calibri" pitchFamily="34" charset="-122"/>
                <a:cs typeface="Calibri" pitchFamily="34" charset="-120"/>
              </a:rPr>
              <a:t>PROS</a:t>
            </a:r>
            <a:endParaRPr lang="en-US" sz="1100" dirty="0"/>
          </a:p>
        </p:txBody>
      </p:sp>
      <p:sp>
        <p:nvSpPr>
          <p:cNvPr id="11" name="Text 9"/>
          <p:cNvSpPr/>
          <p:nvPr/>
        </p:nvSpPr>
        <p:spPr>
          <a:xfrm>
            <a:off x="731520" y="4572000"/>
            <a:ext cx="5029200" cy="1645920"/>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Enables triggered journeys at the speed of cardholder behavior</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Future-proofs for Phase 3+ use cases (real-time fraud-adjacent, in-session)</a:t>
            </a:r>
            <a:endParaRPr lang="en-US" sz="1200" dirty="0"/>
          </a:p>
        </p:txBody>
      </p:sp>
      <p:sp>
        <p:nvSpPr>
          <p:cNvPr id="12" name="Shape 10"/>
          <p:cNvSpPr/>
          <p:nvPr/>
        </p:nvSpPr>
        <p:spPr>
          <a:xfrm>
            <a:off x="6126480" y="4160520"/>
            <a:ext cx="5486400" cy="2103120"/>
          </a:xfrm>
          <a:prstGeom prst="rect">
            <a:avLst/>
          </a:prstGeom>
          <a:solidFill>
            <a:srgbClr val="FEF2F2"/>
          </a:solidFill>
          <a:ln w="12700">
            <a:solidFill>
              <a:srgbClr val="DC2626"/>
            </a:solidFill>
            <a:prstDash val="solid"/>
          </a:ln>
        </p:spPr>
      </p:sp>
      <p:sp>
        <p:nvSpPr>
          <p:cNvPr id="13" name="Text 11"/>
          <p:cNvSpPr/>
          <p:nvPr/>
        </p:nvSpPr>
        <p:spPr>
          <a:xfrm>
            <a:off x="6309360" y="4251960"/>
            <a:ext cx="5212080" cy="274320"/>
          </a:xfrm>
          <a:prstGeom prst="rect">
            <a:avLst/>
          </a:prstGeom>
          <a:noFill/>
          <a:ln/>
        </p:spPr>
        <p:txBody>
          <a:bodyPr wrap="square" lIns="0" tIns="0" rIns="0" bIns="0" rtlCol="0" anchor="ctr"/>
          <a:lstStyle/>
          <a:p>
            <a:pPr indent="0" marL="0">
              <a:buNone/>
            </a:pPr>
            <a:r>
              <a:rPr lang="en-US" sz="1100" b="1" spc="300" kern="0" dirty="0">
                <a:solidFill>
                  <a:srgbClr val="DC2626"/>
                </a:solidFill>
                <a:latin typeface="Calibri" pitchFamily="34" charset="0"/>
                <a:ea typeface="Calibri" pitchFamily="34" charset="-122"/>
                <a:cs typeface="Calibri" pitchFamily="34" charset="-120"/>
              </a:rPr>
              <a:t>CONS</a:t>
            </a:r>
            <a:endParaRPr lang="en-US" sz="1100" dirty="0"/>
          </a:p>
        </p:txBody>
      </p:sp>
      <p:sp>
        <p:nvSpPr>
          <p:cNvPr id="14" name="Text 12"/>
          <p:cNvSpPr/>
          <p:nvPr/>
        </p:nvSpPr>
        <p:spPr>
          <a:xfrm>
            <a:off x="6309360" y="4572000"/>
            <a:ext cx="5212080" cy="1645920"/>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~4× Option B ($2.0M–$2.8M/yr incremental)</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24–30 week build</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Operational complexity — on-call, alerting, replay machinery</a:t>
            </a:r>
            <a:endParaRPr lang="en-US" sz="1200" dirty="0"/>
          </a:p>
          <a:p>
            <a:pPr marL="342900" indent="-342900">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No MVP use case requires it (dispute path handled narrowly in B)</a:t>
            </a:r>
            <a:endParaRPr lang="en-US" sz="1200" dirty="0"/>
          </a:p>
        </p:txBody>
      </p:sp>
      <p:sp>
        <p:nvSpPr>
          <p:cNvPr id="15" name="Shape 13"/>
          <p:cNvSpPr/>
          <p:nvPr/>
        </p:nvSpPr>
        <p:spPr>
          <a:xfrm>
            <a:off x="6583680" y="1828800"/>
            <a:ext cx="5029200" cy="2194560"/>
          </a:xfrm>
          <a:prstGeom prst="rect">
            <a:avLst/>
          </a:prstGeom>
          <a:solidFill>
            <a:srgbClr val="FEF2F2"/>
          </a:solidFill>
          <a:ln w="19050">
            <a:solidFill>
              <a:srgbClr val="DC2626"/>
            </a:solidFill>
            <a:prstDash val="solid"/>
          </a:ln>
        </p:spPr>
      </p:sp>
      <p:sp>
        <p:nvSpPr>
          <p:cNvPr id="16" name="Text 14"/>
          <p:cNvSpPr/>
          <p:nvPr/>
        </p:nvSpPr>
        <p:spPr>
          <a:xfrm>
            <a:off x="6766560" y="1965960"/>
            <a:ext cx="4663440" cy="274320"/>
          </a:xfrm>
          <a:prstGeom prst="rect">
            <a:avLst/>
          </a:prstGeom>
          <a:noFill/>
          <a:ln/>
        </p:spPr>
        <p:txBody>
          <a:bodyPr wrap="square" lIns="0" tIns="0" rIns="0" bIns="0" rtlCol="0" anchor="ctr"/>
          <a:lstStyle/>
          <a:p>
            <a:pPr indent="0" marL="0">
              <a:buNone/>
            </a:pPr>
            <a:r>
              <a:rPr lang="en-US" sz="1000" b="1" spc="300" kern="0" dirty="0">
                <a:solidFill>
                  <a:srgbClr val="DC2626"/>
                </a:solidFill>
                <a:latin typeface="Calibri" pitchFamily="34" charset="0"/>
                <a:ea typeface="Calibri" pitchFamily="34" charset="-122"/>
                <a:cs typeface="Calibri" pitchFamily="34" charset="-120"/>
              </a:rPr>
              <a:t>INCREMENTAL ANNUAL COST</a:t>
            </a:r>
            <a:endParaRPr lang="en-US" sz="1000" dirty="0"/>
          </a:p>
        </p:txBody>
      </p:sp>
      <p:sp>
        <p:nvSpPr>
          <p:cNvPr id="17" name="Text 15"/>
          <p:cNvSpPr/>
          <p:nvPr/>
        </p:nvSpPr>
        <p:spPr>
          <a:xfrm>
            <a:off x="6766560" y="2286000"/>
            <a:ext cx="4663440" cy="822960"/>
          </a:xfrm>
          <a:prstGeom prst="rect">
            <a:avLst/>
          </a:prstGeom>
          <a:noFill/>
          <a:ln/>
        </p:spPr>
        <p:txBody>
          <a:bodyPr wrap="square" lIns="0" tIns="0" rIns="0" bIns="0" rtlCol="0" anchor="ctr"/>
          <a:lstStyle/>
          <a:p>
            <a:pPr indent="0" marL="0">
              <a:buNone/>
            </a:pPr>
            <a:r>
              <a:rPr lang="en-US" sz="4000" b="1" dirty="0">
                <a:solidFill>
                  <a:srgbClr val="1F2937"/>
                </a:solidFill>
                <a:latin typeface="Calibri" pitchFamily="34" charset="0"/>
                <a:ea typeface="Calibri" pitchFamily="34" charset="-122"/>
                <a:cs typeface="Calibri" pitchFamily="34" charset="-120"/>
              </a:rPr>
              <a:t>$2.0M–$2.8M</a:t>
            </a:r>
            <a:endParaRPr lang="en-US" sz="4000" dirty="0"/>
          </a:p>
        </p:txBody>
      </p:sp>
      <p:sp>
        <p:nvSpPr>
          <p:cNvPr id="18" name="Text 16"/>
          <p:cNvSpPr/>
          <p:nvPr/>
        </p:nvSpPr>
        <p:spPr>
          <a:xfrm>
            <a:off x="6766560" y="3246120"/>
            <a:ext cx="4663440" cy="274320"/>
          </a:xfrm>
          <a:prstGeom prst="rect">
            <a:avLst/>
          </a:prstGeom>
          <a:noFill/>
          <a:ln/>
        </p:spPr>
        <p:txBody>
          <a:bodyPr wrap="square" lIns="0" tIns="0" rIns="0" bIns="0" rtlCol="0" anchor="ctr"/>
          <a:lstStyle/>
          <a:p>
            <a:pPr indent="0" marL="0">
              <a:buNone/>
            </a:pPr>
            <a:r>
              <a:rPr lang="en-US" sz="1000" b="1" spc="300" kern="0" dirty="0">
                <a:solidFill>
                  <a:srgbClr val="DC2626"/>
                </a:solidFill>
                <a:latin typeface="Calibri" pitchFamily="34" charset="0"/>
                <a:ea typeface="Calibri" pitchFamily="34" charset="-122"/>
                <a:cs typeface="Calibri" pitchFamily="34" charset="-120"/>
              </a:rPr>
              <a:t>BUILD TIME</a:t>
            </a:r>
            <a:endParaRPr lang="en-US" sz="1000" dirty="0"/>
          </a:p>
        </p:txBody>
      </p:sp>
      <p:sp>
        <p:nvSpPr>
          <p:cNvPr id="19" name="Text 17"/>
          <p:cNvSpPr/>
          <p:nvPr/>
        </p:nvSpPr>
        <p:spPr>
          <a:xfrm>
            <a:off x="6766560" y="3520440"/>
            <a:ext cx="4663440" cy="457200"/>
          </a:xfrm>
          <a:prstGeom prst="rect">
            <a:avLst/>
          </a:prstGeom>
          <a:noFill/>
          <a:ln/>
        </p:spPr>
        <p:txBody>
          <a:bodyPr wrap="square" lIns="0" tIns="0" rIns="0" bIns="0" rtlCol="0" anchor="ctr"/>
          <a:lstStyle/>
          <a:p>
            <a:pPr indent="0" marL="0">
              <a:buNone/>
            </a:pPr>
            <a:r>
              <a:rPr lang="en-US" sz="2200" b="1" dirty="0">
                <a:solidFill>
                  <a:srgbClr val="1F2937"/>
                </a:solidFill>
                <a:latin typeface="Calibri" pitchFamily="34" charset="0"/>
                <a:ea typeface="Calibri" pitchFamily="34" charset="-122"/>
                <a:cs typeface="Calibri" pitchFamily="34" charset="-120"/>
              </a:rPr>
              <a:t>24–30 weeks</a:t>
            </a:r>
            <a:endParaRPr lang="en-US" sz="2200" dirty="0"/>
          </a:p>
        </p:txBody>
      </p:sp>
      <p:sp>
        <p:nvSpPr>
          <p:cNvPr id="20" name="Shape 18"/>
          <p:cNvSpPr/>
          <p:nvPr/>
        </p:nvSpPr>
        <p:spPr>
          <a:xfrm>
            <a:off x="548640" y="6446520"/>
            <a:ext cx="11064240" cy="0"/>
          </a:xfrm>
          <a:prstGeom prst="line">
            <a:avLst/>
          </a:prstGeom>
          <a:noFill/>
          <a:ln w="9525">
            <a:solidFill>
              <a:srgbClr val="E2E8F0"/>
            </a:solidFill>
            <a:prstDash val="solid"/>
          </a:ln>
        </p:spPr>
      </p:sp>
      <p:sp>
        <p:nvSpPr>
          <p:cNvPr id="21" name="Text 19"/>
          <p:cNvSpPr/>
          <p:nvPr/>
        </p:nvSpPr>
        <p:spPr>
          <a:xfrm>
            <a:off x="548640" y="6537960"/>
            <a:ext cx="4572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Enterprise Data Platform</a:t>
            </a:r>
            <a:endParaRPr lang="en-US" sz="900" dirty="0"/>
          </a:p>
        </p:txBody>
      </p:sp>
      <p:sp>
        <p:nvSpPr>
          <p:cNvPr id="22" name="Text 20"/>
          <p:cNvSpPr/>
          <p:nvPr/>
        </p:nvSpPr>
        <p:spPr>
          <a:xfrm>
            <a:off x="5120640" y="6537960"/>
            <a:ext cx="5486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Flywheel — Current State &amp; Options · v1 · April 8, 2026</a:t>
            </a:r>
            <a:endParaRPr lang="en-US" sz="900" dirty="0"/>
          </a:p>
        </p:txBody>
      </p:sp>
      <p:sp>
        <p:nvSpPr>
          <p:cNvPr id="23" name="Text 21"/>
          <p:cNvSpPr/>
          <p:nvPr/>
        </p:nvSpPr>
        <p:spPr>
          <a:xfrm>
            <a:off x="1133856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228600"/>
          </a:xfrm>
          <a:prstGeom prst="rect">
            <a:avLst/>
          </a:prstGeom>
          <a:solidFill>
            <a:srgbClr val="1F2937"/>
          </a:solidFill>
          <a:ln w="12700">
            <a:solidFill>
              <a:srgbClr val="1F2937"/>
            </a:solidFill>
            <a:prstDash val="solid"/>
          </a:ln>
        </p:spPr>
      </p:sp>
      <p:sp>
        <p:nvSpPr>
          <p:cNvPr id="3" name="Shape 1"/>
          <p:cNvSpPr/>
          <p:nvPr/>
        </p:nvSpPr>
        <p:spPr>
          <a:xfrm>
            <a:off x="0" y="228600"/>
            <a:ext cx="12161520" cy="36576"/>
          </a:xfrm>
          <a:prstGeom prst="rect">
            <a:avLst/>
          </a:prstGeom>
          <a:solidFill>
            <a:srgbClr val="0D9488"/>
          </a:solidFill>
          <a:ln w="12700">
            <a:solidFill>
              <a:srgbClr val="0D9488"/>
            </a:solidFill>
            <a:prstDash val="solid"/>
          </a:ln>
        </p:spPr>
      </p:sp>
      <p:sp>
        <p:nvSpPr>
          <p:cNvPr id="4" name="Text 2"/>
          <p:cNvSpPr/>
          <p:nvPr/>
        </p:nvSpPr>
        <p:spPr>
          <a:xfrm>
            <a:off x="548640" y="502920"/>
            <a:ext cx="10972800" cy="548640"/>
          </a:xfrm>
          <a:prstGeom prst="rect">
            <a:avLst/>
          </a:prstGeom>
          <a:noFill/>
          <a:ln/>
        </p:spPr>
        <p:txBody>
          <a:bodyPr wrap="square" lIns="0" tIns="0" rIns="0" bIns="0" rtlCol="0" anchor="ctr"/>
          <a:lstStyle/>
          <a:p>
            <a:pPr indent="0" marL="0">
              <a:buNone/>
            </a:pPr>
            <a:r>
              <a:rPr lang="en-US" sz="2600" b="1" dirty="0">
                <a:solidFill>
                  <a:srgbClr val="1F2937"/>
                </a:solidFill>
                <a:latin typeface="Calibri" pitchFamily="34" charset="0"/>
                <a:ea typeface="Calibri" pitchFamily="34" charset="-122"/>
                <a:cs typeface="Calibri" pitchFamily="34" charset="-120"/>
              </a:rPr>
              <a:t>The profile density question</a:t>
            </a:r>
            <a:endParaRPr lang="en-US" sz="2600" dirty="0"/>
          </a:p>
        </p:txBody>
      </p:sp>
      <p:sp>
        <p:nvSpPr>
          <p:cNvPr id="5" name="Text 3"/>
          <p:cNvSpPr/>
          <p:nvPr/>
        </p:nvSpPr>
        <p:spPr>
          <a:xfrm>
            <a:off x="548640" y="1051560"/>
            <a:ext cx="1097280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Why Option B requires active management.</a:t>
            </a:r>
            <a:endParaRPr lang="en-US" sz="1300" dirty="0"/>
          </a:p>
        </p:txBody>
      </p:sp>
      <p:sp>
        <p:nvSpPr>
          <p:cNvPr id="6" name="Shape 4"/>
          <p:cNvSpPr/>
          <p:nvPr/>
        </p:nvSpPr>
        <p:spPr>
          <a:xfrm>
            <a:off x="548640" y="1417320"/>
            <a:ext cx="457200" cy="45720"/>
          </a:xfrm>
          <a:prstGeom prst="rect">
            <a:avLst/>
          </a:prstGeom>
          <a:solidFill>
            <a:srgbClr val="0D9488"/>
          </a:solidFill>
          <a:ln w="12700">
            <a:solidFill>
              <a:srgbClr val="0D9488"/>
            </a:solidFill>
            <a:prstDash val="solid"/>
          </a:ln>
        </p:spPr>
      </p:sp>
      <p:sp>
        <p:nvSpPr>
          <p:cNvPr id="7" name="Shape 5"/>
          <p:cNvSpPr/>
          <p:nvPr/>
        </p:nvSpPr>
        <p:spPr>
          <a:xfrm>
            <a:off x="548640" y="1737360"/>
            <a:ext cx="2697480" cy="1554480"/>
          </a:xfrm>
          <a:prstGeom prst="rect">
            <a:avLst/>
          </a:prstGeom>
          <a:solidFill>
            <a:srgbClr val="F8FAFC"/>
          </a:solidFill>
          <a:ln w="12700">
            <a:solidFill>
              <a:srgbClr val="E2E8F0"/>
            </a:solidFill>
            <a:prstDash val="solid"/>
          </a:ln>
        </p:spPr>
      </p:sp>
      <p:sp>
        <p:nvSpPr>
          <p:cNvPr id="8" name="Shape 6"/>
          <p:cNvSpPr/>
          <p:nvPr/>
        </p:nvSpPr>
        <p:spPr>
          <a:xfrm>
            <a:off x="548640" y="1737360"/>
            <a:ext cx="2697480" cy="64008"/>
          </a:xfrm>
          <a:prstGeom prst="rect">
            <a:avLst/>
          </a:prstGeom>
          <a:solidFill>
            <a:srgbClr val="0D9488"/>
          </a:solidFill>
          <a:ln w="12700">
            <a:solidFill>
              <a:srgbClr val="0D9488"/>
            </a:solidFill>
            <a:prstDash val="solid"/>
          </a:ln>
        </p:spPr>
      </p:sp>
      <p:sp>
        <p:nvSpPr>
          <p:cNvPr id="9" name="Text 7"/>
          <p:cNvSpPr/>
          <p:nvPr/>
        </p:nvSpPr>
        <p:spPr>
          <a:xfrm>
            <a:off x="640080" y="1874520"/>
            <a:ext cx="2514600" cy="320040"/>
          </a:xfrm>
          <a:prstGeom prst="rect">
            <a:avLst/>
          </a:prstGeom>
          <a:noFill/>
          <a:ln/>
        </p:spPr>
        <p:txBody>
          <a:bodyPr wrap="square" lIns="0" tIns="0" rIns="0" bIns="0" rtlCol="0" anchor="ctr"/>
          <a:lstStyle/>
          <a:p>
            <a:pPr algn="ctr" indent="0" marL="0">
              <a:buNone/>
            </a:pPr>
            <a:r>
              <a:rPr lang="en-US" sz="1100" b="1" spc="200" kern="0" dirty="0">
                <a:solidFill>
                  <a:srgbClr val="6B7280"/>
                </a:solidFill>
                <a:latin typeface="Calibri" pitchFamily="34" charset="0"/>
                <a:ea typeface="Calibri" pitchFamily="34" charset="-122"/>
                <a:cs typeface="Calibri" pitchFamily="34" charset="-120"/>
              </a:rPr>
              <a:t>Median</a:t>
            </a:r>
            <a:endParaRPr lang="en-US" sz="1100" dirty="0"/>
          </a:p>
        </p:txBody>
      </p:sp>
      <p:sp>
        <p:nvSpPr>
          <p:cNvPr id="10" name="Text 8"/>
          <p:cNvSpPr/>
          <p:nvPr/>
        </p:nvSpPr>
        <p:spPr>
          <a:xfrm>
            <a:off x="640080" y="2194560"/>
            <a:ext cx="2514600" cy="731520"/>
          </a:xfrm>
          <a:prstGeom prst="rect">
            <a:avLst/>
          </a:prstGeom>
          <a:noFill/>
          <a:ln/>
        </p:spPr>
        <p:txBody>
          <a:bodyPr wrap="square" lIns="0" tIns="0" rIns="0" bIns="0" rtlCol="0" anchor="ctr"/>
          <a:lstStyle/>
          <a:p>
            <a:pPr algn="ctr" indent="0" marL="0">
              <a:buNone/>
            </a:pPr>
            <a:r>
              <a:rPr lang="en-US" sz="3600" b="1" dirty="0">
                <a:solidFill>
                  <a:srgbClr val="1F2937"/>
                </a:solidFill>
                <a:latin typeface="Calibri" pitchFamily="34" charset="0"/>
                <a:ea typeface="Calibri" pitchFamily="34" charset="-122"/>
                <a:cs typeface="Calibri" pitchFamily="34" charset="-120"/>
              </a:rPr>
              <a:t>~980</a:t>
            </a:r>
            <a:endParaRPr lang="en-US" sz="3600" dirty="0"/>
          </a:p>
        </p:txBody>
      </p:sp>
      <p:sp>
        <p:nvSpPr>
          <p:cNvPr id="11" name="Text 9"/>
          <p:cNvSpPr/>
          <p:nvPr/>
        </p:nvSpPr>
        <p:spPr>
          <a:xfrm>
            <a:off x="640080" y="2926080"/>
            <a:ext cx="2514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events/profile</a:t>
            </a:r>
            <a:endParaRPr lang="en-US" sz="1000" dirty="0"/>
          </a:p>
        </p:txBody>
      </p:sp>
      <p:sp>
        <p:nvSpPr>
          <p:cNvPr id="12" name="Shape 10"/>
          <p:cNvSpPr/>
          <p:nvPr/>
        </p:nvSpPr>
        <p:spPr>
          <a:xfrm>
            <a:off x="3383280" y="1737360"/>
            <a:ext cx="2697480" cy="1554480"/>
          </a:xfrm>
          <a:prstGeom prst="rect">
            <a:avLst/>
          </a:prstGeom>
          <a:solidFill>
            <a:srgbClr val="F8FAFC"/>
          </a:solidFill>
          <a:ln w="12700">
            <a:solidFill>
              <a:srgbClr val="E2E8F0"/>
            </a:solidFill>
            <a:prstDash val="solid"/>
          </a:ln>
        </p:spPr>
      </p:sp>
      <p:sp>
        <p:nvSpPr>
          <p:cNvPr id="13" name="Shape 11"/>
          <p:cNvSpPr/>
          <p:nvPr/>
        </p:nvSpPr>
        <p:spPr>
          <a:xfrm>
            <a:off x="3383280" y="1737360"/>
            <a:ext cx="2697480" cy="64008"/>
          </a:xfrm>
          <a:prstGeom prst="rect">
            <a:avLst/>
          </a:prstGeom>
          <a:solidFill>
            <a:srgbClr val="0D9488"/>
          </a:solidFill>
          <a:ln w="12700">
            <a:solidFill>
              <a:srgbClr val="0D9488"/>
            </a:solidFill>
            <a:prstDash val="solid"/>
          </a:ln>
        </p:spPr>
      </p:sp>
      <p:sp>
        <p:nvSpPr>
          <p:cNvPr id="14" name="Text 12"/>
          <p:cNvSpPr/>
          <p:nvPr/>
        </p:nvSpPr>
        <p:spPr>
          <a:xfrm>
            <a:off x="3474720" y="1874520"/>
            <a:ext cx="2514600" cy="320040"/>
          </a:xfrm>
          <a:prstGeom prst="rect">
            <a:avLst/>
          </a:prstGeom>
          <a:noFill/>
          <a:ln/>
        </p:spPr>
        <p:txBody>
          <a:bodyPr wrap="square" lIns="0" tIns="0" rIns="0" bIns="0" rtlCol="0" anchor="ctr"/>
          <a:lstStyle/>
          <a:p>
            <a:pPr algn="ctr" indent="0" marL="0">
              <a:buNone/>
            </a:pPr>
            <a:r>
              <a:rPr lang="en-US" sz="1100" b="1" spc="200" kern="0" dirty="0">
                <a:solidFill>
                  <a:srgbClr val="6B7280"/>
                </a:solidFill>
                <a:latin typeface="Calibri" pitchFamily="34" charset="0"/>
                <a:ea typeface="Calibri" pitchFamily="34" charset="-122"/>
                <a:cs typeface="Calibri" pitchFamily="34" charset="-120"/>
              </a:rPr>
              <a:t>p90</a:t>
            </a:r>
            <a:endParaRPr lang="en-US" sz="1100" dirty="0"/>
          </a:p>
        </p:txBody>
      </p:sp>
      <p:sp>
        <p:nvSpPr>
          <p:cNvPr id="15" name="Text 13"/>
          <p:cNvSpPr/>
          <p:nvPr/>
        </p:nvSpPr>
        <p:spPr>
          <a:xfrm>
            <a:off x="3474720" y="2194560"/>
            <a:ext cx="2514600" cy="731520"/>
          </a:xfrm>
          <a:prstGeom prst="rect">
            <a:avLst/>
          </a:prstGeom>
          <a:noFill/>
          <a:ln/>
        </p:spPr>
        <p:txBody>
          <a:bodyPr wrap="square" lIns="0" tIns="0" rIns="0" bIns="0" rtlCol="0" anchor="ctr"/>
          <a:lstStyle/>
          <a:p>
            <a:pPr algn="ctr" indent="0" marL="0">
              <a:buNone/>
            </a:pPr>
            <a:r>
              <a:rPr lang="en-US" sz="3600" b="1" dirty="0">
                <a:solidFill>
                  <a:srgbClr val="1F2937"/>
                </a:solidFill>
                <a:latin typeface="Calibri" pitchFamily="34" charset="0"/>
                <a:ea typeface="Calibri" pitchFamily="34" charset="-122"/>
                <a:cs typeface="Calibri" pitchFamily="34" charset="-120"/>
              </a:rPr>
              <a:t>~2,400</a:t>
            </a:r>
            <a:endParaRPr lang="en-US" sz="3600" dirty="0"/>
          </a:p>
        </p:txBody>
      </p:sp>
      <p:sp>
        <p:nvSpPr>
          <p:cNvPr id="16" name="Text 14"/>
          <p:cNvSpPr/>
          <p:nvPr/>
        </p:nvSpPr>
        <p:spPr>
          <a:xfrm>
            <a:off x="3474720" y="2926080"/>
            <a:ext cx="2514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events/profile</a:t>
            </a:r>
            <a:endParaRPr lang="en-US" sz="1000" dirty="0"/>
          </a:p>
        </p:txBody>
      </p:sp>
      <p:sp>
        <p:nvSpPr>
          <p:cNvPr id="17" name="Shape 15"/>
          <p:cNvSpPr/>
          <p:nvPr/>
        </p:nvSpPr>
        <p:spPr>
          <a:xfrm>
            <a:off x="6217920" y="1737360"/>
            <a:ext cx="2697480" cy="1554480"/>
          </a:xfrm>
          <a:prstGeom prst="rect">
            <a:avLst/>
          </a:prstGeom>
          <a:solidFill>
            <a:srgbClr val="F8FAFC"/>
          </a:solidFill>
          <a:ln w="12700">
            <a:solidFill>
              <a:srgbClr val="E2E8F0"/>
            </a:solidFill>
            <a:prstDash val="solid"/>
          </a:ln>
        </p:spPr>
      </p:sp>
      <p:sp>
        <p:nvSpPr>
          <p:cNvPr id="18" name="Shape 16"/>
          <p:cNvSpPr/>
          <p:nvPr/>
        </p:nvSpPr>
        <p:spPr>
          <a:xfrm>
            <a:off x="6217920" y="1737360"/>
            <a:ext cx="2697480" cy="64008"/>
          </a:xfrm>
          <a:prstGeom prst="rect">
            <a:avLst/>
          </a:prstGeom>
          <a:solidFill>
            <a:srgbClr val="0D9488"/>
          </a:solidFill>
          <a:ln w="12700">
            <a:solidFill>
              <a:srgbClr val="0D9488"/>
            </a:solidFill>
            <a:prstDash val="solid"/>
          </a:ln>
        </p:spPr>
      </p:sp>
      <p:sp>
        <p:nvSpPr>
          <p:cNvPr id="19" name="Text 17"/>
          <p:cNvSpPr/>
          <p:nvPr/>
        </p:nvSpPr>
        <p:spPr>
          <a:xfrm>
            <a:off x="6309360" y="1874520"/>
            <a:ext cx="2514600" cy="320040"/>
          </a:xfrm>
          <a:prstGeom prst="rect">
            <a:avLst/>
          </a:prstGeom>
          <a:noFill/>
          <a:ln/>
        </p:spPr>
        <p:txBody>
          <a:bodyPr wrap="square" lIns="0" tIns="0" rIns="0" bIns="0" rtlCol="0" anchor="ctr"/>
          <a:lstStyle/>
          <a:p>
            <a:pPr algn="ctr" indent="0" marL="0">
              <a:buNone/>
            </a:pPr>
            <a:r>
              <a:rPr lang="en-US" sz="1100" b="1" spc="200" kern="0" dirty="0">
                <a:solidFill>
                  <a:srgbClr val="6B7280"/>
                </a:solidFill>
                <a:latin typeface="Calibri" pitchFamily="34" charset="0"/>
                <a:ea typeface="Calibri" pitchFamily="34" charset="-122"/>
                <a:cs typeface="Calibri" pitchFamily="34" charset="-120"/>
              </a:rPr>
              <a:t>p99</a:t>
            </a:r>
            <a:endParaRPr lang="en-US" sz="1100" dirty="0"/>
          </a:p>
        </p:txBody>
      </p:sp>
      <p:sp>
        <p:nvSpPr>
          <p:cNvPr id="20" name="Text 18"/>
          <p:cNvSpPr/>
          <p:nvPr/>
        </p:nvSpPr>
        <p:spPr>
          <a:xfrm>
            <a:off x="6309360" y="2194560"/>
            <a:ext cx="2514600" cy="731520"/>
          </a:xfrm>
          <a:prstGeom prst="rect">
            <a:avLst/>
          </a:prstGeom>
          <a:noFill/>
          <a:ln/>
        </p:spPr>
        <p:txBody>
          <a:bodyPr wrap="square" lIns="0" tIns="0" rIns="0" bIns="0" rtlCol="0" anchor="ctr"/>
          <a:lstStyle/>
          <a:p>
            <a:pPr algn="ctr" indent="0" marL="0">
              <a:buNone/>
            </a:pPr>
            <a:r>
              <a:rPr lang="en-US" sz="3600" b="1" dirty="0">
                <a:solidFill>
                  <a:srgbClr val="1F2937"/>
                </a:solidFill>
                <a:latin typeface="Calibri" pitchFamily="34" charset="0"/>
                <a:ea typeface="Calibri" pitchFamily="34" charset="-122"/>
                <a:cs typeface="Calibri" pitchFamily="34" charset="-120"/>
              </a:rPr>
              <a:t>~4,200</a:t>
            </a:r>
            <a:endParaRPr lang="en-US" sz="3600" dirty="0"/>
          </a:p>
        </p:txBody>
      </p:sp>
      <p:sp>
        <p:nvSpPr>
          <p:cNvPr id="21" name="Text 19"/>
          <p:cNvSpPr/>
          <p:nvPr/>
        </p:nvSpPr>
        <p:spPr>
          <a:xfrm>
            <a:off x="6309360" y="2926080"/>
            <a:ext cx="2514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events/profile</a:t>
            </a:r>
            <a:endParaRPr lang="en-US" sz="1000" dirty="0"/>
          </a:p>
        </p:txBody>
      </p:sp>
      <p:sp>
        <p:nvSpPr>
          <p:cNvPr id="22" name="Shape 20"/>
          <p:cNvSpPr/>
          <p:nvPr/>
        </p:nvSpPr>
        <p:spPr>
          <a:xfrm>
            <a:off x="9052560" y="1737360"/>
            <a:ext cx="2697480" cy="1554480"/>
          </a:xfrm>
          <a:prstGeom prst="rect">
            <a:avLst/>
          </a:prstGeom>
          <a:solidFill>
            <a:srgbClr val="F8FAFC"/>
          </a:solidFill>
          <a:ln w="12700">
            <a:solidFill>
              <a:srgbClr val="E2E8F0"/>
            </a:solidFill>
            <a:prstDash val="solid"/>
          </a:ln>
        </p:spPr>
      </p:sp>
      <p:sp>
        <p:nvSpPr>
          <p:cNvPr id="23" name="Shape 21"/>
          <p:cNvSpPr/>
          <p:nvPr/>
        </p:nvSpPr>
        <p:spPr>
          <a:xfrm>
            <a:off x="9052560" y="1737360"/>
            <a:ext cx="2697480" cy="64008"/>
          </a:xfrm>
          <a:prstGeom prst="rect">
            <a:avLst/>
          </a:prstGeom>
          <a:solidFill>
            <a:srgbClr val="0D9488"/>
          </a:solidFill>
          <a:ln w="12700">
            <a:solidFill>
              <a:srgbClr val="0D9488"/>
            </a:solidFill>
            <a:prstDash val="solid"/>
          </a:ln>
        </p:spPr>
      </p:sp>
      <p:sp>
        <p:nvSpPr>
          <p:cNvPr id="24" name="Text 22"/>
          <p:cNvSpPr/>
          <p:nvPr/>
        </p:nvSpPr>
        <p:spPr>
          <a:xfrm>
            <a:off x="9144000" y="1874520"/>
            <a:ext cx="2514600" cy="320040"/>
          </a:xfrm>
          <a:prstGeom prst="rect">
            <a:avLst/>
          </a:prstGeom>
          <a:noFill/>
          <a:ln/>
        </p:spPr>
        <p:txBody>
          <a:bodyPr wrap="square" lIns="0" tIns="0" rIns="0" bIns="0" rtlCol="0" anchor="ctr"/>
          <a:lstStyle/>
          <a:p>
            <a:pPr algn="ctr" indent="0" marL="0">
              <a:buNone/>
            </a:pPr>
            <a:r>
              <a:rPr lang="en-US" sz="1100" b="1" spc="200" kern="0" dirty="0">
                <a:solidFill>
                  <a:srgbClr val="6B7280"/>
                </a:solidFill>
                <a:latin typeface="Calibri" pitchFamily="34" charset="0"/>
                <a:ea typeface="Calibri" pitchFamily="34" charset="-122"/>
                <a:cs typeface="Calibri" pitchFamily="34" charset="-120"/>
              </a:rPr>
              <a:t>p99.9</a:t>
            </a:r>
            <a:endParaRPr lang="en-US" sz="1100" dirty="0"/>
          </a:p>
        </p:txBody>
      </p:sp>
      <p:sp>
        <p:nvSpPr>
          <p:cNvPr id="25" name="Text 23"/>
          <p:cNvSpPr/>
          <p:nvPr/>
        </p:nvSpPr>
        <p:spPr>
          <a:xfrm>
            <a:off x="9144000" y="2194560"/>
            <a:ext cx="2514600" cy="731520"/>
          </a:xfrm>
          <a:prstGeom prst="rect">
            <a:avLst/>
          </a:prstGeom>
          <a:noFill/>
          <a:ln/>
        </p:spPr>
        <p:txBody>
          <a:bodyPr wrap="square" lIns="0" tIns="0" rIns="0" bIns="0" rtlCol="0" anchor="ctr"/>
          <a:lstStyle/>
          <a:p>
            <a:pPr algn="ctr" indent="0" marL="0">
              <a:buNone/>
            </a:pPr>
            <a:r>
              <a:rPr lang="en-US" sz="3600" b="1" dirty="0">
                <a:solidFill>
                  <a:srgbClr val="1F2937"/>
                </a:solidFill>
                <a:latin typeface="Calibri" pitchFamily="34" charset="0"/>
                <a:ea typeface="Calibri" pitchFamily="34" charset="-122"/>
                <a:cs typeface="Calibri" pitchFamily="34" charset="-120"/>
              </a:rPr>
              <a:t>~11,800</a:t>
            </a:r>
            <a:endParaRPr lang="en-US" sz="3600" dirty="0"/>
          </a:p>
        </p:txBody>
      </p:sp>
      <p:sp>
        <p:nvSpPr>
          <p:cNvPr id="26" name="Text 24"/>
          <p:cNvSpPr/>
          <p:nvPr/>
        </p:nvSpPr>
        <p:spPr>
          <a:xfrm>
            <a:off x="9144000" y="2926080"/>
            <a:ext cx="2514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events/profile</a:t>
            </a:r>
            <a:endParaRPr lang="en-US" sz="1000" dirty="0"/>
          </a:p>
        </p:txBody>
      </p:sp>
      <p:sp>
        <p:nvSpPr>
          <p:cNvPr id="27" name="Shape 25"/>
          <p:cNvSpPr/>
          <p:nvPr/>
        </p:nvSpPr>
        <p:spPr>
          <a:xfrm>
            <a:off x="548640" y="3520440"/>
            <a:ext cx="11064240" cy="1097280"/>
          </a:xfrm>
          <a:prstGeom prst="rect">
            <a:avLst/>
          </a:prstGeom>
          <a:solidFill>
            <a:srgbClr val="FEF3C7"/>
          </a:solidFill>
          <a:ln w="12700">
            <a:solidFill>
              <a:srgbClr val="D97706"/>
            </a:solidFill>
            <a:prstDash val="solid"/>
          </a:ln>
        </p:spPr>
      </p:sp>
      <p:sp>
        <p:nvSpPr>
          <p:cNvPr id="28" name="Shape 26"/>
          <p:cNvSpPr/>
          <p:nvPr/>
        </p:nvSpPr>
        <p:spPr>
          <a:xfrm>
            <a:off x="548640" y="3520440"/>
            <a:ext cx="73152" cy="1097280"/>
          </a:xfrm>
          <a:prstGeom prst="rect">
            <a:avLst/>
          </a:prstGeom>
          <a:solidFill>
            <a:srgbClr val="D97706"/>
          </a:solidFill>
          <a:ln w="12700">
            <a:solidFill>
              <a:srgbClr val="D97706"/>
            </a:solidFill>
            <a:prstDash val="solid"/>
          </a:ln>
        </p:spPr>
      </p:sp>
      <p:sp>
        <p:nvSpPr>
          <p:cNvPr id="29" name="Text 27"/>
          <p:cNvSpPr/>
          <p:nvPr/>
        </p:nvSpPr>
        <p:spPr>
          <a:xfrm>
            <a:off x="822960" y="3611880"/>
            <a:ext cx="10698480" cy="32004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AEP operating envelope</a:t>
            </a:r>
            <a:endParaRPr lang="en-US" sz="1300" dirty="0"/>
          </a:p>
        </p:txBody>
      </p:sp>
      <p:sp>
        <p:nvSpPr>
          <p:cNvPr id="30" name="Text 28"/>
          <p:cNvSpPr/>
          <p:nvPr/>
        </p:nvSpPr>
        <p:spPr>
          <a:xfrm>
            <a:off x="822960" y="3931920"/>
            <a:ext cx="10698480" cy="64008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Supported at our contract tier up to ~5,000 events per profile for standard operations. Degrades gracefully for segmentation; less gracefully for edge / real-time eval. MVP use cases are all batch + segmentation — we are within envelope but not comfortably within it.</a:t>
            </a:r>
            <a:endParaRPr lang="en-US" sz="1100" dirty="0"/>
          </a:p>
        </p:txBody>
      </p:sp>
      <p:sp>
        <p:nvSpPr>
          <p:cNvPr id="31" name="Text 29"/>
          <p:cNvSpPr/>
          <p:nvPr/>
        </p:nvSpPr>
        <p:spPr>
          <a:xfrm>
            <a:off x="548640" y="4846320"/>
            <a:ext cx="10972800" cy="274320"/>
          </a:xfrm>
          <a:prstGeom prst="rect">
            <a:avLst/>
          </a:prstGeom>
          <a:noFill/>
          <a:ln/>
        </p:spPr>
        <p:txBody>
          <a:bodyPr wrap="square" lIns="0" tIns="0" rIns="0" bIns="0" rtlCol="0" anchor="ctr"/>
          <a:lstStyle/>
          <a:p>
            <a:pPr indent="0" marL="0">
              <a:buNone/>
            </a:pPr>
            <a:r>
              <a:rPr lang="en-US" sz="1000" b="1" spc="300" kern="0" dirty="0">
                <a:solidFill>
                  <a:srgbClr val="6B7280"/>
                </a:solidFill>
                <a:latin typeface="Calibri" pitchFamily="34" charset="0"/>
                <a:ea typeface="Calibri" pitchFamily="34" charset="-122"/>
                <a:cs typeface="Calibri" pitchFamily="34" charset="-120"/>
              </a:rPr>
              <a:t>TWO LEVERS TO REDUCE</a:t>
            </a:r>
            <a:endParaRPr lang="en-US" sz="1000" dirty="0"/>
          </a:p>
        </p:txBody>
      </p:sp>
      <p:sp>
        <p:nvSpPr>
          <p:cNvPr id="32" name="Shape 30"/>
          <p:cNvSpPr/>
          <p:nvPr/>
        </p:nvSpPr>
        <p:spPr>
          <a:xfrm>
            <a:off x="548640" y="5166360"/>
            <a:ext cx="5394960" cy="1097280"/>
          </a:xfrm>
          <a:prstGeom prst="rect">
            <a:avLst/>
          </a:prstGeom>
          <a:solidFill>
            <a:srgbClr val="FFFFFF"/>
          </a:solidFill>
          <a:ln w="12700">
            <a:solidFill>
              <a:srgbClr val="E2E8F0"/>
            </a:solidFill>
            <a:prstDash val="solid"/>
          </a:ln>
        </p:spPr>
      </p:sp>
      <p:sp>
        <p:nvSpPr>
          <p:cNvPr id="33" name="Text 31"/>
          <p:cNvSpPr/>
          <p:nvPr/>
        </p:nvSpPr>
        <p:spPr>
          <a:xfrm>
            <a:off x="731520" y="5257800"/>
            <a:ext cx="5029200" cy="3200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Shorter retention</a:t>
            </a:r>
            <a:endParaRPr lang="en-US" sz="1400" dirty="0"/>
          </a:p>
        </p:txBody>
      </p:sp>
      <p:sp>
        <p:nvSpPr>
          <p:cNvPr id="34" name="Text 32"/>
          <p:cNvSpPr/>
          <p:nvPr/>
        </p:nvSpPr>
        <p:spPr>
          <a:xfrm>
            <a:off x="731520" y="5577840"/>
            <a:ext cx="5029200" cy="6400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Reduces p99 but hurts marketing use cases. NOT recommended.</a:t>
            </a:r>
            <a:endParaRPr lang="en-US" sz="1100" dirty="0"/>
          </a:p>
        </p:txBody>
      </p:sp>
      <p:sp>
        <p:nvSpPr>
          <p:cNvPr id="35" name="Shape 33"/>
          <p:cNvSpPr/>
          <p:nvPr/>
        </p:nvSpPr>
        <p:spPr>
          <a:xfrm>
            <a:off x="6126480" y="5166360"/>
            <a:ext cx="5486400" cy="1097280"/>
          </a:xfrm>
          <a:prstGeom prst="rect">
            <a:avLst/>
          </a:prstGeom>
          <a:solidFill>
            <a:srgbClr val="F0FDF4"/>
          </a:solidFill>
          <a:ln w="12700">
            <a:solidFill>
              <a:srgbClr val="059669"/>
            </a:solidFill>
            <a:prstDash val="solid"/>
          </a:ln>
        </p:spPr>
      </p:sp>
      <p:sp>
        <p:nvSpPr>
          <p:cNvPr id="36" name="Text 34"/>
          <p:cNvSpPr/>
          <p:nvPr/>
        </p:nvSpPr>
        <p:spPr>
          <a:xfrm>
            <a:off x="6309360" y="5257800"/>
            <a:ext cx="5212080" cy="3200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Same-merchant same-day collapse</a:t>
            </a:r>
            <a:endParaRPr lang="en-US" sz="1400" dirty="0"/>
          </a:p>
        </p:txBody>
      </p:sp>
      <p:sp>
        <p:nvSpPr>
          <p:cNvPr id="37" name="Text 35"/>
          <p:cNvSpPr/>
          <p:nvPr/>
        </p:nvSpPr>
        <p:spPr>
          <a:xfrm>
            <a:off x="6309360" y="5577840"/>
            <a:ext cx="5212080" cy="6400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Reduces event count 15–25%. Recommend as optional MVP toggle pending Analytics input.</a:t>
            </a:r>
            <a:endParaRPr lang="en-US" sz="1100" dirty="0"/>
          </a:p>
        </p:txBody>
      </p:sp>
      <p:sp>
        <p:nvSpPr>
          <p:cNvPr id="38" name="Shape 36"/>
          <p:cNvSpPr/>
          <p:nvPr/>
        </p:nvSpPr>
        <p:spPr>
          <a:xfrm>
            <a:off x="548640" y="6446520"/>
            <a:ext cx="11064240" cy="0"/>
          </a:xfrm>
          <a:prstGeom prst="line">
            <a:avLst/>
          </a:prstGeom>
          <a:noFill/>
          <a:ln w="9525">
            <a:solidFill>
              <a:srgbClr val="E2E8F0"/>
            </a:solidFill>
            <a:prstDash val="solid"/>
          </a:ln>
        </p:spPr>
      </p:sp>
      <p:sp>
        <p:nvSpPr>
          <p:cNvPr id="39" name="Text 37"/>
          <p:cNvSpPr/>
          <p:nvPr/>
        </p:nvSpPr>
        <p:spPr>
          <a:xfrm>
            <a:off x="548640" y="6537960"/>
            <a:ext cx="4572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Enterprise Data Platform</a:t>
            </a:r>
            <a:endParaRPr lang="en-US" sz="900" dirty="0"/>
          </a:p>
        </p:txBody>
      </p:sp>
      <p:sp>
        <p:nvSpPr>
          <p:cNvPr id="40" name="Text 38"/>
          <p:cNvSpPr/>
          <p:nvPr/>
        </p:nvSpPr>
        <p:spPr>
          <a:xfrm>
            <a:off x="5120640" y="6537960"/>
            <a:ext cx="5486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Flywheel — Current State &amp; Options · v1 · April 8, 2026</a:t>
            </a:r>
            <a:endParaRPr lang="en-US" sz="900" dirty="0"/>
          </a:p>
        </p:txBody>
      </p:sp>
      <p:sp>
        <p:nvSpPr>
          <p:cNvPr id="41" name="Text 39"/>
          <p:cNvSpPr/>
          <p:nvPr/>
        </p:nvSpPr>
        <p:spPr>
          <a:xfrm>
            <a:off x="1133856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228600"/>
          </a:xfrm>
          <a:prstGeom prst="rect">
            <a:avLst/>
          </a:prstGeom>
          <a:solidFill>
            <a:srgbClr val="1F2937"/>
          </a:solidFill>
          <a:ln w="12700">
            <a:solidFill>
              <a:srgbClr val="1F2937"/>
            </a:solidFill>
            <a:prstDash val="solid"/>
          </a:ln>
        </p:spPr>
      </p:sp>
      <p:sp>
        <p:nvSpPr>
          <p:cNvPr id="3" name="Shape 1"/>
          <p:cNvSpPr/>
          <p:nvPr/>
        </p:nvSpPr>
        <p:spPr>
          <a:xfrm>
            <a:off x="0" y="228600"/>
            <a:ext cx="12161520" cy="36576"/>
          </a:xfrm>
          <a:prstGeom prst="rect">
            <a:avLst/>
          </a:prstGeom>
          <a:solidFill>
            <a:srgbClr val="0D9488"/>
          </a:solidFill>
          <a:ln w="12700">
            <a:solidFill>
              <a:srgbClr val="0D9488"/>
            </a:solidFill>
            <a:prstDash val="solid"/>
          </a:ln>
        </p:spPr>
      </p:sp>
      <p:sp>
        <p:nvSpPr>
          <p:cNvPr id="4" name="Text 2"/>
          <p:cNvSpPr/>
          <p:nvPr/>
        </p:nvSpPr>
        <p:spPr>
          <a:xfrm>
            <a:off x="548640" y="502920"/>
            <a:ext cx="10972800" cy="548640"/>
          </a:xfrm>
          <a:prstGeom prst="rect">
            <a:avLst/>
          </a:prstGeom>
          <a:noFill/>
          <a:ln/>
        </p:spPr>
        <p:txBody>
          <a:bodyPr wrap="square" lIns="0" tIns="0" rIns="0" bIns="0" rtlCol="0" anchor="ctr"/>
          <a:lstStyle/>
          <a:p>
            <a:pPr indent="0" marL="0">
              <a:buNone/>
            </a:pPr>
            <a:r>
              <a:rPr lang="en-US" sz="2600" b="1" dirty="0">
                <a:solidFill>
                  <a:srgbClr val="1F2937"/>
                </a:solidFill>
                <a:latin typeface="Calibri" pitchFamily="34" charset="0"/>
                <a:ea typeface="Calibri" pitchFamily="34" charset="-122"/>
                <a:cs typeface="Calibri" pitchFamily="34" charset="-120"/>
              </a:rPr>
              <a:t>Proposed 'raw-ish' AEP transaction schema</a:t>
            </a:r>
            <a:endParaRPr lang="en-US" sz="2600" dirty="0"/>
          </a:p>
        </p:txBody>
      </p:sp>
      <p:sp>
        <p:nvSpPr>
          <p:cNvPr id="5" name="Text 3"/>
          <p:cNvSpPr/>
          <p:nvPr/>
        </p:nvSpPr>
        <p:spPr>
          <a:xfrm>
            <a:off x="548640" y="1051560"/>
            <a:ext cx="1097280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v2 — after Linh's field-strike review</a:t>
            </a:r>
            <a:endParaRPr lang="en-US" sz="1300" dirty="0"/>
          </a:p>
        </p:txBody>
      </p:sp>
      <p:sp>
        <p:nvSpPr>
          <p:cNvPr id="6" name="Shape 4"/>
          <p:cNvSpPr/>
          <p:nvPr/>
        </p:nvSpPr>
        <p:spPr>
          <a:xfrm>
            <a:off x="548640" y="1417320"/>
            <a:ext cx="457200" cy="45720"/>
          </a:xfrm>
          <a:prstGeom prst="rect">
            <a:avLst/>
          </a:prstGeom>
          <a:solidFill>
            <a:srgbClr val="0D9488"/>
          </a:solidFill>
          <a:ln w="12700">
            <a:solidFill>
              <a:srgbClr val="0D9488"/>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7772400" cy="914400"/>
        </p:xfrm>
        <a:graphic>
          <a:graphicData uri="http://schemas.openxmlformats.org/drawingml/2006/table">
            <a:tbl>
              <a:tblPr/>
              <a:tblGrid>
                <a:gridCol w="2560320"/>
                <a:gridCol w="1645920"/>
                <a:gridCol w="3566160"/>
              </a:tblGrid>
              <a:tr h="20116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Field</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solidFill>
                      <a:srgbClr val="1F2937"/>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Type</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solidFill>
                      <a:srgbClr val="1F2937"/>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Notes</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solidFill>
                      <a:srgbClr val="1F2937"/>
                    </a:solidFill>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eventId</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UUID</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Generated · idempotency key</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customerId</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String</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AEP profile identity</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linkedCustomerId</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String</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Joint accountholder (nullable)</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accountId</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String</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Internal account ID (not PAN)</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tokenizedPan</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String</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Stable across reissuance</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timestampAuth</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ISO8601</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Auth time UTC</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timestampSettle</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ISO8601</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Settlement time, nullable</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amountSettle</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Decimal</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Settled USD</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amountOriginal</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Decimal</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Original currency amount</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currencyOriginal</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ISO4217</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Original currency</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mcc</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String</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Raw MCC</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mccCluster</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String</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12-cluster mapping (v1)</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merchantDescriptorRaw</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String</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Unmodified descriptor</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merchantName</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String</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Normalized merchant name</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merchantChainId</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String</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Nullable; top 500 merchants</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merchantCity / State / Country</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String</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Extracted from TSYS</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channel</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Enum</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Online / Swipe / Chip / Contactless / ATM</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transactionType</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Enum</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Purchase / Refund / Credit / Cashback</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authResult</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Enum</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Approved / Declined</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declineReason</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String</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Populated when declined</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disputeFlag</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Bool</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Derived from Fraud system at ingest</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r h="201168">
                <a:tc>
                  <a:txBody>
                    <a:bodyPr/>
                    <a:lstStyle/>
                    <a:p>
                      <a:pPr indent="0" marL="0">
                        <a:buNone/>
                      </a:pPr>
                      <a:r>
                        <a:rPr lang="en-US" sz="1000" b="1" dirty="0">
                          <a:solidFill>
                            <a:srgbClr val="1F2937"/>
                          </a:solidFill>
                          <a:latin typeface="Consolas" pitchFamily="34" charset="0"/>
                          <a:ea typeface="Consolas" pitchFamily="34" charset="-122"/>
                          <a:cs typeface="Consolas" pitchFamily="34" charset="-120"/>
                        </a:rPr>
                        <a:t>refundFlag / reversedFlag</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D9488"/>
                          </a:solidFill>
                          <a:latin typeface="Consolas" pitchFamily="34" charset="0"/>
                          <a:ea typeface="Consolas" pitchFamily="34" charset="-122"/>
                          <a:cs typeface="Consolas" pitchFamily="34" charset="-120"/>
                        </a:rPr>
                        <a:t>Bool</a:t>
                      </a:r>
                      <a:endParaRPr lang="en-US" sz="1000" dirty="0">
                        <a:latin typeface="Consolas" charset="0"/>
                        <a:ea typeface="Consolas" charset="0"/>
                        <a:cs typeface="Consolas"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75569"/>
                          </a:solidFill>
                          <a:latin typeface="Calibri" pitchFamily="34" charset="0"/>
                          <a:ea typeface="Calibri" pitchFamily="34" charset="-122"/>
                          <a:cs typeface="Calibri" pitchFamily="34" charset="-120"/>
                        </a:rPr>
                        <a:t>From TSYS</a:t>
                      </a:r>
                      <a:endParaRPr lang="en-US" sz="1000" dirty="0">
                        <a:latin typeface="Calibri" charset="0"/>
                        <a:ea typeface="Calibri" charset="0"/>
                        <a:cs typeface="Calibri" charset="0"/>
                      </a:endParaRPr>
                    </a:p>
                  </a:txBody>
                  <a:tcPr marL="91440" marR="91440" marT="45720" marB="45720" anchor="ctr">
                    <a:lnL w="5080" cap="flat" cmpd="sng" algn="ctr">
                      <a:solidFill>
                        <a:srgbClr val="E2E8F0"/>
                      </a:solidFill>
                      <a:prstDash val="solid"/>
                      <a:round/>
                      <a:headEnd type="none" w="med" len="med"/>
                      <a:tailEnd type="none" w="med" len="med"/>
                    </a:lnL>
                    <a:lnR w="5080" cap="flat" cmpd="sng" algn="ctr">
                      <a:solidFill>
                        <a:srgbClr val="E2E8F0"/>
                      </a:solidFill>
                      <a:prstDash val="solid"/>
                      <a:round/>
                      <a:headEnd type="none" w="med" len="med"/>
                      <a:tailEnd type="none" w="med" len="med"/>
                    </a:lnR>
                    <a:lnT w="5080" cap="flat" cmpd="sng" algn="ctr">
                      <a:solidFill>
                        <a:srgbClr val="E2E8F0"/>
                      </a:solidFill>
                      <a:prstDash val="solid"/>
                      <a:round/>
                      <a:headEnd type="none" w="med" len="med"/>
                      <a:tailEnd type="none" w="med" len="med"/>
                    </a:lnT>
                    <a:lnB w="5080" cap="flat" cmpd="sng" algn="ctr">
                      <a:solidFill>
                        <a:srgbClr val="E2E8F0"/>
                      </a:solidFill>
                      <a:prstDash val="solid"/>
                      <a:round/>
                      <a:headEnd type="none" w="med" len="med"/>
                      <a:tailEnd type="none" w="med" len="med"/>
                    </a:lnB>
                  </a:tcPr>
                </a:tc>
              </a:tr>
            </a:tbl>
          </a:graphicData>
        </a:graphic>
      </p:graphicFrame>
      <p:sp>
        <p:nvSpPr>
          <p:cNvPr id="8" name="Shape 5"/>
          <p:cNvSpPr/>
          <p:nvPr/>
        </p:nvSpPr>
        <p:spPr>
          <a:xfrm>
            <a:off x="8503920" y="1737360"/>
            <a:ext cx="3108960" cy="4572000"/>
          </a:xfrm>
          <a:prstGeom prst="rect">
            <a:avLst/>
          </a:prstGeom>
          <a:solidFill>
            <a:srgbClr val="FEF2F2"/>
          </a:solidFill>
          <a:ln w="12700">
            <a:solidFill>
              <a:srgbClr val="DC2626"/>
            </a:solidFill>
            <a:prstDash val="solid"/>
          </a:ln>
        </p:spPr>
      </p:sp>
      <p:sp>
        <p:nvSpPr>
          <p:cNvPr id="9" name="Shape 6"/>
          <p:cNvSpPr/>
          <p:nvPr/>
        </p:nvSpPr>
        <p:spPr>
          <a:xfrm>
            <a:off x="8503920" y="1737360"/>
            <a:ext cx="3108960" cy="54864"/>
          </a:xfrm>
          <a:prstGeom prst="rect">
            <a:avLst/>
          </a:prstGeom>
          <a:solidFill>
            <a:srgbClr val="DC2626"/>
          </a:solidFill>
          <a:ln w="12700">
            <a:solidFill>
              <a:srgbClr val="DC2626"/>
            </a:solidFill>
            <a:prstDash val="solid"/>
          </a:ln>
        </p:spPr>
      </p:sp>
      <p:sp>
        <p:nvSpPr>
          <p:cNvPr id="10" name="Text 7"/>
          <p:cNvSpPr/>
          <p:nvPr/>
        </p:nvSpPr>
        <p:spPr>
          <a:xfrm>
            <a:off x="8641080" y="1874520"/>
            <a:ext cx="2880360" cy="274320"/>
          </a:xfrm>
          <a:prstGeom prst="rect">
            <a:avLst/>
          </a:prstGeom>
          <a:noFill/>
          <a:ln/>
        </p:spPr>
        <p:txBody>
          <a:bodyPr wrap="square" lIns="0" tIns="0" rIns="0" bIns="0" rtlCol="0" anchor="ctr"/>
          <a:lstStyle/>
          <a:p>
            <a:pPr indent="0" marL="0">
              <a:buNone/>
            </a:pPr>
            <a:r>
              <a:rPr lang="en-US" sz="1000" b="1" spc="300" kern="0" dirty="0">
                <a:solidFill>
                  <a:srgbClr val="DC2626"/>
                </a:solidFill>
                <a:latin typeface="Calibri" pitchFamily="34" charset="0"/>
                <a:ea typeface="Calibri" pitchFamily="34" charset="-122"/>
                <a:cs typeface="Calibri" pitchFamily="34" charset="-120"/>
              </a:rPr>
              <a:t>DROPPED FROM FEED</a:t>
            </a:r>
            <a:endParaRPr lang="en-US" sz="1000" dirty="0"/>
          </a:p>
        </p:txBody>
      </p:sp>
      <p:sp>
        <p:nvSpPr>
          <p:cNvPr id="11" name="Text 8"/>
          <p:cNvSpPr/>
          <p:nvPr/>
        </p:nvSpPr>
        <p:spPr>
          <a:xfrm>
            <a:off x="8641080" y="2194560"/>
            <a:ext cx="2880360" cy="548640"/>
          </a:xfrm>
          <a:prstGeom prst="rect">
            <a:avLst/>
          </a:prstGeom>
          <a:noFill/>
          <a:ln/>
        </p:spPr>
        <p:txBody>
          <a:bodyPr wrap="square" lIns="0" tIns="0" rIns="0" bIns="0"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31 fields stripped at ingestion — unused by marketing.</a:t>
            </a:r>
            <a:endParaRPr lang="en-US" sz="1000" dirty="0"/>
          </a:p>
        </p:txBody>
      </p:sp>
      <p:sp>
        <p:nvSpPr>
          <p:cNvPr id="12" name="Text 9"/>
          <p:cNvSpPr/>
          <p:nvPr/>
        </p:nvSpPr>
        <p:spPr>
          <a:xfrm>
            <a:off x="8732520" y="2834640"/>
            <a:ext cx="2743200" cy="338328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1F2937"/>
                </a:solidFill>
                <a:latin typeface="Consolas" pitchFamily="34" charset="0"/>
                <a:ea typeface="Consolas" pitchFamily="34" charset="-122"/>
                <a:cs typeface="Consolas" pitchFamily="34" charset="-120"/>
              </a:rPr>
              <a:t>POS entry mode</a:t>
            </a:r>
            <a:endParaRPr lang="en-US" sz="1100" dirty="0"/>
          </a:p>
          <a:p>
            <a:pPr marL="342900" indent="-342900">
              <a:spcAft>
                <a:spcPts val="300"/>
              </a:spcAft>
              <a:buSzPct val="100000"/>
              <a:buChar char="•"/>
            </a:pPr>
            <a:r>
              <a:rPr lang="en-US" sz="1100" dirty="0">
                <a:solidFill>
                  <a:srgbClr val="1F2937"/>
                </a:solidFill>
                <a:latin typeface="Consolas" pitchFamily="34" charset="0"/>
                <a:ea typeface="Consolas" pitchFamily="34" charset="-122"/>
                <a:cs typeface="Consolas" pitchFamily="34" charset="-120"/>
              </a:rPr>
              <a:t>Terminal ID</a:t>
            </a:r>
            <a:endParaRPr lang="en-US" sz="1100" dirty="0"/>
          </a:p>
          <a:p>
            <a:pPr marL="342900" indent="-342900">
              <a:spcAft>
                <a:spcPts val="300"/>
              </a:spcAft>
              <a:buSzPct val="100000"/>
              <a:buChar char="•"/>
            </a:pPr>
            <a:r>
              <a:rPr lang="en-US" sz="1100" dirty="0">
                <a:solidFill>
                  <a:srgbClr val="1F2937"/>
                </a:solidFill>
                <a:latin typeface="Consolas" pitchFamily="34" charset="0"/>
                <a:ea typeface="Consolas" pitchFamily="34" charset="-122"/>
                <a:cs typeface="Consolas" pitchFamily="34" charset="-120"/>
              </a:rPr>
              <a:t>Batch / reel identifiers</a:t>
            </a:r>
            <a:endParaRPr lang="en-US" sz="1100" dirty="0"/>
          </a:p>
          <a:p>
            <a:pPr marL="342900" indent="-342900">
              <a:spcAft>
                <a:spcPts val="300"/>
              </a:spcAft>
              <a:buSzPct val="100000"/>
              <a:buChar char="•"/>
            </a:pPr>
            <a:r>
              <a:rPr lang="en-US" sz="1100" dirty="0">
                <a:solidFill>
                  <a:srgbClr val="1F2937"/>
                </a:solidFill>
                <a:latin typeface="Consolas" pitchFamily="34" charset="0"/>
                <a:ea typeface="Consolas" pitchFamily="34" charset="-122"/>
                <a:cs typeface="Consolas" pitchFamily="34" charset="-120"/>
              </a:rPr>
              <a:t>Acquirer BIN</a:t>
            </a:r>
            <a:endParaRPr lang="en-US" sz="1100" dirty="0"/>
          </a:p>
          <a:p>
            <a:pPr marL="342900" indent="-342900">
              <a:spcAft>
                <a:spcPts val="300"/>
              </a:spcAft>
              <a:buSzPct val="100000"/>
              <a:buChar char="•"/>
            </a:pPr>
            <a:r>
              <a:rPr lang="en-US" sz="1100" dirty="0">
                <a:solidFill>
                  <a:srgbClr val="1F2937"/>
                </a:solidFill>
                <a:latin typeface="Consolas" pitchFamily="34" charset="0"/>
                <a:ea typeface="Consolas" pitchFamily="34" charset="-122"/>
                <a:cs typeface="Consolas" pitchFamily="34" charset="-120"/>
              </a:rPr>
              <a:t>Auth code</a:t>
            </a:r>
            <a:endParaRPr lang="en-US" sz="1100" dirty="0"/>
          </a:p>
          <a:p>
            <a:pPr marL="342900" indent="-342900">
              <a:spcAft>
                <a:spcPts val="300"/>
              </a:spcAft>
              <a:buSzPct val="100000"/>
              <a:buChar char="•"/>
            </a:pPr>
            <a:r>
              <a:rPr lang="en-US" sz="1100" dirty="0">
                <a:solidFill>
                  <a:srgbClr val="1F2937"/>
                </a:solidFill>
                <a:latin typeface="Consolas" pitchFamily="34" charset="0"/>
                <a:ea typeface="Consolas" pitchFamily="34" charset="-122"/>
                <a:cs typeface="Consolas" pitchFamily="34" charset="-120"/>
              </a:rPr>
              <a:t>Response code</a:t>
            </a:r>
            <a:endParaRPr lang="en-US" sz="1100" dirty="0"/>
          </a:p>
          <a:p>
            <a:pPr marL="342900" indent="-342900">
              <a:spcAft>
                <a:spcPts val="300"/>
              </a:spcAft>
              <a:buSzPct val="100000"/>
              <a:buChar char="•"/>
            </a:pPr>
            <a:r>
              <a:rPr lang="en-US" sz="1100" dirty="0">
                <a:solidFill>
                  <a:srgbClr val="1F2937"/>
                </a:solidFill>
                <a:latin typeface="Consolas" pitchFamily="34" charset="0"/>
                <a:ea typeface="Consolas" pitchFamily="34" charset="-122"/>
                <a:cs typeface="Consolas" pitchFamily="34" charset="-120"/>
              </a:rPr>
              <a:t>Full track data</a:t>
            </a:r>
            <a:endParaRPr lang="en-US" sz="1100" dirty="0"/>
          </a:p>
          <a:p>
            <a:pPr marL="342900" indent="-342900">
              <a:spcAft>
                <a:spcPts val="300"/>
              </a:spcAft>
              <a:buSzPct val="100000"/>
              <a:buChar char="•"/>
            </a:pPr>
            <a:r>
              <a:rPr lang="en-US" sz="1100" dirty="0">
                <a:solidFill>
                  <a:srgbClr val="1F2937"/>
                </a:solidFill>
                <a:latin typeface="Consolas" pitchFamily="34" charset="0"/>
                <a:ea typeface="Consolas" pitchFamily="34" charset="-122"/>
                <a:cs typeface="Consolas" pitchFamily="34" charset="-120"/>
              </a:rPr>
              <a:t>MCC subcode</a:t>
            </a:r>
            <a:endParaRPr lang="en-US" sz="1100" dirty="0"/>
          </a:p>
          <a:p>
            <a:pPr indent="0" marL="0">
              <a:spcAft>
                <a:spcPts val="300"/>
              </a:spcAft>
              <a:buNone/>
            </a:pPr>
            <a:r>
              <a:rPr lang="en-US" sz="1100" i="1" dirty="0">
                <a:solidFill>
                  <a:srgbClr val="1F2937"/>
                </a:solidFill>
                <a:latin typeface="Consolas" pitchFamily="34" charset="0"/>
                <a:ea typeface="Consolas" pitchFamily="34" charset="-122"/>
                <a:cs typeface="Consolas" pitchFamily="34" charset="-120"/>
              </a:rPr>
              <a:t>+23 more operational fields</a:t>
            </a:r>
            <a:endParaRPr lang="en-US" sz="1100" dirty="0"/>
          </a:p>
        </p:txBody>
      </p:sp>
      <p:sp>
        <p:nvSpPr>
          <p:cNvPr id="13" name="Shape 10"/>
          <p:cNvSpPr/>
          <p:nvPr/>
        </p:nvSpPr>
        <p:spPr>
          <a:xfrm>
            <a:off x="548640" y="6446520"/>
            <a:ext cx="11064240" cy="0"/>
          </a:xfrm>
          <a:prstGeom prst="line">
            <a:avLst/>
          </a:prstGeom>
          <a:noFill/>
          <a:ln w="9525">
            <a:solidFill>
              <a:srgbClr val="E2E8F0"/>
            </a:solidFill>
            <a:prstDash val="solid"/>
          </a:ln>
        </p:spPr>
      </p:sp>
      <p:sp>
        <p:nvSpPr>
          <p:cNvPr id="14" name="Text 11"/>
          <p:cNvSpPr/>
          <p:nvPr/>
        </p:nvSpPr>
        <p:spPr>
          <a:xfrm>
            <a:off x="548640" y="6537960"/>
            <a:ext cx="4572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Enterprise Data Platform</a:t>
            </a:r>
            <a:endParaRPr lang="en-US" sz="900" dirty="0"/>
          </a:p>
        </p:txBody>
      </p:sp>
      <p:sp>
        <p:nvSpPr>
          <p:cNvPr id="15" name="Text 12"/>
          <p:cNvSpPr/>
          <p:nvPr/>
        </p:nvSpPr>
        <p:spPr>
          <a:xfrm>
            <a:off x="5120640" y="6537960"/>
            <a:ext cx="5486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Flywheel — Current State &amp; Options · v1 · April 8, 2026</a:t>
            </a:r>
            <a:endParaRPr lang="en-US" sz="900" dirty="0"/>
          </a:p>
        </p:txBody>
      </p:sp>
      <p:sp>
        <p:nvSpPr>
          <p:cNvPr id="16" name="Text 13"/>
          <p:cNvSpPr/>
          <p:nvPr/>
        </p:nvSpPr>
        <p:spPr>
          <a:xfrm>
            <a:off x="1133856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228600"/>
          </a:xfrm>
          <a:prstGeom prst="rect">
            <a:avLst/>
          </a:prstGeom>
          <a:solidFill>
            <a:srgbClr val="1F2937"/>
          </a:solidFill>
          <a:ln w="12700">
            <a:solidFill>
              <a:srgbClr val="1F2937"/>
            </a:solidFill>
            <a:prstDash val="solid"/>
          </a:ln>
        </p:spPr>
      </p:sp>
      <p:sp>
        <p:nvSpPr>
          <p:cNvPr id="3" name="Shape 1"/>
          <p:cNvSpPr/>
          <p:nvPr/>
        </p:nvSpPr>
        <p:spPr>
          <a:xfrm>
            <a:off x="0" y="228600"/>
            <a:ext cx="12161520" cy="36576"/>
          </a:xfrm>
          <a:prstGeom prst="rect">
            <a:avLst/>
          </a:prstGeom>
          <a:solidFill>
            <a:srgbClr val="0D9488"/>
          </a:solidFill>
          <a:ln w="12700">
            <a:solidFill>
              <a:srgbClr val="0D9488"/>
            </a:solidFill>
            <a:prstDash val="solid"/>
          </a:ln>
        </p:spPr>
      </p:sp>
      <p:sp>
        <p:nvSpPr>
          <p:cNvPr id="4" name="Text 2"/>
          <p:cNvSpPr/>
          <p:nvPr/>
        </p:nvSpPr>
        <p:spPr>
          <a:xfrm>
            <a:off x="548640" y="502920"/>
            <a:ext cx="10972800" cy="548640"/>
          </a:xfrm>
          <a:prstGeom prst="rect">
            <a:avLst/>
          </a:prstGeom>
          <a:noFill/>
          <a:ln/>
        </p:spPr>
        <p:txBody>
          <a:bodyPr wrap="square" lIns="0" tIns="0" rIns="0" bIns="0" rtlCol="0" anchor="ctr"/>
          <a:lstStyle/>
          <a:p>
            <a:pPr indent="0" marL="0">
              <a:buNone/>
            </a:pPr>
            <a:r>
              <a:rPr lang="en-US" sz="2600" b="1" dirty="0">
                <a:solidFill>
                  <a:srgbClr val="1F2937"/>
                </a:solidFill>
                <a:latin typeface="Calibri" pitchFamily="34" charset="0"/>
                <a:ea typeface="Calibri" pitchFamily="34" charset="-122"/>
                <a:cs typeface="Calibri" pitchFamily="34" charset="-120"/>
              </a:rPr>
              <a:t>The merchant normalization module</a:t>
            </a:r>
            <a:endParaRPr lang="en-US" sz="2600" dirty="0"/>
          </a:p>
        </p:txBody>
      </p:sp>
      <p:sp>
        <p:nvSpPr>
          <p:cNvPr id="5" name="Text 3"/>
          <p:cNvSpPr/>
          <p:nvPr/>
        </p:nvSpPr>
        <p:spPr>
          <a:xfrm>
            <a:off x="548640" y="1051560"/>
            <a:ext cx="1097280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Per Aisha's recommendation and Will's scoping.</a:t>
            </a:r>
            <a:endParaRPr lang="en-US" sz="1300" dirty="0"/>
          </a:p>
        </p:txBody>
      </p:sp>
      <p:sp>
        <p:nvSpPr>
          <p:cNvPr id="6" name="Shape 4"/>
          <p:cNvSpPr/>
          <p:nvPr/>
        </p:nvSpPr>
        <p:spPr>
          <a:xfrm>
            <a:off x="548640" y="1417320"/>
            <a:ext cx="457200" cy="45720"/>
          </a:xfrm>
          <a:prstGeom prst="rect">
            <a:avLst/>
          </a:prstGeom>
          <a:solidFill>
            <a:srgbClr val="0D9488"/>
          </a:solidFill>
          <a:ln w="12700">
            <a:solidFill>
              <a:srgbClr val="0D9488"/>
            </a:solidFill>
            <a:prstDash val="solid"/>
          </a:ln>
        </p:spPr>
      </p:sp>
      <p:sp>
        <p:nvSpPr>
          <p:cNvPr id="7" name="Shape 5"/>
          <p:cNvSpPr/>
          <p:nvPr/>
        </p:nvSpPr>
        <p:spPr>
          <a:xfrm>
            <a:off x="548640" y="1737360"/>
            <a:ext cx="5394960" cy="3017520"/>
          </a:xfrm>
          <a:prstGeom prst="rect">
            <a:avLst/>
          </a:prstGeom>
          <a:solidFill>
            <a:srgbClr val="F0FDF4"/>
          </a:solidFill>
          <a:ln w="12700">
            <a:solidFill>
              <a:srgbClr val="059669"/>
            </a:solidFill>
            <a:prstDash val="solid"/>
          </a:ln>
        </p:spPr>
      </p:sp>
      <p:sp>
        <p:nvSpPr>
          <p:cNvPr id="8" name="Shape 6"/>
          <p:cNvSpPr/>
          <p:nvPr/>
        </p:nvSpPr>
        <p:spPr>
          <a:xfrm>
            <a:off x="548640" y="1737360"/>
            <a:ext cx="5394960" cy="73152"/>
          </a:xfrm>
          <a:prstGeom prst="rect">
            <a:avLst/>
          </a:prstGeom>
          <a:solidFill>
            <a:srgbClr val="059669"/>
          </a:solidFill>
          <a:ln w="12700">
            <a:solidFill>
              <a:srgbClr val="059669"/>
            </a:solidFill>
            <a:prstDash val="solid"/>
          </a:ln>
        </p:spPr>
      </p:sp>
      <p:sp>
        <p:nvSpPr>
          <p:cNvPr id="9" name="Text 7"/>
          <p:cNvSpPr/>
          <p:nvPr/>
        </p:nvSpPr>
        <p:spPr>
          <a:xfrm>
            <a:off x="731520" y="1874520"/>
            <a:ext cx="5029200" cy="320040"/>
          </a:xfrm>
          <a:prstGeom prst="rect">
            <a:avLst/>
          </a:prstGeom>
          <a:noFill/>
          <a:ln/>
        </p:spPr>
        <p:txBody>
          <a:bodyPr wrap="square" lIns="0" tIns="0" rIns="0" bIns="0" rtlCol="0" anchor="ctr"/>
          <a:lstStyle/>
          <a:p>
            <a:pPr indent="0" marL="0">
              <a:buNone/>
            </a:pPr>
            <a:r>
              <a:rPr lang="en-US" sz="1200" b="1" spc="300" kern="0" dirty="0">
                <a:solidFill>
                  <a:srgbClr val="059669"/>
                </a:solidFill>
                <a:latin typeface="Calibri" pitchFamily="34" charset="0"/>
                <a:ea typeface="Calibri" pitchFamily="34" charset="-122"/>
                <a:cs typeface="Calibri" pitchFamily="34" charset="-120"/>
              </a:rPr>
              <a:t>IN MVP</a:t>
            </a:r>
            <a:endParaRPr lang="en-US" sz="1200" dirty="0"/>
          </a:p>
        </p:txBody>
      </p:sp>
      <p:sp>
        <p:nvSpPr>
          <p:cNvPr id="10" name="Text 8"/>
          <p:cNvSpPr/>
          <p:nvPr/>
        </p:nvSpPr>
        <p:spPr>
          <a:xfrm>
            <a:off x="777240" y="2240280"/>
            <a:ext cx="4983480" cy="24688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Regex cleanup of descriptor strings (store numbers, location suffixes, whitespace)</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Hand-curated lookup table for top ~500 merchants by Meridian txn volume</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Populates merchantName and merchantChainId on ingestion</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Coverage: 60–65% of transactions resolve to a known chain</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Effort: 2–3 weeks DE time + ~3 days Linh</a:t>
            </a:r>
            <a:endParaRPr lang="en-US" sz="1200" dirty="0"/>
          </a:p>
        </p:txBody>
      </p:sp>
      <p:sp>
        <p:nvSpPr>
          <p:cNvPr id="11" name="Shape 9"/>
          <p:cNvSpPr/>
          <p:nvPr/>
        </p:nvSpPr>
        <p:spPr>
          <a:xfrm>
            <a:off x="6126480" y="1737360"/>
            <a:ext cx="5486400" cy="3017520"/>
          </a:xfrm>
          <a:prstGeom prst="rect">
            <a:avLst/>
          </a:prstGeom>
          <a:solidFill>
            <a:srgbClr val="FEF2F2"/>
          </a:solidFill>
          <a:ln w="12700">
            <a:solidFill>
              <a:srgbClr val="DC2626"/>
            </a:solidFill>
            <a:prstDash val="solid"/>
          </a:ln>
        </p:spPr>
      </p:sp>
      <p:sp>
        <p:nvSpPr>
          <p:cNvPr id="12" name="Shape 10"/>
          <p:cNvSpPr/>
          <p:nvPr/>
        </p:nvSpPr>
        <p:spPr>
          <a:xfrm>
            <a:off x="6126480" y="1737360"/>
            <a:ext cx="5486400" cy="73152"/>
          </a:xfrm>
          <a:prstGeom prst="rect">
            <a:avLst/>
          </a:prstGeom>
          <a:solidFill>
            <a:srgbClr val="DC2626"/>
          </a:solidFill>
          <a:ln w="12700">
            <a:solidFill>
              <a:srgbClr val="DC2626"/>
            </a:solidFill>
            <a:prstDash val="solid"/>
          </a:ln>
        </p:spPr>
      </p:sp>
      <p:sp>
        <p:nvSpPr>
          <p:cNvPr id="13" name="Text 11"/>
          <p:cNvSpPr/>
          <p:nvPr/>
        </p:nvSpPr>
        <p:spPr>
          <a:xfrm>
            <a:off x="6309360" y="1874520"/>
            <a:ext cx="5212080" cy="320040"/>
          </a:xfrm>
          <a:prstGeom prst="rect">
            <a:avLst/>
          </a:prstGeom>
          <a:noFill/>
          <a:ln/>
        </p:spPr>
        <p:txBody>
          <a:bodyPr wrap="square" lIns="0" tIns="0" rIns="0" bIns="0" rtlCol="0" anchor="ctr"/>
          <a:lstStyle/>
          <a:p>
            <a:pPr indent="0" marL="0">
              <a:buNone/>
            </a:pPr>
            <a:r>
              <a:rPr lang="en-US" sz="1200" b="1" spc="300" kern="0" dirty="0">
                <a:solidFill>
                  <a:srgbClr val="DC2626"/>
                </a:solidFill>
                <a:latin typeface="Calibri" pitchFamily="34" charset="0"/>
                <a:ea typeface="Calibri" pitchFamily="34" charset="-122"/>
                <a:cs typeface="Calibri" pitchFamily="34" charset="-120"/>
              </a:rPr>
              <a:t>NOT IN MVP</a:t>
            </a:r>
            <a:endParaRPr lang="en-US" sz="1200" dirty="0"/>
          </a:p>
        </p:txBody>
      </p:sp>
      <p:sp>
        <p:nvSpPr>
          <p:cNvPr id="14" name="Text 12"/>
          <p:cNvSpPr/>
          <p:nvPr/>
        </p:nvSpPr>
        <p:spPr>
          <a:xfrm>
            <a:off x="6355080" y="2240280"/>
            <a:ext cx="5120640" cy="24688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Vendor integration (Ingo, Clerk, etc.) — procurement ~12 weeks, Phase 2</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ML-based merchant resolution — Phase 3</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Full merchant taxonomy (industry, brand hierarchy) — separate project, ships 2027</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Geo-enrichment beyond TSYS-provided city/state/country</a:t>
            </a:r>
            <a:endParaRPr lang="en-US" sz="1200" dirty="0"/>
          </a:p>
        </p:txBody>
      </p:sp>
      <p:sp>
        <p:nvSpPr>
          <p:cNvPr id="15" name="Shape 13"/>
          <p:cNvSpPr/>
          <p:nvPr/>
        </p:nvSpPr>
        <p:spPr>
          <a:xfrm>
            <a:off x="548640" y="5120640"/>
            <a:ext cx="11064240" cy="1097280"/>
          </a:xfrm>
          <a:prstGeom prst="rect">
            <a:avLst/>
          </a:prstGeom>
          <a:solidFill>
            <a:srgbClr val="F8FAFC"/>
          </a:solidFill>
          <a:ln w="12700">
            <a:solidFill>
              <a:srgbClr val="E2E8F0"/>
            </a:solidFill>
            <a:prstDash val="solid"/>
          </a:ln>
        </p:spPr>
      </p:sp>
      <p:sp>
        <p:nvSpPr>
          <p:cNvPr id="16" name="Text 14"/>
          <p:cNvSpPr/>
          <p:nvPr/>
        </p:nvSpPr>
        <p:spPr>
          <a:xfrm>
            <a:off x="822960" y="5212080"/>
            <a:ext cx="10515600" cy="91440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Philosophy: </a:t>
            </a:r>
            <a:pPr indent="0" marL="0">
              <a:buNone/>
            </a:pPr>
            <a:r>
              <a:rPr lang="en-US" sz="1300" dirty="0">
                <a:solidFill>
                  <a:srgbClr val="475569"/>
                </a:solidFill>
                <a:latin typeface="Calibri" pitchFamily="34" charset="0"/>
                <a:ea typeface="Calibri" pitchFamily="34" charset="-122"/>
                <a:cs typeface="Calibri" pitchFamily="34" charset="-120"/>
              </a:rPr>
              <a:t>an 80/20 in-house approach that is meaningfully better than raw descriptor strings — not a substitute for a real merchant taxonomy, but a defensible Phase 1 answer.</a:t>
            </a:r>
            <a:endParaRPr lang="en-US" sz="1300" dirty="0"/>
          </a:p>
        </p:txBody>
      </p:sp>
      <p:sp>
        <p:nvSpPr>
          <p:cNvPr id="17" name="Shape 15"/>
          <p:cNvSpPr/>
          <p:nvPr/>
        </p:nvSpPr>
        <p:spPr>
          <a:xfrm>
            <a:off x="548640" y="6446520"/>
            <a:ext cx="11064240" cy="0"/>
          </a:xfrm>
          <a:prstGeom prst="line">
            <a:avLst/>
          </a:prstGeom>
          <a:noFill/>
          <a:ln w="9525">
            <a:solidFill>
              <a:srgbClr val="E2E8F0"/>
            </a:solidFill>
            <a:prstDash val="solid"/>
          </a:ln>
        </p:spPr>
      </p:sp>
      <p:sp>
        <p:nvSpPr>
          <p:cNvPr id="18" name="Text 16"/>
          <p:cNvSpPr/>
          <p:nvPr/>
        </p:nvSpPr>
        <p:spPr>
          <a:xfrm>
            <a:off x="548640" y="6537960"/>
            <a:ext cx="4572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Enterprise Data Platform</a:t>
            </a:r>
            <a:endParaRPr lang="en-US" sz="900" dirty="0"/>
          </a:p>
        </p:txBody>
      </p:sp>
      <p:sp>
        <p:nvSpPr>
          <p:cNvPr id="19" name="Text 17"/>
          <p:cNvSpPr/>
          <p:nvPr/>
        </p:nvSpPr>
        <p:spPr>
          <a:xfrm>
            <a:off x="5120640" y="6537960"/>
            <a:ext cx="5486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Flywheel — Current State &amp; Options · v1 · April 8, 2026</a:t>
            </a:r>
            <a:endParaRPr lang="en-US" sz="900" dirty="0"/>
          </a:p>
        </p:txBody>
      </p:sp>
      <p:sp>
        <p:nvSpPr>
          <p:cNvPr id="20" name="Text 18"/>
          <p:cNvSpPr/>
          <p:nvPr/>
        </p:nvSpPr>
        <p:spPr>
          <a:xfrm>
            <a:off x="1133856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228600"/>
          </a:xfrm>
          <a:prstGeom prst="rect">
            <a:avLst/>
          </a:prstGeom>
          <a:solidFill>
            <a:srgbClr val="1F2937"/>
          </a:solidFill>
          <a:ln w="12700">
            <a:solidFill>
              <a:srgbClr val="1F2937"/>
            </a:solidFill>
            <a:prstDash val="solid"/>
          </a:ln>
        </p:spPr>
      </p:sp>
      <p:sp>
        <p:nvSpPr>
          <p:cNvPr id="3" name="Shape 1"/>
          <p:cNvSpPr/>
          <p:nvPr/>
        </p:nvSpPr>
        <p:spPr>
          <a:xfrm>
            <a:off x="0" y="228600"/>
            <a:ext cx="12161520" cy="36576"/>
          </a:xfrm>
          <a:prstGeom prst="rect">
            <a:avLst/>
          </a:prstGeom>
          <a:solidFill>
            <a:srgbClr val="0D9488"/>
          </a:solidFill>
          <a:ln w="12700">
            <a:solidFill>
              <a:srgbClr val="0D9488"/>
            </a:solidFill>
            <a:prstDash val="solid"/>
          </a:ln>
        </p:spPr>
      </p:sp>
      <p:sp>
        <p:nvSpPr>
          <p:cNvPr id="4" name="Text 2"/>
          <p:cNvSpPr/>
          <p:nvPr/>
        </p:nvSpPr>
        <p:spPr>
          <a:xfrm>
            <a:off x="548640" y="502920"/>
            <a:ext cx="10972800" cy="548640"/>
          </a:xfrm>
          <a:prstGeom prst="rect">
            <a:avLst/>
          </a:prstGeom>
          <a:noFill/>
          <a:ln/>
        </p:spPr>
        <p:txBody>
          <a:bodyPr wrap="square" lIns="0" tIns="0" rIns="0" bIns="0" rtlCol="0" anchor="ctr"/>
          <a:lstStyle/>
          <a:p>
            <a:pPr indent="0" marL="0">
              <a:buNone/>
            </a:pPr>
            <a:r>
              <a:rPr lang="en-US" sz="2600" b="1" dirty="0">
                <a:solidFill>
                  <a:srgbClr val="1F2937"/>
                </a:solidFill>
                <a:latin typeface="Calibri" pitchFamily="34" charset="0"/>
                <a:ea typeface="Calibri" pitchFamily="34" charset="-122"/>
                <a:cs typeface="Calibri" pitchFamily="34" charset="-120"/>
              </a:rPr>
              <a:t>Dispute suppression streaming path</a:t>
            </a:r>
            <a:endParaRPr lang="en-US" sz="2600" dirty="0"/>
          </a:p>
        </p:txBody>
      </p:sp>
      <p:sp>
        <p:nvSpPr>
          <p:cNvPr id="5" name="Text 3"/>
          <p:cNvSpPr/>
          <p:nvPr/>
        </p:nvSpPr>
        <p:spPr>
          <a:xfrm>
            <a:off x="548640" y="1051560"/>
            <a:ext cx="1097280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Scoped separately from main batch pipeline.</a:t>
            </a:r>
            <a:endParaRPr lang="en-US" sz="1300" dirty="0"/>
          </a:p>
        </p:txBody>
      </p:sp>
      <p:sp>
        <p:nvSpPr>
          <p:cNvPr id="6" name="Shape 4"/>
          <p:cNvSpPr/>
          <p:nvPr/>
        </p:nvSpPr>
        <p:spPr>
          <a:xfrm>
            <a:off x="548640" y="1417320"/>
            <a:ext cx="457200" cy="45720"/>
          </a:xfrm>
          <a:prstGeom prst="rect">
            <a:avLst/>
          </a:prstGeom>
          <a:solidFill>
            <a:srgbClr val="0D9488"/>
          </a:solidFill>
          <a:ln w="12700">
            <a:solidFill>
              <a:srgbClr val="0D9488"/>
            </a:solidFill>
            <a:prstDash val="solid"/>
          </a:ln>
        </p:spPr>
      </p:sp>
      <p:sp>
        <p:nvSpPr>
          <p:cNvPr id="7" name="Shape 5"/>
          <p:cNvSpPr/>
          <p:nvPr/>
        </p:nvSpPr>
        <p:spPr>
          <a:xfrm>
            <a:off x="548640" y="1920240"/>
            <a:ext cx="2011680" cy="1463040"/>
          </a:xfrm>
          <a:prstGeom prst="rect">
            <a:avLst/>
          </a:prstGeom>
          <a:solidFill>
            <a:srgbClr val="1F2937"/>
          </a:solidFill>
          <a:ln w="12700">
            <a:solidFill>
              <a:srgbClr val="1F2937"/>
            </a:solidFill>
            <a:prstDash val="solid"/>
          </a:ln>
        </p:spPr>
      </p:sp>
      <p:sp>
        <p:nvSpPr>
          <p:cNvPr id="8" name="Text 6"/>
          <p:cNvSpPr/>
          <p:nvPr/>
        </p:nvSpPr>
        <p:spPr>
          <a:xfrm>
            <a:off x="548640" y="2057400"/>
            <a:ext cx="201168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Fraud &amp;</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Disputes</a:t>
            </a:r>
            <a:endParaRPr lang="en-US" sz="1300" dirty="0"/>
          </a:p>
        </p:txBody>
      </p:sp>
      <p:sp>
        <p:nvSpPr>
          <p:cNvPr id="9" name="Text 7"/>
          <p:cNvSpPr/>
          <p:nvPr/>
        </p:nvSpPr>
        <p:spPr>
          <a:xfrm>
            <a:off x="548640" y="2788920"/>
            <a:ext cx="2011680" cy="502920"/>
          </a:xfrm>
          <a:prstGeom prst="rect">
            <a:avLst/>
          </a:prstGeom>
          <a:noFill/>
          <a:ln/>
        </p:spPr>
        <p:txBody>
          <a:bodyPr wrap="square" lIns="0" tIns="0" rIns="0" bIns="0" rtlCol="0" anchor="ctr"/>
          <a:lstStyle/>
          <a:p>
            <a:pPr algn="ctr" indent="0" marL="0">
              <a:buNone/>
            </a:pPr>
            <a:r>
              <a:rPr lang="en-US" sz="900" i="1" dirty="0">
                <a:solidFill>
                  <a:srgbClr val="CBD5E1"/>
                </a:solidFill>
                <a:latin typeface="Calibri" pitchFamily="34" charset="0"/>
                <a:ea typeface="Calibri" pitchFamily="34" charset="-122"/>
                <a:cs typeface="Calibri" pitchFamily="34" charset="-120"/>
              </a:rPr>
              <a:t>case mgmt system</a:t>
            </a:r>
            <a:endParaRPr lang="en-US" sz="900" dirty="0"/>
          </a:p>
        </p:txBody>
      </p:sp>
      <p:sp>
        <p:nvSpPr>
          <p:cNvPr id="10" name="Shape 8"/>
          <p:cNvSpPr/>
          <p:nvPr/>
        </p:nvSpPr>
        <p:spPr>
          <a:xfrm>
            <a:off x="2560320" y="2651760"/>
            <a:ext cx="1005840" cy="0"/>
          </a:xfrm>
          <a:prstGeom prst="line">
            <a:avLst/>
          </a:prstGeom>
          <a:noFill/>
          <a:ln w="25400">
            <a:solidFill>
              <a:srgbClr val="1F2937"/>
            </a:solidFill>
            <a:prstDash val="solid"/>
            <a:tailEnd type="triangle"/>
          </a:ln>
        </p:spPr>
      </p:sp>
      <p:sp>
        <p:nvSpPr>
          <p:cNvPr id="11" name="Shape 9"/>
          <p:cNvSpPr/>
          <p:nvPr/>
        </p:nvSpPr>
        <p:spPr>
          <a:xfrm>
            <a:off x="3566160" y="1920240"/>
            <a:ext cx="2011680" cy="1463040"/>
          </a:xfrm>
          <a:prstGeom prst="rect">
            <a:avLst/>
          </a:prstGeom>
          <a:solidFill>
            <a:srgbClr val="1F2937"/>
          </a:solidFill>
          <a:ln w="12700">
            <a:solidFill>
              <a:srgbClr val="1F2937"/>
            </a:solidFill>
            <a:prstDash val="solid"/>
          </a:ln>
        </p:spPr>
      </p:sp>
      <p:sp>
        <p:nvSpPr>
          <p:cNvPr id="12" name="Text 10"/>
          <p:cNvSpPr/>
          <p:nvPr/>
        </p:nvSpPr>
        <p:spPr>
          <a:xfrm>
            <a:off x="3566160" y="2057400"/>
            <a:ext cx="201168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Internal HTTP</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relay</a:t>
            </a:r>
            <a:endParaRPr lang="en-US" sz="1300" dirty="0"/>
          </a:p>
        </p:txBody>
      </p:sp>
      <p:sp>
        <p:nvSpPr>
          <p:cNvPr id="13" name="Text 11"/>
          <p:cNvSpPr/>
          <p:nvPr/>
        </p:nvSpPr>
        <p:spPr>
          <a:xfrm>
            <a:off x="3566160" y="2788920"/>
            <a:ext cx="2011680" cy="502920"/>
          </a:xfrm>
          <a:prstGeom prst="rect">
            <a:avLst/>
          </a:prstGeom>
          <a:noFill/>
          <a:ln/>
        </p:spPr>
        <p:txBody>
          <a:bodyPr wrap="square" lIns="0" tIns="0" rIns="0" bIns="0" rtlCol="0" anchor="ctr"/>
          <a:lstStyle/>
          <a:p>
            <a:pPr algn="ctr" indent="0" marL="0">
              <a:buNone/>
            </a:pPr>
            <a:r>
              <a:rPr lang="en-US" sz="900" i="1" dirty="0">
                <a:solidFill>
                  <a:srgbClr val="CBD5E1"/>
                </a:solidFill>
                <a:latin typeface="Calibri" pitchFamily="34" charset="0"/>
                <a:ea typeface="Calibri" pitchFamily="34" charset="-122"/>
                <a:cs typeface="Calibri" pitchFamily="34" charset="-120"/>
              </a:rPr>
              <a:t>validates · adds customerId</a:t>
            </a:r>
            <a:endParaRPr lang="en-US" sz="900" dirty="0"/>
          </a:p>
        </p:txBody>
      </p:sp>
      <p:sp>
        <p:nvSpPr>
          <p:cNvPr id="14" name="Shape 12"/>
          <p:cNvSpPr/>
          <p:nvPr/>
        </p:nvSpPr>
        <p:spPr>
          <a:xfrm>
            <a:off x="5577840" y="2651760"/>
            <a:ext cx="1005840" cy="0"/>
          </a:xfrm>
          <a:prstGeom prst="line">
            <a:avLst/>
          </a:prstGeom>
          <a:noFill/>
          <a:ln w="25400">
            <a:solidFill>
              <a:srgbClr val="1F2937"/>
            </a:solidFill>
            <a:prstDash val="solid"/>
            <a:tailEnd type="triangle"/>
          </a:ln>
        </p:spPr>
      </p:sp>
      <p:sp>
        <p:nvSpPr>
          <p:cNvPr id="15" name="Shape 13"/>
          <p:cNvSpPr/>
          <p:nvPr/>
        </p:nvSpPr>
        <p:spPr>
          <a:xfrm>
            <a:off x="6583680" y="1920240"/>
            <a:ext cx="2011680" cy="1463040"/>
          </a:xfrm>
          <a:prstGeom prst="rect">
            <a:avLst/>
          </a:prstGeom>
          <a:solidFill>
            <a:srgbClr val="1F2937"/>
          </a:solidFill>
          <a:ln w="12700">
            <a:solidFill>
              <a:srgbClr val="1F2937"/>
            </a:solidFill>
            <a:prstDash val="solid"/>
          </a:ln>
        </p:spPr>
      </p:sp>
      <p:sp>
        <p:nvSpPr>
          <p:cNvPr id="16" name="Text 14"/>
          <p:cNvSpPr/>
          <p:nvPr/>
        </p:nvSpPr>
        <p:spPr>
          <a:xfrm>
            <a:off x="6583680" y="2057400"/>
            <a:ext cx="201168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AEP dispute-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events dataset</a:t>
            </a:r>
            <a:endParaRPr lang="en-US" sz="1300" dirty="0"/>
          </a:p>
        </p:txBody>
      </p:sp>
      <p:sp>
        <p:nvSpPr>
          <p:cNvPr id="17" name="Text 15"/>
          <p:cNvSpPr/>
          <p:nvPr/>
        </p:nvSpPr>
        <p:spPr>
          <a:xfrm>
            <a:off x="6583680" y="2788920"/>
            <a:ext cx="2011680" cy="502920"/>
          </a:xfrm>
          <a:prstGeom prst="rect">
            <a:avLst/>
          </a:prstGeom>
          <a:noFill/>
          <a:ln/>
        </p:spPr>
        <p:txBody>
          <a:bodyPr wrap="square" lIns="0" tIns="0" rIns="0" bIns="0" rtlCol="0" anchor="ctr"/>
          <a:lstStyle/>
          <a:p>
            <a:pPr algn="ctr" indent="0" marL="0">
              <a:buNone/>
            </a:pPr>
            <a:r>
              <a:rPr lang="en-US" sz="900" i="1" dirty="0">
                <a:solidFill>
                  <a:srgbClr val="CBD5E1"/>
                </a:solidFill>
                <a:latin typeface="Calibri" pitchFamily="34" charset="0"/>
                <a:ea typeface="Calibri" pitchFamily="34" charset="-122"/>
                <a:cs typeface="Calibri" pitchFamily="34" charset="-120"/>
              </a:rPr>
              <a:t>profile flag update</a:t>
            </a:r>
            <a:endParaRPr lang="en-US" sz="900" dirty="0"/>
          </a:p>
        </p:txBody>
      </p:sp>
      <p:sp>
        <p:nvSpPr>
          <p:cNvPr id="18" name="Shape 16"/>
          <p:cNvSpPr/>
          <p:nvPr/>
        </p:nvSpPr>
        <p:spPr>
          <a:xfrm>
            <a:off x="8595360" y="2651760"/>
            <a:ext cx="1005840" cy="0"/>
          </a:xfrm>
          <a:prstGeom prst="line">
            <a:avLst/>
          </a:prstGeom>
          <a:noFill/>
          <a:ln w="25400">
            <a:solidFill>
              <a:srgbClr val="1F2937"/>
            </a:solidFill>
            <a:prstDash val="solid"/>
            <a:tailEnd type="triangle"/>
          </a:ln>
        </p:spPr>
      </p:sp>
      <p:sp>
        <p:nvSpPr>
          <p:cNvPr id="19" name="Shape 17"/>
          <p:cNvSpPr/>
          <p:nvPr/>
        </p:nvSpPr>
        <p:spPr>
          <a:xfrm>
            <a:off x="9601200" y="1920240"/>
            <a:ext cx="2011680" cy="1463040"/>
          </a:xfrm>
          <a:prstGeom prst="rect">
            <a:avLst/>
          </a:prstGeom>
          <a:solidFill>
            <a:srgbClr val="0D9488"/>
          </a:solidFill>
          <a:ln w="12700">
            <a:solidFill>
              <a:srgbClr val="0D9488"/>
            </a:solidFill>
            <a:prstDash val="solid"/>
          </a:ln>
        </p:spPr>
      </p:sp>
      <p:sp>
        <p:nvSpPr>
          <p:cNvPr id="20" name="Text 18"/>
          <p:cNvSpPr/>
          <p:nvPr/>
        </p:nvSpPr>
        <p:spPr>
          <a:xfrm>
            <a:off x="9601200" y="2057400"/>
            <a:ext cx="201168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Global marketing</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suppression</a:t>
            </a:r>
            <a:endParaRPr lang="en-US" sz="1300" dirty="0"/>
          </a:p>
        </p:txBody>
      </p:sp>
      <p:sp>
        <p:nvSpPr>
          <p:cNvPr id="21" name="Text 19"/>
          <p:cNvSpPr/>
          <p:nvPr/>
        </p:nvSpPr>
        <p:spPr>
          <a:xfrm>
            <a:off x="9601200" y="2788920"/>
            <a:ext cx="2011680" cy="502920"/>
          </a:xfrm>
          <a:prstGeom prst="rect">
            <a:avLst/>
          </a:prstGeom>
          <a:noFill/>
          <a:ln/>
        </p:spPr>
        <p:txBody>
          <a:bodyPr wrap="square" lIns="0" tIns="0" rIns="0" bIns="0" rtlCol="0" anchor="ctr"/>
          <a:lstStyle/>
          <a:p>
            <a:pPr algn="ctr" indent="0" marL="0">
              <a:buNone/>
            </a:pPr>
            <a:r>
              <a:rPr lang="en-US" sz="900" i="1" dirty="0">
                <a:solidFill>
                  <a:srgbClr val="CBD5E1"/>
                </a:solidFill>
                <a:latin typeface="Calibri" pitchFamily="34" charset="0"/>
                <a:ea typeface="Calibri" pitchFamily="34" charset="-122"/>
                <a:cs typeface="Calibri" pitchFamily="34" charset="-120"/>
              </a:rPr>
              <a:t>all journeys</a:t>
            </a:r>
            <a:endParaRPr lang="en-US" sz="900" dirty="0"/>
          </a:p>
        </p:txBody>
      </p:sp>
      <p:sp>
        <p:nvSpPr>
          <p:cNvPr id="22" name="Shape 20"/>
          <p:cNvSpPr/>
          <p:nvPr/>
        </p:nvSpPr>
        <p:spPr>
          <a:xfrm>
            <a:off x="548640" y="3840480"/>
            <a:ext cx="3566160" cy="1371600"/>
          </a:xfrm>
          <a:prstGeom prst="rect">
            <a:avLst/>
          </a:prstGeom>
          <a:solidFill>
            <a:srgbClr val="F8FAFC"/>
          </a:solidFill>
          <a:ln w="12700">
            <a:solidFill>
              <a:srgbClr val="E2E8F0"/>
            </a:solidFill>
            <a:prstDash val="solid"/>
          </a:ln>
        </p:spPr>
      </p:sp>
      <p:sp>
        <p:nvSpPr>
          <p:cNvPr id="23" name="Text 21"/>
          <p:cNvSpPr/>
          <p:nvPr/>
        </p:nvSpPr>
        <p:spPr>
          <a:xfrm>
            <a:off x="731520" y="3931920"/>
            <a:ext cx="3200400" cy="274320"/>
          </a:xfrm>
          <a:prstGeom prst="rect">
            <a:avLst/>
          </a:prstGeom>
          <a:noFill/>
          <a:ln/>
        </p:spPr>
        <p:txBody>
          <a:bodyPr wrap="square" lIns="0" tIns="0" rIns="0" bIns="0" rtlCol="0" anchor="ctr"/>
          <a:lstStyle/>
          <a:p>
            <a:pPr indent="0" marL="0">
              <a:buNone/>
            </a:pPr>
            <a:r>
              <a:rPr lang="en-US" sz="1000" b="1" spc="300" kern="0" dirty="0">
                <a:solidFill>
                  <a:srgbClr val="6B7280"/>
                </a:solidFill>
                <a:latin typeface="Calibri" pitchFamily="34" charset="0"/>
                <a:ea typeface="Calibri" pitchFamily="34" charset="-122"/>
                <a:cs typeface="Calibri" pitchFamily="34" charset="-120"/>
              </a:rPr>
              <a:t>EVENTS / DAY</a:t>
            </a:r>
            <a:endParaRPr lang="en-US" sz="1000" dirty="0"/>
          </a:p>
        </p:txBody>
      </p:sp>
      <p:sp>
        <p:nvSpPr>
          <p:cNvPr id="24" name="Text 22"/>
          <p:cNvSpPr/>
          <p:nvPr/>
        </p:nvSpPr>
        <p:spPr>
          <a:xfrm>
            <a:off x="731520" y="4206240"/>
            <a:ext cx="3200400" cy="548640"/>
          </a:xfrm>
          <a:prstGeom prst="rect">
            <a:avLst/>
          </a:prstGeom>
          <a:noFill/>
          <a:ln/>
        </p:spPr>
        <p:txBody>
          <a:bodyPr wrap="square" lIns="0" tIns="0" rIns="0" bIns="0" rtlCol="0" anchor="ctr"/>
          <a:lstStyle/>
          <a:p>
            <a:pPr indent="0" marL="0">
              <a:buNone/>
            </a:pPr>
            <a:r>
              <a:rPr lang="en-US" sz="2200" b="1" dirty="0">
                <a:solidFill>
                  <a:srgbClr val="1F2937"/>
                </a:solidFill>
                <a:latin typeface="Calibri" pitchFamily="34" charset="0"/>
                <a:ea typeface="Calibri" pitchFamily="34" charset="-122"/>
                <a:cs typeface="Calibri" pitchFamily="34" charset="-120"/>
              </a:rPr>
              <a:t>~3,000</a:t>
            </a:r>
            <a:endParaRPr lang="en-US" sz="2200" dirty="0"/>
          </a:p>
        </p:txBody>
      </p:sp>
      <p:sp>
        <p:nvSpPr>
          <p:cNvPr id="25" name="Text 23"/>
          <p:cNvSpPr/>
          <p:nvPr/>
        </p:nvSpPr>
        <p:spPr>
          <a:xfrm>
            <a:off x="731520" y="4754880"/>
            <a:ext cx="3200400" cy="365760"/>
          </a:xfrm>
          <a:prstGeom prst="rect">
            <a:avLst/>
          </a:prstGeom>
          <a:noFill/>
          <a:ln/>
        </p:spPr>
        <p:txBody>
          <a:bodyPr wrap="square" lIns="0" tIns="0" rIns="0" bIns="0"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opens + closes + escalations</a:t>
            </a:r>
            <a:endParaRPr lang="en-US" sz="1000" dirty="0"/>
          </a:p>
        </p:txBody>
      </p:sp>
      <p:sp>
        <p:nvSpPr>
          <p:cNvPr id="26" name="Shape 24"/>
          <p:cNvSpPr/>
          <p:nvPr/>
        </p:nvSpPr>
        <p:spPr>
          <a:xfrm>
            <a:off x="4297680" y="3840480"/>
            <a:ext cx="3566160" cy="1371600"/>
          </a:xfrm>
          <a:prstGeom prst="rect">
            <a:avLst/>
          </a:prstGeom>
          <a:solidFill>
            <a:srgbClr val="F8FAFC"/>
          </a:solidFill>
          <a:ln w="12700">
            <a:solidFill>
              <a:srgbClr val="E2E8F0"/>
            </a:solidFill>
            <a:prstDash val="solid"/>
          </a:ln>
        </p:spPr>
      </p:sp>
      <p:sp>
        <p:nvSpPr>
          <p:cNvPr id="27" name="Text 25"/>
          <p:cNvSpPr/>
          <p:nvPr/>
        </p:nvSpPr>
        <p:spPr>
          <a:xfrm>
            <a:off x="4480560" y="3931920"/>
            <a:ext cx="3200400" cy="274320"/>
          </a:xfrm>
          <a:prstGeom prst="rect">
            <a:avLst/>
          </a:prstGeom>
          <a:noFill/>
          <a:ln/>
        </p:spPr>
        <p:txBody>
          <a:bodyPr wrap="square" lIns="0" tIns="0" rIns="0" bIns="0" rtlCol="0" anchor="ctr"/>
          <a:lstStyle/>
          <a:p>
            <a:pPr indent="0" marL="0">
              <a:buNone/>
            </a:pPr>
            <a:r>
              <a:rPr lang="en-US" sz="1000" b="1" spc="300" kern="0" dirty="0">
                <a:solidFill>
                  <a:srgbClr val="6B7280"/>
                </a:solidFill>
                <a:latin typeface="Calibri" pitchFamily="34" charset="0"/>
                <a:ea typeface="Calibri" pitchFamily="34" charset="-122"/>
                <a:cs typeface="Calibri" pitchFamily="34" charset="-120"/>
              </a:rPr>
              <a:t>SLA TARGET</a:t>
            </a:r>
            <a:endParaRPr lang="en-US" sz="1000" dirty="0"/>
          </a:p>
        </p:txBody>
      </p:sp>
      <p:sp>
        <p:nvSpPr>
          <p:cNvPr id="28" name="Text 26"/>
          <p:cNvSpPr/>
          <p:nvPr/>
        </p:nvSpPr>
        <p:spPr>
          <a:xfrm>
            <a:off x="4480560" y="4206240"/>
            <a:ext cx="3200400" cy="548640"/>
          </a:xfrm>
          <a:prstGeom prst="rect">
            <a:avLst/>
          </a:prstGeom>
          <a:noFill/>
          <a:ln/>
        </p:spPr>
        <p:txBody>
          <a:bodyPr wrap="square" lIns="0" tIns="0" rIns="0" bIns="0" rtlCol="0" anchor="ctr"/>
          <a:lstStyle/>
          <a:p>
            <a:pPr indent="0" marL="0">
              <a:buNone/>
            </a:pPr>
            <a:r>
              <a:rPr lang="en-US" sz="2200" b="1" dirty="0">
                <a:solidFill>
                  <a:srgbClr val="1F2937"/>
                </a:solidFill>
                <a:latin typeface="Calibri" pitchFamily="34" charset="0"/>
                <a:ea typeface="Calibri" pitchFamily="34" charset="-122"/>
                <a:cs typeface="Calibri" pitchFamily="34" charset="-120"/>
              </a:rPr>
              <a:t>≤4 hours</a:t>
            </a:r>
            <a:endParaRPr lang="en-US" sz="2200" dirty="0"/>
          </a:p>
        </p:txBody>
      </p:sp>
      <p:sp>
        <p:nvSpPr>
          <p:cNvPr id="29" name="Text 27"/>
          <p:cNvSpPr/>
          <p:nvPr/>
        </p:nvSpPr>
        <p:spPr>
          <a:xfrm>
            <a:off x="4480560" y="4754880"/>
            <a:ext cx="3200400" cy="365760"/>
          </a:xfrm>
          <a:prstGeom prst="rect">
            <a:avLst/>
          </a:prstGeom>
          <a:noFill/>
          <a:ln/>
        </p:spPr>
        <p:txBody>
          <a:bodyPr wrap="square" lIns="0" tIns="0" rIns="0" bIns="0"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status change → AEP update</a:t>
            </a:r>
            <a:endParaRPr lang="en-US" sz="1000" dirty="0"/>
          </a:p>
        </p:txBody>
      </p:sp>
      <p:sp>
        <p:nvSpPr>
          <p:cNvPr id="30" name="Shape 28"/>
          <p:cNvSpPr/>
          <p:nvPr/>
        </p:nvSpPr>
        <p:spPr>
          <a:xfrm>
            <a:off x="8046720" y="3840480"/>
            <a:ext cx="3566160" cy="1371600"/>
          </a:xfrm>
          <a:prstGeom prst="rect">
            <a:avLst/>
          </a:prstGeom>
          <a:solidFill>
            <a:srgbClr val="F8FAFC"/>
          </a:solidFill>
          <a:ln w="12700">
            <a:solidFill>
              <a:srgbClr val="E2E8F0"/>
            </a:solidFill>
            <a:prstDash val="solid"/>
          </a:ln>
        </p:spPr>
      </p:sp>
      <p:sp>
        <p:nvSpPr>
          <p:cNvPr id="31" name="Text 29"/>
          <p:cNvSpPr/>
          <p:nvPr/>
        </p:nvSpPr>
        <p:spPr>
          <a:xfrm>
            <a:off x="8229600" y="3931920"/>
            <a:ext cx="3200400" cy="274320"/>
          </a:xfrm>
          <a:prstGeom prst="rect">
            <a:avLst/>
          </a:prstGeom>
          <a:noFill/>
          <a:ln/>
        </p:spPr>
        <p:txBody>
          <a:bodyPr wrap="square" lIns="0" tIns="0" rIns="0" bIns="0" rtlCol="0" anchor="ctr"/>
          <a:lstStyle/>
          <a:p>
            <a:pPr indent="0" marL="0">
              <a:buNone/>
            </a:pPr>
            <a:r>
              <a:rPr lang="en-US" sz="1000" b="1" spc="300" kern="0" dirty="0">
                <a:solidFill>
                  <a:srgbClr val="6B7280"/>
                </a:solidFill>
                <a:latin typeface="Calibri" pitchFamily="34" charset="0"/>
                <a:ea typeface="Calibri" pitchFamily="34" charset="-122"/>
                <a:cs typeface="Calibri" pitchFamily="34" charset="-120"/>
              </a:rPr>
              <a:t>FAILURE MODE</a:t>
            </a:r>
            <a:endParaRPr lang="en-US" sz="1000" dirty="0"/>
          </a:p>
        </p:txBody>
      </p:sp>
      <p:sp>
        <p:nvSpPr>
          <p:cNvPr id="32" name="Text 30"/>
          <p:cNvSpPr/>
          <p:nvPr/>
        </p:nvSpPr>
        <p:spPr>
          <a:xfrm>
            <a:off x="8229600" y="4206240"/>
            <a:ext cx="3200400" cy="548640"/>
          </a:xfrm>
          <a:prstGeom prst="rect">
            <a:avLst/>
          </a:prstGeom>
          <a:noFill/>
          <a:ln/>
        </p:spPr>
        <p:txBody>
          <a:bodyPr wrap="square" lIns="0" tIns="0" rIns="0" bIns="0" rtlCol="0" anchor="ctr"/>
          <a:lstStyle/>
          <a:p>
            <a:pPr indent="0" marL="0">
              <a:buNone/>
            </a:pPr>
            <a:r>
              <a:rPr lang="en-US" sz="2200" b="1" dirty="0">
                <a:solidFill>
                  <a:srgbClr val="1F2937"/>
                </a:solidFill>
                <a:latin typeface="Calibri" pitchFamily="34" charset="0"/>
                <a:ea typeface="Calibri" pitchFamily="34" charset="-122"/>
                <a:cs typeface="Calibri" pitchFamily="34" charset="-120"/>
              </a:rPr>
              <a:t>Fail-closed</a:t>
            </a:r>
            <a:endParaRPr lang="en-US" sz="2200" dirty="0"/>
          </a:p>
        </p:txBody>
      </p:sp>
      <p:sp>
        <p:nvSpPr>
          <p:cNvPr id="33" name="Text 31"/>
          <p:cNvSpPr/>
          <p:nvPr/>
        </p:nvSpPr>
        <p:spPr>
          <a:xfrm>
            <a:off x="8229600" y="4754880"/>
            <a:ext cx="3200400" cy="365760"/>
          </a:xfrm>
          <a:prstGeom prst="rect">
            <a:avLst/>
          </a:prstGeom>
          <a:noFill/>
          <a:ln/>
        </p:spPr>
        <p:txBody>
          <a:bodyPr wrap="square" lIns="0" tIns="0" rIns="0" bIns="0"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suppress if feed goes stale &gt;2hr</a:t>
            </a:r>
            <a:endParaRPr lang="en-US" sz="1000" dirty="0"/>
          </a:p>
        </p:txBody>
      </p:sp>
      <p:sp>
        <p:nvSpPr>
          <p:cNvPr id="34" name="Shape 32"/>
          <p:cNvSpPr/>
          <p:nvPr/>
        </p:nvSpPr>
        <p:spPr>
          <a:xfrm>
            <a:off x="548640" y="5394960"/>
            <a:ext cx="11064240" cy="914400"/>
          </a:xfrm>
          <a:prstGeom prst="rect">
            <a:avLst/>
          </a:prstGeom>
          <a:solidFill>
            <a:srgbClr val="FEF3C7"/>
          </a:solidFill>
          <a:ln w="12700">
            <a:solidFill>
              <a:srgbClr val="D97706"/>
            </a:solidFill>
            <a:prstDash val="solid"/>
          </a:ln>
        </p:spPr>
      </p:sp>
      <p:sp>
        <p:nvSpPr>
          <p:cNvPr id="35" name="Shape 33"/>
          <p:cNvSpPr/>
          <p:nvPr/>
        </p:nvSpPr>
        <p:spPr>
          <a:xfrm>
            <a:off x="548640" y="5394960"/>
            <a:ext cx="73152" cy="914400"/>
          </a:xfrm>
          <a:prstGeom prst="rect">
            <a:avLst/>
          </a:prstGeom>
          <a:solidFill>
            <a:srgbClr val="D97706"/>
          </a:solidFill>
          <a:ln w="12700">
            <a:solidFill>
              <a:srgbClr val="D97706"/>
            </a:solidFill>
            <a:prstDash val="solid"/>
          </a:ln>
        </p:spPr>
      </p:sp>
      <p:sp>
        <p:nvSpPr>
          <p:cNvPr id="36" name="Text 34"/>
          <p:cNvSpPr/>
          <p:nvPr/>
        </p:nvSpPr>
        <p:spPr>
          <a:xfrm>
            <a:off x="822960" y="5394960"/>
            <a:ext cx="10698480" cy="914400"/>
          </a:xfrm>
          <a:prstGeom prst="rect">
            <a:avLst/>
          </a:prstGeom>
          <a:noFill/>
          <a:ln/>
        </p:spPr>
        <p:txBody>
          <a:bodyPr wrap="square" lIns="0" tIns="0" rIns="0" bIns="0" rtlCol="0" anchor="ctr"/>
          <a:lstStyle/>
          <a:p>
            <a:pPr indent="0" marL="0">
              <a:buNone/>
            </a:pPr>
            <a:r>
              <a:rPr lang="en-US" sz="1200" b="1" i="1" dirty="0">
                <a:solidFill>
                  <a:srgbClr val="D97706"/>
                </a:solidFill>
                <a:latin typeface="Calibri" pitchFamily="34" charset="0"/>
                <a:ea typeface="Calibri" pitchFamily="34" charset="-122"/>
                <a:cs typeface="Calibri" pitchFamily="34" charset="-120"/>
              </a:rPr>
              <a:t>Per Rachel: </a:t>
            </a:r>
            <a:pPr indent="0" marL="0">
              <a:buNone/>
            </a:pPr>
            <a:r>
              <a:rPr lang="en-US" sz="1200" i="1" dirty="0">
                <a:solidFill>
                  <a:srgbClr val="1F2937"/>
                </a:solidFill>
                <a:latin typeface="Calibri" pitchFamily="34" charset="0"/>
                <a:ea typeface="Calibri" pitchFamily="34" charset="-122"/>
                <a:cs typeface="Calibri" pitchFamily="34" charset="-120"/>
              </a:rPr>
              <a:t>if the feed fails we'd rather suppress legitimate marketing for a day than email a customer whose dispute status we don't know.</a:t>
            </a:r>
            <a:endParaRPr lang="en-US" sz="1200" dirty="0"/>
          </a:p>
        </p:txBody>
      </p:sp>
      <p:sp>
        <p:nvSpPr>
          <p:cNvPr id="37" name="Shape 35"/>
          <p:cNvSpPr/>
          <p:nvPr/>
        </p:nvSpPr>
        <p:spPr>
          <a:xfrm>
            <a:off x="548640" y="6446520"/>
            <a:ext cx="11064240" cy="0"/>
          </a:xfrm>
          <a:prstGeom prst="line">
            <a:avLst/>
          </a:prstGeom>
          <a:noFill/>
          <a:ln w="9525">
            <a:solidFill>
              <a:srgbClr val="E2E8F0"/>
            </a:solidFill>
            <a:prstDash val="solid"/>
          </a:ln>
        </p:spPr>
      </p:sp>
      <p:sp>
        <p:nvSpPr>
          <p:cNvPr id="38" name="Text 36"/>
          <p:cNvSpPr/>
          <p:nvPr/>
        </p:nvSpPr>
        <p:spPr>
          <a:xfrm>
            <a:off x="548640" y="6537960"/>
            <a:ext cx="4572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Enterprise Data Platform</a:t>
            </a:r>
            <a:endParaRPr lang="en-US" sz="900" dirty="0"/>
          </a:p>
        </p:txBody>
      </p:sp>
      <p:sp>
        <p:nvSpPr>
          <p:cNvPr id="39" name="Text 37"/>
          <p:cNvSpPr/>
          <p:nvPr/>
        </p:nvSpPr>
        <p:spPr>
          <a:xfrm>
            <a:off x="5120640" y="6537960"/>
            <a:ext cx="5486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Flywheel — Current State &amp; Options · v1 · April 8, 2026</a:t>
            </a:r>
            <a:endParaRPr lang="en-US" sz="900" dirty="0"/>
          </a:p>
        </p:txBody>
      </p:sp>
      <p:sp>
        <p:nvSpPr>
          <p:cNvPr id="40" name="Text 38"/>
          <p:cNvSpPr/>
          <p:nvPr/>
        </p:nvSpPr>
        <p:spPr>
          <a:xfrm>
            <a:off x="1133856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228600"/>
          </a:xfrm>
          <a:prstGeom prst="rect">
            <a:avLst/>
          </a:prstGeom>
          <a:solidFill>
            <a:srgbClr val="1F2937"/>
          </a:solidFill>
          <a:ln w="12700">
            <a:solidFill>
              <a:srgbClr val="1F2937"/>
            </a:solidFill>
            <a:prstDash val="solid"/>
          </a:ln>
        </p:spPr>
      </p:sp>
      <p:sp>
        <p:nvSpPr>
          <p:cNvPr id="3" name="Shape 1"/>
          <p:cNvSpPr/>
          <p:nvPr/>
        </p:nvSpPr>
        <p:spPr>
          <a:xfrm>
            <a:off x="0" y="228600"/>
            <a:ext cx="12161520" cy="36576"/>
          </a:xfrm>
          <a:prstGeom prst="rect">
            <a:avLst/>
          </a:prstGeom>
          <a:solidFill>
            <a:srgbClr val="0D9488"/>
          </a:solidFill>
          <a:ln w="12700">
            <a:solidFill>
              <a:srgbClr val="0D9488"/>
            </a:solidFill>
            <a:prstDash val="solid"/>
          </a:ln>
        </p:spPr>
      </p:sp>
      <p:sp>
        <p:nvSpPr>
          <p:cNvPr id="4" name="Text 2"/>
          <p:cNvSpPr/>
          <p:nvPr/>
        </p:nvSpPr>
        <p:spPr>
          <a:xfrm>
            <a:off x="548640" y="502920"/>
            <a:ext cx="10972800" cy="548640"/>
          </a:xfrm>
          <a:prstGeom prst="rect">
            <a:avLst/>
          </a:prstGeom>
          <a:noFill/>
          <a:ln/>
        </p:spPr>
        <p:txBody>
          <a:bodyPr wrap="square" lIns="0" tIns="0" rIns="0" bIns="0" rtlCol="0" anchor="ctr"/>
          <a:lstStyle/>
          <a:p>
            <a:pPr indent="0" marL="0">
              <a:buNone/>
            </a:pPr>
            <a:r>
              <a:rPr lang="en-US" sz="2600" b="1" dirty="0">
                <a:solidFill>
                  <a:srgbClr val="1F2937"/>
                </a:solidFill>
                <a:latin typeface="Calibri" pitchFamily="34" charset="0"/>
                <a:ea typeface="Calibri" pitchFamily="34" charset="-122"/>
                <a:cs typeface="Calibri" pitchFamily="34" charset="-120"/>
              </a:rPr>
              <a:t>Our recommendation</a:t>
            </a:r>
            <a:endParaRPr lang="en-US" sz="2600" dirty="0"/>
          </a:p>
        </p:txBody>
      </p:sp>
      <p:sp>
        <p:nvSpPr>
          <p:cNvPr id="5" name="Shape 3"/>
          <p:cNvSpPr/>
          <p:nvPr/>
        </p:nvSpPr>
        <p:spPr>
          <a:xfrm>
            <a:off x="548640" y="1097280"/>
            <a:ext cx="457200" cy="45720"/>
          </a:xfrm>
          <a:prstGeom prst="rect">
            <a:avLst/>
          </a:prstGeom>
          <a:solidFill>
            <a:srgbClr val="0D9488"/>
          </a:solidFill>
          <a:ln w="12700">
            <a:solidFill>
              <a:srgbClr val="0D9488"/>
            </a:solidFill>
            <a:prstDash val="solid"/>
          </a:ln>
        </p:spPr>
      </p:sp>
      <p:sp>
        <p:nvSpPr>
          <p:cNvPr id="6" name="Shape 4"/>
          <p:cNvSpPr/>
          <p:nvPr/>
        </p:nvSpPr>
        <p:spPr>
          <a:xfrm>
            <a:off x="548640" y="1737360"/>
            <a:ext cx="11064240" cy="1371600"/>
          </a:xfrm>
          <a:prstGeom prst="rect">
            <a:avLst/>
          </a:prstGeom>
          <a:solidFill>
            <a:srgbClr val="1F2937"/>
          </a:solidFill>
          <a:ln w="12700">
            <a:solidFill>
              <a:srgbClr val="1F2937"/>
            </a:solidFill>
            <a:prstDash val="solid"/>
          </a:ln>
        </p:spPr>
      </p:sp>
      <p:sp>
        <p:nvSpPr>
          <p:cNvPr id="7" name="Shape 5"/>
          <p:cNvSpPr/>
          <p:nvPr/>
        </p:nvSpPr>
        <p:spPr>
          <a:xfrm>
            <a:off x="548640" y="1737360"/>
            <a:ext cx="11064240" cy="73152"/>
          </a:xfrm>
          <a:prstGeom prst="rect">
            <a:avLst/>
          </a:prstGeom>
          <a:solidFill>
            <a:srgbClr val="0D9488"/>
          </a:solidFill>
          <a:ln w="12700">
            <a:solidFill>
              <a:srgbClr val="0D9488"/>
            </a:solidFill>
            <a:prstDash val="solid"/>
          </a:ln>
        </p:spPr>
      </p:sp>
      <p:sp>
        <p:nvSpPr>
          <p:cNvPr id="8" name="Text 6"/>
          <p:cNvSpPr/>
          <p:nvPr/>
        </p:nvSpPr>
        <p:spPr>
          <a:xfrm>
            <a:off x="822960" y="1874520"/>
            <a:ext cx="10515600" cy="320040"/>
          </a:xfrm>
          <a:prstGeom prst="rect">
            <a:avLst/>
          </a:prstGeom>
          <a:noFill/>
          <a:ln/>
        </p:spPr>
        <p:txBody>
          <a:bodyPr wrap="square" lIns="0" tIns="0" rIns="0" bIns="0" rtlCol="0" anchor="ctr"/>
          <a:lstStyle/>
          <a:p>
            <a:pPr indent="0" marL="0">
              <a:buNone/>
            </a:pPr>
            <a:r>
              <a:rPr lang="en-US" sz="1100" b="1" spc="400" kern="0" dirty="0">
                <a:solidFill>
                  <a:srgbClr val="CCFBF1"/>
                </a:solidFill>
                <a:latin typeface="Calibri" pitchFamily="34" charset="0"/>
                <a:ea typeface="Calibri" pitchFamily="34" charset="-122"/>
                <a:cs typeface="Calibri" pitchFamily="34" charset="-120"/>
              </a:rPr>
              <a:t>OPTION B</a:t>
            </a:r>
            <a:endParaRPr lang="en-US" sz="1100" dirty="0"/>
          </a:p>
        </p:txBody>
      </p:sp>
      <p:sp>
        <p:nvSpPr>
          <p:cNvPr id="9" name="Text 7"/>
          <p:cNvSpPr/>
          <p:nvPr/>
        </p:nvSpPr>
        <p:spPr>
          <a:xfrm>
            <a:off x="822960" y="2194560"/>
            <a:ext cx="10515600" cy="8686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Raw-ish transactions in AEP (daily batch) with scoped additions</a:t>
            </a:r>
            <a:endParaRPr lang="en-US" sz="2400" dirty="0"/>
          </a:p>
        </p:txBody>
      </p:sp>
      <p:sp>
        <p:nvSpPr>
          <p:cNvPr id="10" name="Text 8"/>
          <p:cNvSpPr/>
          <p:nvPr/>
        </p:nvSpPr>
        <p:spPr>
          <a:xfrm>
            <a:off x="548640" y="3337560"/>
            <a:ext cx="3657600" cy="320040"/>
          </a:xfrm>
          <a:prstGeom prst="rect">
            <a:avLst/>
          </a:prstGeom>
          <a:noFill/>
          <a:ln/>
        </p:spPr>
        <p:txBody>
          <a:bodyPr wrap="square" lIns="0" tIns="0" rIns="0" bIns="0" rtlCol="0" anchor="ctr"/>
          <a:lstStyle/>
          <a:p>
            <a:pPr indent="0" marL="0">
              <a:buNone/>
            </a:pPr>
            <a:r>
              <a:rPr lang="en-US" sz="1100" b="1" spc="300" kern="0" dirty="0">
                <a:solidFill>
                  <a:srgbClr val="059669"/>
                </a:solidFill>
                <a:latin typeface="Calibri" pitchFamily="34" charset="0"/>
                <a:ea typeface="Calibri" pitchFamily="34" charset="-122"/>
                <a:cs typeface="Calibri" pitchFamily="34" charset="-120"/>
              </a:rPr>
              <a:t>WITH:</a:t>
            </a:r>
            <a:endParaRPr lang="en-US" sz="1100" dirty="0"/>
          </a:p>
        </p:txBody>
      </p:sp>
      <p:sp>
        <p:nvSpPr>
          <p:cNvPr id="11" name="Text 9"/>
          <p:cNvSpPr/>
          <p:nvPr/>
        </p:nvSpPr>
        <p:spPr>
          <a:xfrm>
            <a:off x="777240" y="3657600"/>
            <a:ext cx="5212080" cy="219456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Lightweight in-house merchant normalization</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Narrow streaming side-path for dispute suppression</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Permanent hybrid feature authoring (AEP + Snowflake)</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13-month rolling retention with hard delete</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Same-merchant same-day collapse as optional toggle</a:t>
            </a:r>
            <a:endParaRPr lang="en-US" sz="1200" dirty="0"/>
          </a:p>
        </p:txBody>
      </p:sp>
      <p:sp>
        <p:nvSpPr>
          <p:cNvPr id="12" name="Text 10"/>
          <p:cNvSpPr/>
          <p:nvPr/>
        </p:nvSpPr>
        <p:spPr>
          <a:xfrm>
            <a:off x="6309360" y="3337560"/>
            <a:ext cx="4572000" cy="320040"/>
          </a:xfrm>
          <a:prstGeom prst="rect">
            <a:avLst/>
          </a:prstGeom>
          <a:noFill/>
          <a:ln/>
        </p:spPr>
        <p:txBody>
          <a:bodyPr wrap="square" lIns="0" tIns="0" rIns="0" bIns="0" rtlCol="0" anchor="ctr"/>
          <a:lstStyle/>
          <a:p>
            <a:pPr indent="0" marL="0">
              <a:buNone/>
            </a:pPr>
            <a:r>
              <a:rPr lang="en-US" sz="1100" b="1" spc="300" kern="0" dirty="0">
                <a:solidFill>
                  <a:srgbClr val="DC2626"/>
                </a:solidFill>
                <a:latin typeface="Calibri" pitchFamily="34" charset="0"/>
                <a:ea typeface="Calibri" pitchFamily="34" charset="-122"/>
                <a:cs typeface="Calibri" pitchFamily="34" charset="-120"/>
              </a:rPr>
              <a:t>NOT RECOMMENDED:</a:t>
            </a:r>
            <a:endParaRPr lang="en-US" sz="1100" dirty="0"/>
          </a:p>
        </p:txBody>
      </p:sp>
      <p:sp>
        <p:nvSpPr>
          <p:cNvPr id="13" name="Text 11"/>
          <p:cNvSpPr/>
          <p:nvPr/>
        </p:nvSpPr>
        <p:spPr>
          <a:xfrm>
            <a:off x="6537960" y="3657600"/>
            <a:ext cx="5029200" cy="219456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Option A — does not solve the core problem</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Option C — unjustified cost; revisit Phase 3</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Blocking on Merchant Taxonomy project — ships too late</a:t>
            </a:r>
            <a:endParaRPr lang="en-US" sz="1200" dirty="0"/>
          </a:p>
        </p:txBody>
      </p:sp>
      <p:sp>
        <p:nvSpPr>
          <p:cNvPr id="14" name="Shape 12"/>
          <p:cNvSpPr/>
          <p:nvPr/>
        </p:nvSpPr>
        <p:spPr>
          <a:xfrm>
            <a:off x="548640" y="6446520"/>
            <a:ext cx="11064240" cy="0"/>
          </a:xfrm>
          <a:prstGeom prst="line">
            <a:avLst/>
          </a:prstGeom>
          <a:noFill/>
          <a:ln w="9525">
            <a:solidFill>
              <a:srgbClr val="E2E8F0"/>
            </a:solidFill>
            <a:prstDash val="solid"/>
          </a:ln>
        </p:spPr>
      </p:sp>
      <p:sp>
        <p:nvSpPr>
          <p:cNvPr id="15" name="Text 13"/>
          <p:cNvSpPr/>
          <p:nvPr/>
        </p:nvSpPr>
        <p:spPr>
          <a:xfrm>
            <a:off x="548640" y="6537960"/>
            <a:ext cx="4572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Enterprise Data Platform</a:t>
            </a:r>
            <a:endParaRPr lang="en-US" sz="900" dirty="0"/>
          </a:p>
        </p:txBody>
      </p:sp>
      <p:sp>
        <p:nvSpPr>
          <p:cNvPr id="16" name="Text 14"/>
          <p:cNvSpPr/>
          <p:nvPr/>
        </p:nvSpPr>
        <p:spPr>
          <a:xfrm>
            <a:off x="5120640" y="6537960"/>
            <a:ext cx="5486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Flywheel — Current State &amp; Options · v1 · April 8, 2026</a:t>
            </a:r>
            <a:endParaRPr lang="en-US" sz="900" dirty="0"/>
          </a:p>
        </p:txBody>
      </p:sp>
      <p:sp>
        <p:nvSpPr>
          <p:cNvPr id="17" name="Text 15"/>
          <p:cNvSpPr/>
          <p:nvPr/>
        </p:nvSpPr>
        <p:spPr>
          <a:xfrm>
            <a:off x="1133856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228600"/>
          </a:xfrm>
          <a:prstGeom prst="rect">
            <a:avLst/>
          </a:prstGeom>
          <a:solidFill>
            <a:srgbClr val="1F2937"/>
          </a:solidFill>
          <a:ln w="12700">
            <a:solidFill>
              <a:srgbClr val="1F2937"/>
            </a:solidFill>
            <a:prstDash val="solid"/>
          </a:ln>
        </p:spPr>
      </p:sp>
      <p:sp>
        <p:nvSpPr>
          <p:cNvPr id="3" name="Shape 1"/>
          <p:cNvSpPr/>
          <p:nvPr/>
        </p:nvSpPr>
        <p:spPr>
          <a:xfrm>
            <a:off x="0" y="228600"/>
            <a:ext cx="12161520" cy="36576"/>
          </a:xfrm>
          <a:prstGeom prst="rect">
            <a:avLst/>
          </a:prstGeom>
          <a:solidFill>
            <a:srgbClr val="0D9488"/>
          </a:solidFill>
          <a:ln w="12700">
            <a:solidFill>
              <a:srgbClr val="0D9488"/>
            </a:solidFill>
            <a:prstDash val="solid"/>
          </a:ln>
        </p:spPr>
      </p:sp>
      <p:sp>
        <p:nvSpPr>
          <p:cNvPr id="4" name="Text 2"/>
          <p:cNvSpPr/>
          <p:nvPr/>
        </p:nvSpPr>
        <p:spPr>
          <a:xfrm>
            <a:off x="548640" y="502920"/>
            <a:ext cx="10972800" cy="548640"/>
          </a:xfrm>
          <a:prstGeom prst="rect">
            <a:avLst/>
          </a:prstGeom>
          <a:noFill/>
          <a:ln/>
        </p:spPr>
        <p:txBody>
          <a:bodyPr wrap="square" lIns="0" tIns="0" rIns="0" bIns="0" rtlCol="0" anchor="ctr"/>
          <a:lstStyle/>
          <a:p>
            <a:pPr indent="0" marL="0">
              <a:buNone/>
            </a:pPr>
            <a:r>
              <a:rPr lang="en-US" sz="2600" b="1" dirty="0">
                <a:solidFill>
                  <a:srgbClr val="1F2937"/>
                </a:solidFill>
                <a:latin typeface="Calibri" pitchFamily="34" charset="0"/>
                <a:ea typeface="Calibri" pitchFamily="34" charset="-122"/>
                <a:cs typeface="Calibri" pitchFamily="34" charset="-120"/>
              </a:rPr>
              <a:t>Open engineering questions</a:t>
            </a:r>
            <a:endParaRPr lang="en-US" sz="2600" dirty="0"/>
          </a:p>
        </p:txBody>
      </p:sp>
      <p:sp>
        <p:nvSpPr>
          <p:cNvPr id="5" name="Text 3"/>
          <p:cNvSpPr/>
          <p:nvPr/>
        </p:nvSpPr>
        <p:spPr>
          <a:xfrm>
            <a:off x="548640" y="1051560"/>
            <a:ext cx="1097280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For steerco awareness — none are blockers.</a:t>
            </a:r>
            <a:endParaRPr lang="en-US" sz="1300" dirty="0"/>
          </a:p>
        </p:txBody>
      </p:sp>
      <p:sp>
        <p:nvSpPr>
          <p:cNvPr id="6" name="Shape 4"/>
          <p:cNvSpPr/>
          <p:nvPr/>
        </p:nvSpPr>
        <p:spPr>
          <a:xfrm>
            <a:off x="548640" y="1417320"/>
            <a:ext cx="457200" cy="45720"/>
          </a:xfrm>
          <a:prstGeom prst="rect">
            <a:avLst/>
          </a:prstGeom>
          <a:solidFill>
            <a:srgbClr val="0D9488"/>
          </a:solidFill>
          <a:ln w="12700">
            <a:solidFill>
              <a:srgbClr val="0D9488"/>
            </a:solidFill>
            <a:prstDash val="solid"/>
          </a:ln>
        </p:spPr>
      </p:sp>
      <p:sp>
        <p:nvSpPr>
          <p:cNvPr id="7" name="Shape 5"/>
          <p:cNvSpPr/>
          <p:nvPr/>
        </p:nvSpPr>
        <p:spPr>
          <a:xfrm>
            <a:off x="548640" y="1783080"/>
            <a:ext cx="502920" cy="731520"/>
          </a:xfrm>
          <a:prstGeom prst="rect">
            <a:avLst/>
          </a:prstGeom>
          <a:solidFill>
            <a:srgbClr val="0D9488"/>
          </a:solidFill>
          <a:ln w="12700">
            <a:solidFill>
              <a:srgbClr val="0D9488"/>
            </a:solidFill>
            <a:prstDash val="solid"/>
          </a:ln>
        </p:spPr>
      </p:sp>
      <p:sp>
        <p:nvSpPr>
          <p:cNvPr id="8" name="Text 6"/>
          <p:cNvSpPr/>
          <p:nvPr/>
        </p:nvSpPr>
        <p:spPr>
          <a:xfrm>
            <a:off x="548640" y="1783080"/>
            <a:ext cx="5029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p:nvPr/>
        </p:nvSpPr>
        <p:spPr>
          <a:xfrm>
            <a:off x="1188720" y="1828800"/>
            <a:ext cx="10424160" cy="3200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Same-merchant same-day collapse</a:t>
            </a:r>
            <a:endParaRPr lang="en-US" sz="1400" dirty="0"/>
          </a:p>
        </p:txBody>
      </p:sp>
      <p:sp>
        <p:nvSpPr>
          <p:cNvPr id="10" name="Text 8"/>
          <p:cNvSpPr/>
          <p:nvPr/>
        </p:nvSpPr>
        <p:spPr>
          <a:xfrm>
            <a:off x="1188720" y="2148840"/>
            <a:ext cx="10424160" cy="384048"/>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Reduces profile density 15–25% but loses some granularity. Needs Analytics input.</a:t>
            </a:r>
            <a:endParaRPr lang="en-US" sz="1100" dirty="0"/>
          </a:p>
        </p:txBody>
      </p:sp>
      <p:sp>
        <p:nvSpPr>
          <p:cNvPr id="11" name="Shape 9"/>
          <p:cNvSpPr/>
          <p:nvPr/>
        </p:nvSpPr>
        <p:spPr>
          <a:xfrm>
            <a:off x="548640" y="2633472"/>
            <a:ext cx="502920" cy="731520"/>
          </a:xfrm>
          <a:prstGeom prst="rect">
            <a:avLst/>
          </a:prstGeom>
          <a:solidFill>
            <a:srgbClr val="0D9488"/>
          </a:solidFill>
          <a:ln w="12700">
            <a:solidFill>
              <a:srgbClr val="0D9488"/>
            </a:solidFill>
            <a:prstDash val="solid"/>
          </a:ln>
        </p:spPr>
      </p:sp>
      <p:sp>
        <p:nvSpPr>
          <p:cNvPr id="12" name="Text 10"/>
          <p:cNvSpPr/>
          <p:nvPr/>
        </p:nvSpPr>
        <p:spPr>
          <a:xfrm>
            <a:off x="548640" y="2633472"/>
            <a:ext cx="5029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1188720" y="2679192"/>
            <a:ext cx="10424160" cy="3200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Declined-transaction handling</a:t>
            </a:r>
            <a:endParaRPr lang="en-US" sz="1400" dirty="0"/>
          </a:p>
        </p:txBody>
      </p:sp>
      <p:sp>
        <p:nvSpPr>
          <p:cNvPr id="14" name="Text 12"/>
          <p:cNvSpPr/>
          <p:nvPr/>
        </p:nvSpPr>
        <p:spPr>
          <a:xfrm>
            <a:off x="1188720" y="2999232"/>
            <a:ext cx="10424160" cy="384048"/>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Include in AEP or strip? Currently strip; Greg's team may want them for 'attempt-then-abandon' signals.</a:t>
            </a:r>
            <a:endParaRPr lang="en-US" sz="1100" dirty="0"/>
          </a:p>
        </p:txBody>
      </p:sp>
      <p:sp>
        <p:nvSpPr>
          <p:cNvPr id="15" name="Shape 13"/>
          <p:cNvSpPr/>
          <p:nvPr/>
        </p:nvSpPr>
        <p:spPr>
          <a:xfrm>
            <a:off x="548640" y="3483864"/>
            <a:ext cx="502920" cy="731520"/>
          </a:xfrm>
          <a:prstGeom prst="rect">
            <a:avLst/>
          </a:prstGeom>
          <a:solidFill>
            <a:srgbClr val="0D9488"/>
          </a:solidFill>
          <a:ln w="12700">
            <a:solidFill>
              <a:srgbClr val="0D9488"/>
            </a:solidFill>
            <a:prstDash val="solid"/>
          </a:ln>
        </p:spPr>
      </p:sp>
      <p:sp>
        <p:nvSpPr>
          <p:cNvPr id="16" name="Text 14"/>
          <p:cNvSpPr/>
          <p:nvPr/>
        </p:nvSpPr>
        <p:spPr>
          <a:xfrm>
            <a:off x="548640" y="3483864"/>
            <a:ext cx="5029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1188720" y="3529584"/>
            <a:ext cx="10424160" cy="3200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13-month retention start point</a:t>
            </a:r>
            <a:endParaRPr lang="en-US" sz="1400" dirty="0"/>
          </a:p>
        </p:txBody>
      </p:sp>
      <p:sp>
        <p:nvSpPr>
          <p:cNvPr id="18" name="Text 16"/>
          <p:cNvSpPr/>
          <p:nvPr/>
        </p:nvSpPr>
        <p:spPr>
          <a:xfrm>
            <a:off x="1188720" y="3849624"/>
            <a:ext cx="10424160" cy="384048"/>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From authorization date or from ingestion date? Small difference; matters for audit.</a:t>
            </a:r>
            <a:endParaRPr lang="en-US" sz="1100" dirty="0"/>
          </a:p>
        </p:txBody>
      </p:sp>
      <p:sp>
        <p:nvSpPr>
          <p:cNvPr id="19" name="Shape 17"/>
          <p:cNvSpPr/>
          <p:nvPr/>
        </p:nvSpPr>
        <p:spPr>
          <a:xfrm>
            <a:off x="548640" y="4334256"/>
            <a:ext cx="502920" cy="731520"/>
          </a:xfrm>
          <a:prstGeom prst="rect">
            <a:avLst/>
          </a:prstGeom>
          <a:solidFill>
            <a:srgbClr val="0D9488"/>
          </a:solidFill>
          <a:ln w="12700">
            <a:solidFill>
              <a:srgbClr val="0D9488"/>
            </a:solidFill>
            <a:prstDash val="solid"/>
          </a:ln>
        </p:spPr>
      </p:sp>
      <p:sp>
        <p:nvSpPr>
          <p:cNvPr id="20" name="Text 18"/>
          <p:cNvSpPr/>
          <p:nvPr/>
        </p:nvSpPr>
        <p:spPr>
          <a:xfrm>
            <a:off x="548640" y="4334256"/>
            <a:ext cx="5029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19"/>
          <p:cNvSpPr/>
          <p:nvPr/>
        </p:nvSpPr>
        <p:spPr>
          <a:xfrm>
            <a:off x="1188720" y="4379976"/>
            <a:ext cx="10424160" cy="3200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Identity token stability under PAN reissuance</a:t>
            </a:r>
            <a:endParaRPr lang="en-US" sz="1400" dirty="0"/>
          </a:p>
        </p:txBody>
      </p:sp>
      <p:sp>
        <p:nvSpPr>
          <p:cNvPr id="22" name="Text 20"/>
          <p:cNvSpPr/>
          <p:nvPr/>
        </p:nvSpPr>
        <p:spPr>
          <a:xfrm>
            <a:off x="1188720" y="4700016"/>
            <a:ext cx="10424160" cy="384048"/>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Pending confirmation from Infosec / Tokenization Services.</a:t>
            </a:r>
            <a:endParaRPr lang="en-US" sz="1100" dirty="0"/>
          </a:p>
        </p:txBody>
      </p:sp>
      <p:sp>
        <p:nvSpPr>
          <p:cNvPr id="23" name="Shape 21"/>
          <p:cNvSpPr/>
          <p:nvPr/>
        </p:nvSpPr>
        <p:spPr>
          <a:xfrm>
            <a:off x="548640" y="5184648"/>
            <a:ext cx="502920" cy="731520"/>
          </a:xfrm>
          <a:prstGeom prst="rect">
            <a:avLst/>
          </a:prstGeom>
          <a:solidFill>
            <a:srgbClr val="0D9488"/>
          </a:solidFill>
          <a:ln w="12700">
            <a:solidFill>
              <a:srgbClr val="0D9488"/>
            </a:solidFill>
            <a:prstDash val="solid"/>
          </a:ln>
        </p:spPr>
      </p:sp>
      <p:sp>
        <p:nvSpPr>
          <p:cNvPr id="24" name="Text 22"/>
          <p:cNvSpPr/>
          <p:nvPr/>
        </p:nvSpPr>
        <p:spPr>
          <a:xfrm>
            <a:off x="548640" y="5184648"/>
            <a:ext cx="5029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5" name="Text 23"/>
          <p:cNvSpPr/>
          <p:nvPr/>
        </p:nvSpPr>
        <p:spPr>
          <a:xfrm>
            <a:off x="1188720" y="5230368"/>
            <a:ext cx="10424160" cy="3200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AEP dataset partitioning strategy</a:t>
            </a:r>
            <a:endParaRPr lang="en-US" sz="1400" dirty="0"/>
          </a:p>
        </p:txBody>
      </p:sp>
      <p:sp>
        <p:nvSpPr>
          <p:cNvPr id="26" name="Text 24"/>
          <p:cNvSpPr/>
          <p:nvPr/>
        </p:nvSpPr>
        <p:spPr>
          <a:xfrm>
            <a:off x="1188720" y="5550408"/>
            <a:ext cx="10424160" cy="384048"/>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Affects query performance; proposed partition by authorization date, subject to load testing.</a:t>
            </a:r>
            <a:endParaRPr lang="en-US" sz="1100" dirty="0"/>
          </a:p>
        </p:txBody>
      </p:sp>
      <p:sp>
        <p:nvSpPr>
          <p:cNvPr id="27" name="Shape 25"/>
          <p:cNvSpPr/>
          <p:nvPr/>
        </p:nvSpPr>
        <p:spPr>
          <a:xfrm>
            <a:off x="548640" y="6446520"/>
            <a:ext cx="11064240" cy="0"/>
          </a:xfrm>
          <a:prstGeom prst="line">
            <a:avLst/>
          </a:prstGeom>
          <a:noFill/>
          <a:ln w="9525">
            <a:solidFill>
              <a:srgbClr val="E2E8F0"/>
            </a:solidFill>
            <a:prstDash val="solid"/>
          </a:ln>
        </p:spPr>
      </p:sp>
      <p:sp>
        <p:nvSpPr>
          <p:cNvPr id="28" name="Text 26"/>
          <p:cNvSpPr/>
          <p:nvPr/>
        </p:nvSpPr>
        <p:spPr>
          <a:xfrm>
            <a:off x="548640" y="6537960"/>
            <a:ext cx="4572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Enterprise Data Platform</a:t>
            </a:r>
            <a:endParaRPr lang="en-US" sz="900" dirty="0"/>
          </a:p>
        </p:txBody>
      </p:sp>
      <p:sp>
        <p:nvSpPr>
          <p:cNvPr id="29" name="Text 27"/>
          <p:cNvSpPr/>
          <p:nvPr/>
        </p:nvSpPr>
        <p:spPr>
          <a:xfrm>
            <a:off x="5120640" y="6537960"/>
            <a:ext cx="5486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Flywheel — Current State &amp; Options · v1 · April 8, 2026</a:t>
            </a:r>
            <a:endParaRPr lang="en-US" sz="900" dirty="0"/>
          </a:p>
        </p:txBody>
      </p:sp>
      <p:sp>
        <p:nvSpPr>
          <p:cNvPr id="30" name="Text 28"/>
          <p:cNvSpPr/>
          <p:nvPr/>
        </p:nvSpPr>
        <p:spPr>
          <a:xfrm>
            <a:off x="1133856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228600"/>
          </a:xfrm>
          <a:prstGeom prst="rect">
            <a:avLst/>
          </a:prstGeom>
          <a:solidFill>
            <a:srgbClr val="1F2937"/>
          </a:solidFill>
          <a:ln w="12700">
            <a:solidFill>
              <a:srgbClr val="1F2937"/>
            </a:solidFill>
            <a:prstDash val="solid"/>
          </a:ln>
        </p:spPr>
      </p:sp>
      <p:sp>
        <p:nvSpPr>
          <p:cNvPr id="3" name="Shape 1"/>
          <p:cNvSpPr/>
          <p:nvPr/>
        </p:nvSpPr>
        <p:spPr>
          <a:xfrm>
            <a:off x="0" y="228600"/>
            <a:ext cx="12161520" cy="36576"/>
          </a:xfrm>
          <a:prstGeom prst="rect">
            <a:avLst/>
          </a:prstGeom>
          <a:solidFill>
            <a:srgbClr val="0D9488"/>
          </a:solidFill>
          <a:ln w="12700">
            <a:solidFill>
              <a:srgbClr val="0D9488"/>
            </a:solidFill>
            <a:prstDash val="solid"/>
          </a:ln>
        </p:spPr>
      </p:sp>
      <p:sp>
        <p:nvSpPr>
          <p:cNvPr id="4" name="Text 2"/>
          <p:cNvSpPr/>
          <p:nvPr/>
        </p:nvSpPr>
        <p:spPr>
          <a:xfrm>
            <a:off x="548640" y="502920"/>
            <a:ext cx="10972800" cy="548640"/>
          </a:xfrm>
          <a:prstGeom prst="rect">
            <a:avLst/>
          </a:prstGeom>
          <a:noFill/>
          <a:ln/>
        </p:spPr>
        <p:txBody>
          <a:bodyPr wrap="square" lIns="0" tIns="0" rIns="0" bIns="0" rtlCol="0" anchor="ctr"/>
          <a:lstStyle/>
          <a:p>
            <a:pPr indent="0" marL="0">
              <a:buNone/>
            </a:pPr>
            <a:r>
              <a:rPr lang="en-US" sz="2600" b="1" dirty="0">
                <a:solidFill>
                  <a:srgbClr val="1F2937"/>
                </a:solidFill>
                <a:latin typeface="Calibri" pitchFamily="34" charset="0"/>
                <a:ea typeface="Calibri" pitchFamily="34" charset="-122"/>
                <a:cs typeface="Calibri" pitchFamily="34" charset="-120"/>
              </a:rPr>
              <a:t>What Data Eng needs from the business</a:t>
            </a:r>
            <a:endParaRPr lang="en-US" sz="2600" dirty="0"/>
          </a:p>
        </p:txBody>
      </p:sp>
      <p:sp>
        <p:nvSpPr>
          <p:cNvPr id="5" name="Shape 3"/>
          <p:cNvSpPr/>
          <p:nvPr/>
        </p:nvSpPr>
        <p:spPr>
          <a:xfrm>
            <a:off x="548640" y="1097280"/>
            <a:ext cx="457200" cy="45720"/>
          </a:xfrm>
          <a:prstGeom prst="rect">
            <a:avLst/>
          </a:prstGeom>
          <a:solidFill>
            <a:srgbClr val="0D9488"/>
          </a:solidFill>
          <a:ln w="12700">
            <a:solidFill>
              <a:srgbClr val="0D9488"/>
            </a:solidFill>
            <a:prstDash val="solid"/>
          </a:ln>
        </p:spPr>
      </p:sp>
      <p:sp>
        <p:nvSpPr>
          <p:cNvPr id="6" name="Shape 4"/>
          <p:cNvSpPr/>
          <p:nvPr/>
        </p:nvSpPr>
        <p:spPr>
          <a:xfrm>
            <a:off x="548640" y="1691640"/>
            <a:ext cx="11064240" cy="548640"/>
          </a:xfrm>
          <a:prstGeom prst="rect">
            <a:avLst/>
          </a:prstGeom>
          <a:solidFill>
            <a:srgbClr val="F0FDF4"/>
          </a:solidFill>
          <a:ln w="12700">
            <a:solidFill>
              <a:srgbClr val="059669"/>
            </a:solidFill>
            <a:prstDash val="solid"/>
          </a:ln>
        </p:spPr>
      </p:sp>
      <p:sp>
        <p:nvSpPr>
          <p:cNvPr id="7" name="Shape 5"/>
          <p:cNvSpPr/>
          <p:nvPr/>
        </p:nvSpPr>
        <p:spPr>
          <a:xfrm>
            <a:off x="731520" y="1828800"/>
            <a:ext cx="292608" cy="292608"/>
          </a:xfrm>
          <a:prstGeom prst="ellipse">
            <a:avLst/>
          </a:prstGeom>
          <a:solidFill>
            <a:srgbClr val="059669"/>
          </a:solidFill>
          <a:ln w="12700">
            <a:solidFill>
              <a:srgbClr val="059669"/>
            </a:solidFill>
            <a:prstDash val="solid"/>
          </a:ln>
        </p:spPr>
      </p:sp>
      <p:sp>
        <p:nvSpPr>
          <p:cNvPr id="8" name="Text 6"/>
          <p:cNvSpPr/>
          <p:nvPr/>
        </p:nvSpPr>
        <p:spPr>
          <a:xfrm>
            <a:off x="731520" y="182880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1188720" y="1764792"/>
            <a:ext cx="6858000" cy="41148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Use case lock</a:t>
            </a:r>
            <a:endParaRPr lang="en-US" sz="1300" dirty="0"/>
          </a:p>
        </p:txBody>
      </p:sp>
      <p:sp>
        <p:nvSpPr>
          <p:cNvPr id="10" name="Text 8"/>
          <p:cNvSpPr/>
          <p:nvPr/>
        </p:nvSpPr>
        <p:spPr>
          <a:xfrm>
            <a:off x="8046720" y="1764792"/>
            <a:ext cx="3474720" cy="411480"/>
          </a:xfrm>
          <a:prstGeom prst="rect">
            <a:avLst/>
          </a:prstGeom>
          <a:noFill/>
          <a:ln/>
        </p:spPr>
        <p:txBody>
          <a:bodyPr wrap="square" lIns="0" tIns="0" rIns="0" bIns="0" rtlCol="0" anchor="ctr"/>
          <a:lstStyle/>
          <a:p>
            <a:pPr algn="r" indent="0" marL="0">
              <a:buNone/>
            </a:pPr>
            <a:r>
              <a:rPr lang="en-US" sz="1100" i="1" dirty="0">
                <a:solidFill>
                  <a:srgbClr val="6B7280"/>
                </a:solidFill>
                <a:latin typeface="Calibri" pitchFamily="34" charset="0"/>
                <a:ea typeface="Calibri" pitchFamily="34" charset="-122"/>
                <a:cs typeface="Calibri" pitchFamily="34" charset="-120"/>
              </a:rPr>
              <a:t>April 3 — complete</a:t>
            </a:r>
            <a:endParaRPr lang="en-US" sz="1100" dirty="0"/>
          </a:p>
        </p:txBody>
      </p:sp>
      <p:sp>
        <p:nvSpPr>
          <p:cNvPr id="11" name="Shape 9"/>
          <p:cNvSpPr/>
          <p:nvPr/>
        </p:nvSpPr>
        <p:spPr>
          <a:xfrm>
            <a:off x="548640" y="2350008"/>
            <a:ext cx="11064240" cy="548640"/>
          </a:xfrm>
          <a:prstGeom prst="rect">
            <a:avLst/>
          </a:prstGeom>
          <a:solidFill>
            <a:srgbClr val="F8FAFC"/>
          </a:solidFill>
          <a:ln w="12700">
            <a:solidFill>
              <a:srgbClr val="E2E8F0"/>
            </a:solidFill>
            <a:prstDash val="solid"/>
          </a:ln>
        </p:spPr>
      </p:sp>
      <p:sp>
        <p:nvSpPr>
          <p:cNvPr id="12" name="Shape 10"/>
          <p:cNvSpPr/>
          <p:nvPr/>
        </p:nvSpPr>
        <p:spPr>
          <a:xfrm>
            <a:off x="731520" y="2487168"/>
            <a:ext cx="292608" cy="292608"/>
          </a:xfrm>
          <a:prstGeom prst="ellipse">
            <a:avLst/>
          </a:prstGeom>
          <a:solidFill>
            <a:srgbClr val="FFFFFF"/>
          </a:solidFill>
          <a:ln w="12700">
            <a:solidFill>
              <a:srgbClr val="CBD5E1"/>
            </a:solidFill>
            <a:prstDash val="solid"/>
          </a:ln>
        </p:spPr>
      </p:sp>
      <p:sp>
        <p:nvSpPr>
          <p:cNvPr id="13" name="Text 11"/>
          <p:cNvSpPr/>
          <p:nvPr/>
        </p:nvSpPr>
        <p:spPr>
          <a:xfrm>
            <a:off x="1188720" y="2423160"/>
            <a:ext cx="6858000" cy="41148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Schema sign-off from Analytics</a:t>
            </a:r>
            <a:endParaRPr lang="en-US" sz="1300" dirty="0"/>
          </a:p>
        </p:txBody>
      </p:sp>
      <p:sp>
        <p:nvSpPr>
          <p:cNvPr id="14" name="Text 12"/>
          <p:cNvSpPr/>
          <p:nvPr/>
        </p:nvSpPr>
        <p:spPr>
          <a:xfrm>
            <a:off x="8046720" y="2423160"/>
            <a:ext cx="3474720" cy="411480"/>
          </a:xfrm>
          <a:prstGeom prst="rect">
            <a:avLst/>
          </a:prstGeom>
          <a:noFill/>
          <a:ln/>
        </p:spPr>
        <p:txBody>
          <a:bodyPr wrap="square" lIns="0" tIns="0" rIns="0" bIns="0" rtlCol="0" anchor="ctr"/>
          <a:lstStyle/>
          <a:p>
            <a:pPr algn="r" indent="0" marL="0">
              <a:buNone/>
            </a:pPr>
            <a:r>
              <a:rPr lang="en-US" sz="1100" i="1" dirty="0">
                <a:solidFill>
                  <a:srgbClr val="6B7280"/>
                </a:solidFill>
                <a:latin typeface="Calibri" pitchFamily="34" charset="0"/>
                <a:ea typeface="Calibri" pitchFamily="34" charset="-122"/>
                <a:cs typeface="Calibri" pitchFamily="34" charset="-120"/>
              </a:rPr>
              <a:t>v2 field list — this week</a:t>
            </a:r>
            <a:endParaRPr lang="en-US" sz="1100" dirty="0"/>
          </a:p>
        </p:txBody>
      </p:sp>
      <p:sp>
        <p:nvSpPr>
          <p:cNvPr id="15" name="Shape 13"/>
          <p:cNvSpPr/>
          <p:nvPr/>
        </p:nvSpPr>
        <p:spPr>
          <a:xfrm>
            <a:off x="548640" y="3008376"/>
            <a:ext cx="11064240" cy="548640"/>
          </a:xfrm>
          <a:prstGeom prst="rect">
            <a:avLst/>
          </a:prstGeom>
          <a:solidFill>
            <a:srgbClr val="F8FAFC"/>
          </a:solidFill>
          <a:ln w="12700">
            <a:solidFill>
              <a:srgbClr val="E2E8F0"/>
            </a:solidFill>
            <a:prstDash val="solid"/>
          </a:ln>
        </p:spPr>
      </p:sp>
      <p:sp>
        <p:nvSpPr>
          <p:cNvPr id="16" name="Shape 14"/>
          <p:cNvSpPr/>
          <p:nvPr/>
        </p:nvSpPr>
        <p:spPr>
          <a:xfrm>
            <a:off x="731520" y="3145536"/>
            <a:ext cx="292608" cy="292608"/>
          </a:xfrm>
          <a:prstGeom prst="ellipse">
            <a:avLst/>
          </a:prstGeom>
          <a:solidFill>
            <a:srgbClr val="FFFFFF"/>
          </a:solidFill>
          <a:ln w="12700">
            <a:solidFill>
              <a:srgbClr val="CBD5E1"/>
            </a:solidFill>
            <a:prstDash val="solid"/>
          </a:ln>
        </p:spPr>
      </p:sp>
      <p:sp>
        <p:nvSpPr>
          <p:cNvPr id="17" name="Text 15"/>
          <p:cNvSpPr/>
          <p:nvPr/>
        </p:nvSpPr>
        <p:spPr>
          <a:xfrm>
            <a:off x="1188720" y="3081528"/>
            <a:ext cx="6858000" cy="41148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Same-merchant same-day collapse policy</a:t>
            </a:r>
            <a:endParaRPr lang="en-US" sz="1300" dirty="0"/>
          </a:p>
        </p:txBody>
      </p:sp>
      <p:sp>
        <p:nvSpPr>
          <p:cNvPr id="18" name="Text 16"/>
          <p:cNvSpPr/>
          <p:nvPr/>
        </p:nvSpPr>
        <p:spPr>
          <a:xfrm>
            <a:off x="8046720" y="3081528"/>
            <a:ext cx="3474720" cy="411480"/>
          </a:xfrm>
          <a:prstGeom prst="rect">
            <a:avLst/>
          </a:prstGeom>
          <a:noFill/>
          <a:ln/>
        </p:spPr>
        <p:txBody>
          <a:bodyPr wrap="square" lIns="0" tIns="0" rIns="0" bIns="0" rtlCol="0" anchor="ctr"/>
          <a:lstStyle/>
          <a:p>
            <a:pPr algn="r" indent="0" marL="0">
              <a:buNone/>
            </a:pPr>
            <a:r>
              <a:rPr lang="en-US" sz="1100" i="1" dirty="0">
                <a:solidFill>
                  <a:srgbClr val="6B7280"/>
                </a:solidFill>
                <a:latin typeface="Calibri" pitchFamily="34" charset="0"/>
                <a:ea typeface="Calibri" pitchFamily="34" charset="-122"/>
                <a:cs typeface="Calibri" pitchFamily="34" charset="-120"/>
              </a:rPr>
              <a:t>Analytics call needed</a:t>
            </a:r>
            <a:endParaRPr lang="en-US" sz="1100" dirty="0"/>
          </a:p>
        </p:txBody>
      </p:sp>
      <p:sp>
        <p:nvSpPr>
          <p:cNvPr id="19" name="Shape 17"/>
          <p:cNvSpPr/>
          <p:nvPr/>
        </p:nvSpPr>
        <p:spPr>
          <a:xfrm>
            <a:off x="548640" y="3666744"/>
            <a:ext cx="11064240" cy="548640"/>
          </a:xfrm>
          <a:prstGeom prst="rect">
            <a:avLst/>
          </a:prstGeom>
          <a:solidFill>
            <a:srgbClr val="F8FAFC"/>
          </a:solidFill>
          <a:ln w="12700">
            <a:solidFill>
              <a:srgbClr val="E2E8F0"/>
            </a:solidFill>
            <a:prstDash val="solid"/>
          </a:ln>
        </p:spPr>
      </p:sp>
      <p:sp>
        <p:nvSpPr>
          <p:cNvPr id="20" name="Shape 18"/>
          <p:cNvSpPr/>
          <p:nvPr/>
        </p:nvSpPr>
        <p:spPr>
          <a:xfrm>
            <a:off x="731520" y="3803904"/>
            <a:ext cx="292608" cy="292608"/>
          </a:xfrm>
          <a:prstGeom prst="ellipse">
            <a:avLst/>
          </a:prstGeom>
          <a:solidFill>
            <a:srgbClr val="FFFFFF"/>
          </a:solidFill>
          <a:ln w="12700">
            <a:solidFill>
              <a:srgbClr val="CBD5E1"/>
            </a:solidFill>
            <a:prstDash val="solid"/>
          </a:ln>
        </p:spPr>
      </p:sp>
      <p:sp>
        <p:nvSpPr>
          <p:cNvPr id="21" name="Text 19"/>
          <p:cNvSpPr/>
          <p:nvPr/>
        </p:nvSpPr>
        <p:spPr>
          <a:xfrm>
            <a:off x="1188720" y="3739896"/>
            <a:ext cx="6858000" cy="41148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Declined-transaction inclusion policy</a:t>
            </a:r>
            <a:endParaRPr lang="en-US" sz="1300" dirty="0"/>
          </a:p>
        </p:txBody>
      </p:sp>
      <p:sp>
        <p:nvSpPr>
          <p:cNvPr id="22" name="Text 20"/>
          <p:cNvSpPr/>
          <p:nvPr/>
        </p:nvSpPr>
        <p:spPr>
          <a:xfrm>
            <a:off x="8046720" y="3739896"/>
            <a:ext cx="3474720" cy="411480"/>
          </a:xfrm>
          <a:prstGeom prst="rect">
            <a:avLst/>
          </a:prstGeom>
          <a:noFill/>
          <a:ln/>
        </p:spPr>
        <p:txBody>
          <a:bodyPr wrap="square" lIns="0" tIns="0" rIns="0" bIns="0" rtlCol="0" anchor="ctr"/>
          <a:lstStyle/>
          <a:p>
            <a:pPr algn="r" indent="0" marL="0">
              <a:buNone/>
            </a:pPr>
            <a:r>
              <a:rPr lang="en-US" sz="1100" i="1" dirty="0">
                <a:solidFill>
                  <a:srgbClr val="6B7280"/>
                </a:solidFill>
                <a:latin typeface="Calibri" pitchFamily="34" charset="0"/>
                <a:ea typeface="Calibri" pitchFamily="34" charset="-122"/>
                <a:cs typeface="Calibri" pitchFamily="34" charset="-120"/>
              </a:rPr>
              <a:t>Greg + Analytics</a:t>
            </a:r>
            <a:endParaRPr lang="en-US" sz="1100" dirty="0"/>
          </a:p>
        </p:txBody>
      </p:sp>
      <p:sp>
        <p:nvSpPr>
          <p:cNvPr id="23" name="Shape 21"/>
          <p:cNvSpPr/>
          <p:nvPr/>
        </p:nvSpPr>
        <p:spPr>
          <a:xfrm>
            <a:off x="548640" y="4325112"/>
            <a:ext cx="11064240" cy="548640"/>
          </a:xfrm>
          <a:prstGeom prst="rect">
            <a:avLst/>
          </a:prstGeom>
          <a:solidFill>
            <a:srgbClr val="F8FAFC"/>
          </a:solidFill>
          <a:ln w="12700">
            <a:solidFill>
              <a:srgbClr val="E2E8F0"/>
            </a:solidFill>
            <a:prstDash val="solid"/>
          </a:ln>
        </p:spPr>
      </p:sp>
      <p:sp>
        <p:nvSpPr>
          <p:cNvPr id="24" name="Shape 22"/>
          <p:cNvSpPr/>
          <p:nvPr/>
        </p:nvSpPr>
        <p:spPr>
          <a:xfrm>
            <a:off x="731520" y="4462272"/>
            <a:ext cx="292608" cy="292608"/>
          </a:xfrm>
          <a:prstGeom prst="ellipse">
            <a:avLst/>
          </a:prstGeom>
          <a:solidFill>
            <a:srgbClr val="FFFFFF"/>
          </a:solidFill>
          <a:ln w="12700">
            <a:solidFill>
              <a:srgbClr val="CBD5E1"/>
            </a:solidFill>
            <a:prstDash val="solid"/>
          </a:ln>
        </p:spPr>
      </p:sp>
      <p:sp>
        <p:nvSpPr>
          <p:cNvPr id="25" name="Text 23"/>
          <p:cNvSpPr/>
          <p:nvPr/>
        </p:nvSpPr>
        <p:spPr>
          <a:xfrm>
            <a:off x="1188720" y="4398264"/>
            <a:ext cx="6858000" cy="41148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Governance sign-off on 13-month retention</a:t>
            </a:r>
            <a:endParaRPr lang="en-US" sz="1300" dirty="0"/>
          </a:p>
        </p:txBody>
      </p:sp>
      <p:sp>
        <p:nvSpPr>
          <p:cNvPr id="26" name="Text 24"/>
          <p:cNvSpPr/>
          <p:nvPr/>
        </p:nvSpPr>
        <p:spPr>
          <a:xfrm>
            <a:off x="8046720" y="4398264"/>
            <a:ext cx="3474720" cy="411480"/>
          </a:xfrm>
          <a:prstGeom prst="rect">
            <a:avLst/>
          </a:prstGeom>
          <a:noFill/>
          <a:ln/>
        </p:spPr>
        <p:txBody>
          <a:bodyPr wrap="square" lIns="0" tIns="0" rIns="0" bIns="0" rtlCol="0" anchor="ctr"/>
          <a:lstStyle/>
          <a:p>
            <a:pPr algn="r" indent="0" marL="0">
              <a:buNone/>
            </a:pPr>
            <a:r>
              <a:rPr lang="en-US" sz="1100" i="1" dirty="0">
                <a:solidFill>
                  <a:srgbClr val="6B7280"/>
                </a:solidFill>
                <a:latin typeface="Calibri" pitchFamily="34" charset="0"/>
                <a:ea typeface="Calibri" pitchFamily="34" charset="-122"/>
                <a:cs typeface="Calibri" pitchFamily="34" charset="-120"/>
              </a:rPr>
              <a:t>Dana — before build</a:t>
            </a:r>
            <a:endParaRPr lang="en-US" sz="1100" dirty="0"/>
          </a:p>
        </p:txBody>
      </p:sp>
      <p:sp>
        <p:nvSpPr>
          <p:cNvPr id="27" name="Shape 25"/>
          <p:cNvSpPr/>
          <p:nvPr/>
        </p:nvSpPr>
        <p:spPr>
          <a:xfrm>
            <a:off x="548640" y="4983480"/>
            <a:ext cx="11064240" cy="548640"/>
          </a:xfrm>
          <a:prstGeom prst="rect">
            <a:avLst/>
          </a:prstGeom>
          <a:solidFill>
            <a:srgbClr val="F8FAFC"/>
          </a:solidFill>
          <a:ln w="12700">
            <a:solidFill>
              <a:srgbClr val="E2E8F0"/>
            </a:solidFill>
            <a:prstDash val="solid"/>
          </a:ln>
        </p:spPr>
      </p:sp>
      <p:sp>
        <p:nvSpPr>
          <p:cNvPr id="28" name="Shape 26"/>
          <p:cNvSpPr/>
          <p:nvPr/>
        </p:nvSpPr>
        <p:spPr>
          <a:xfrm>
            <a:off x="731520" y="5120640"/>
            <a:ext cx="292608" cy="292608"/>
          </a:xfrm>
          <a:prstGeom prst="ellipse">
            <a:avLst/>
          </a:prstGeom>
          <a:solidFill>
            <a:srgbClr val="FFFFFF"/>
          </a:solidFill>
          <a:ln w="12700">
            <a:solidFill>
              <a:srgbClr val="CBD5E1"/>
            </a:solidFill>
            <a:prstDash val="solid"/>
          </a:ln>
        </p:spPr>
      </p:sp>
      <p:sp>
        <p:nvSpPr>
          <p:cNvPr id="29" name="Text 27"/>
          <p:cNvSpPr/>
          <p:nvPr/>
        </p:nvSpPr>
        <p:spPr>
          <a:xfrm>
            <a:off x="1188720" y="5056632"/>
            <a:ext cx="6858000" cy="41148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Net-new DE headcount (or reallocation)</a:t>
            </a:r>
            <a:endParaRPr lang="en-US" sz="1300" dirty="0"/>
          </a:p>
        </p:txBody>
      </p:sp>
      <p:sp>
        <p:nvSpPr>
          <p:cNvPr id="30" name="Text 28"/>
          <p:cNvSpPr/>
          <p:nvPr/>
        </p:nvSpPr>
        <p:spPr>
          <a:xfrm>
            <a:off x="8046720" y="5056632"/>
            <a:ext cx="3474720" cy="411480"/>
          </a:xfrm>
          <a:prstGeom prst="rect">
            <a:avLst/>
          </a:prstGeom>
          <a:noFill/>
          <a:ln/>
        </p:spPr>
        <p:txBody>
          <a:bodyPr wrap="square" lIns="0" tIns="0" rIns="0" bIns="0" rtlCol="0" anchor="ctr"/>
          <a:lstStyle/>
          <a:p>
            <a:pPr algn="r" indent="0" marL="0">
              <a:buNone/>
            </a:pPr>
            <a:r>
              <a:rPr lang="en-US" sz="1100" i="1" dirty="0">
                <a:solidFill>
                  <a:srgbClr val="6B7280"/>
                </a:solidFill>
                <a:latin typeface="Calibri" pitchFamily="34" charset="0"/>
                <a:ea typeface="Calibri" pitchFamily="34" charset="-122"/>
                <a:cs typeface="Calibri" pitchFamily="34" charset="-120"/>
              </a:rPr>
              <a:t>Q2/Q3 — one FTE</a:t>
            </a:r>
            <a:endParaRPr lang="en-US" sz="1100" dirty="0"/>
          </a:p>
        </p:txBody>
      </p:sp>
      <p:sp>
        <p:nvSpPr>
          <p:cNvPr id="31" name="Shape 29"/>
          <p:cNvSpPr/>
          <p:nvPr/>
        </p:nvSpPr>
        <p:spPr>
          <a:xfrm>
            <a:off x="548640" y="6446520"/>
            <a:ext cx="11064240" cy="0"/>
          </a:xfrm>
          <a:prstGeom prst="line">
            <a:avLst/>
          </a:prstGeom>
          <a:noFill/>
          <a:ln w="9525">
            <a:solidFill>
              <a:srgbClr val="E2E8F0"/>
            </a:solidFill>
            <a:prstDash val="solid"/>
          </a:ln>
        </p:spPr>
      </p:sp>
      <p:sp>
        <p:nvSpPr>
          <p:cNvPr id="32" name="Text 30"/>
          <p:cNvSpPr/>
          <p:nvPr/>
        </p:nvSpPr>
        <p:spPr>
          <a:xfrm>
            <a:off x="548640" y="6537960"/>
            <a:ext cx="4572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Enterprise Data Platform</a:t>
            </a:r>
            <a:endParaRPr lang="en-US" sz="900" dirty="0"/>
          </a:p>
        </p:txBody>
      </p:sp>
      <p:sp>
        <p:nvSpPr>
          <p:cNvPr id="33" name="Text 31"/>
          <p:cNvSpPr/>
          <p:nvPr/>
        </p:nvSpPr>
        <p:spPr>
          <a:xfrm>
            <a:off x="5120640" y="6537960"/>
            <a:ext cx="5486400" cy="27432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Flywheel — Current State &amp; Options · v1 · April 8, 2026</a:t>
            </a:r>
            <a:endParaRPr lang="en-US" sz="900" dirty="0"/>
          </a:p>
        </p:txBody>
      </p:sp>
      <p:sp>
        <p:nvSpPr>
          <p:cNvPr id="34" name="Text 32"/>
          <p:cNvSpPr/>
          <p:nvPr/>
        </p:nvSpPr>
        <p:spPr>
          <a:xfrm>
            <a:off x="1133856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2937"/>
        </a:solidFill>
      </p:bgPr>
    </p:bg>
    <p:spTree>
      <p:nvGrpSpPr>
        <p:cNvPr id="1" name=""/>
        <p:cNvGrpSpPr/>
        <p:nvPr/>
      </p:nvGrpSpPr>
      <p:grpSpPr>
        <a:xfrm>
          <a:off x="0" y="0"/>
          <a:ext cx="0" cy="0"/>
          <a:chOff x="0" y="0"/>
          <a:chExt cx="0" cy="0"/>
        </a:xfrm>
      </p:grpSpPr>
      <p:sp>
        <p:nvSpPr>
          <p:cNvPr id="2" name="Shape 0"/>
          <p:cNvSpPr/>
          <p:nvPr/>
        </p:nvSpPr>
        <p:spPr>
          <a:xfrm>
            <a:off x="0" y="2926080"/>
            <a:ext cx="12161520" cy="36576"/>
          </a:xfrm>
          <a:prstGeom prst="rect">
            <a:avLst/>
          </a:prstGeom>
          <a:solidFill>
            <a:srgbClr val="0D9488"/>
          </a:solidFill>
          <a:ln w="12700">
            <a:solidFill>
              <a:srgbClr val="0D9488"/>
            </a:solidFill>
            <a:prstDash val="solid"/>
          </a:ln>
        </p:spPr>
      </p:sp>
      <p:sp>
        <p:nvSpPr>
          <p:cNvPr id="3" name="Text 1"/>
          <p:cNvSpPr/>
          <p:nvPr/>
        </p:nvSpPr>
        <p:spPr>
          <a:xfrm>
            <a:off x="548640" y="2286000"/>
            <a:ext cx="10972800" cy="1005840"/>
          </a:xfrm>
          <a:prstGeom prst="rect">
            <a:avLst/>
          </a:prstGeom>
          <a:noFill/>
          <a:ln/>
        </p:spPr>
        <p:txBody>
          <a:bodyPr wrap="square" lIns="0" tIns="0" rIns="0" bIns="0"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Q&amp;A</a:t>
            </a:r>
            <a:endParaRPr lang="en-US" sz="7200" dirty="0"/>
          </a:p>
        </p:txBody>
      </p:sp>
      <p:sp>
        <p:nvSpPr>
          <p:cNvPr id="4" name="Text 2"/>
          <p:cNvSpPr/>
          <p:nvPr/>
        </p:nvSpPr>
        <p:spPr>
          <a:xfrm>
            <a:off x="548640" y="3383280"/>
            <a:ext cx="10972800" cy="457200"/>
          </a:xfrm>
          <a:prstGeom prst="rect">
            <a:avLst/>
          </a:prstGeom>
          <a:noFill/>
          <a:ln/>
        </p:spPr>
        <p:txBody>
          <a:bodyPr wrap="square" lIns="0" tIns="0" rIns="0" bIns="0" rtlCol="0" anchor="ctr"/>
          <a:lstStyle/>
          <a:p>
            <a:pPr indent="0" marL="0">
              <a:buNone/>
            </a:pPr>
            <a:r>
              <a:rPr lang="en-US" sz="1800" i="1" dirty="0">
                <a:solidFill>
                  <a:srgbClr val="CBD5E1"/>
                </a:solidFill>
                <a:latin typeface="Calibri" pitchFamily="34" charset="0"/>
                <a:ea typeface="Calibri" pitchFamily="34" charset="-122"/>
                <a:cs typeface="Calibri" pitchFamily="34" charset="-120"/>
              </a:rPr>
              <a:t>Discussion, pushback, and corrections welcome.</a:t>
            </a:r>
            <a:endParaRPr lang="en-US" sz="1800" dirty="0"/>
          </a:p>
        </p:txBody>
      </p:sp>
      <p:sp>
        <p:nvSpPr>
          <p:cNvPr id="5" name="Text 3"/>
          <p:cNvSpPr/>
          <p:nvPr/>
        </p:nvSpPr>
        <p:spPr>
          <a:xfrm>
            <a:off x="548640" y="5303520"/>
            <a:ext cx="109728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Marcus Webb</a:t>
            </a:r>
            <a:pPr indent="0" marL="0">
              <a:buNone/>
            </a:pPr>
            <a:r>
              <a:rPr lang="en-US" sz="1300" dirty="0">
                <a:solidFill>
                  <a:srgbClr val="94A3B8"/>
                </a:solidFill>
                <a:latin typeface="Calibri" pitchFamily="34" charset="0"/>
                <a:ea typeface="Calibri" pitchFamily="34" charset="-122"/>
                <a:cs typeface="Calibri" pitchFamily="34" charset="-120"/>
              </a:rPr>
              <a:t>  —  Principal Data Engineer  —  mwebb@meridiannb.com</a:t>
            </a:r>
            <a:endParaRPr lang="en-US" sz="1300" dirty="0"/>
          </a:p>
        </p:txBody>
      </p:sp>
      <p:sp>
        <p:nvSpPr>
          <p:cNvPr id="6" name="Text 4"/>
          <p:cNvSpPr/>
          <p:nvPr/>
        </p:nvSpPr>
        <p:spPr>
          <a:xfrm>
            <a:off x="548640" y="5715000"/>
            <a:ext cx="109728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Tom Bianchi</a:t>
            </a:r>
            <a:pPr indent="0" marL="0">
              <a:buNone/>
            </a:pPr>
            <a:r>
              <a:rPr lang="en-US" sz="1300" dirty="0">
                <a:solidFill>
                  <a:srgbClr val="94A3B8"/>
                </a:solidFill>
                <a:latin typeface="Calibri" pitchFamily="34" charset="0"/>
                <a:ea typeface="Calibri" pitchFamily="34" charset="-122"/>
                <a:cs typeface="Calibri" pitchFamily="34" charset="-120"/>
              </a:rPr>
              <a:t>  —  Staff DE, AEP Implementation Lead  —  tbianchi@meridiannb.com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Meridian National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Transaction Data — Current State &amp; Architectural Options</dc:title>
  <dc:subject>PptxGenJS Presentation</dc:subject>
  <dc:creator>Marcus Webb &amp; Tom Bianchi</dc:creator>
  <cp:lastModifiedBy>Marcus Webb &amp; Tom Bianchi</cp:lastModifiedBy>
  <cp:revision>1</cp:revision>
  <dcterms:created xsi:type="dcterms:W3CDTF">2026-04-21T13:55:11Z</dcterms:created>
  <dcterms:modified xsi:type="dcterms:W3CDTF">2026-04-21T13:55:11Z</dcterms:modified>
</cp:coreProperties>
</file>